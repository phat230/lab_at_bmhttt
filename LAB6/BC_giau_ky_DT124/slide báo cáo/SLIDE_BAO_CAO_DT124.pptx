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4"/>
  </p:notesMasterIdLst>
  <p:handoutMasterIdLst>
    <p:handoutMasterId r:id="rId34"/>
  </p:handoutMasterIdLst>
  <p:sldIdLst>
    <p:sldId id="438" r:id="rId3"/>
    <p:sldId id="439" r:id="rId5"/>
    <p:sldId id="440" r:id="rId6"/>
    <p:sldId id="441" r:id="rId7"/>
    <p:sldId id="442" r:id="rId8"/>
    <p:sldId id="443" r:id="rId9"/>
    <p:sldId id="444" r:id="rId10"/>
    <p:sldId id="445" r:id="rId11"/>
    <p:sldId id="446" r:id="rId12"/>
    <p:sldId id="447" r:id="rId13"/>
    <p:sldId id="448" r:id="rId14"/>
    <p:sldId id="449" r:id="rId15"/>
    <p:sldId id="450" r:id="rId16"/>
    <p:sldId id="451" r:id="rId17"/>
    <p:sldId id="452" r:id="rId18"/>
    <p:sldId id="453" r:id="rId19"/>
    <p:sldId id="454" r:id="rId20"/>
    <p:sldId id="455" r:id="rId21"/>
    <p:sldId id="456" r:id="rId22"/>
    <p:sldId id="457" r:id="rId23"/>
    <p:sldId id="458" r:id="rId24"/>
    <p:sldId id="459" r:id="rId25"/>
    <p:sldId id="460" r:id="rId26"/>
    <p:sldId id="461" r:id="rId27"/>
    <p:sldId id="462" r:id="rId28"/>
    <p:sldId id="463" r:id="rId29"/>
    <p:sldId id="464" r:id="rId30"/>
    <p:sldId id="465" r:id="rId31"/>
    <p:sldId id="466" r:id="rId32"/>
    <p:sldId id="467" r:id="rId33"/>
  </p:sldIdLst>
  <p:sldSz cx="12192000" cy="6858000"/>
  <p:notesSz cx="6858000" cy="9144000"/>
  <p:embeddedFontLst>
    <p:embeddedFont>
      <p:font typeface="G8321" panose="00000505000000000000" charset="0"/>
      <p:regular r:id="rId38"/>
    </p:embeddedFont>
  </p:embeddedFontLst>
  <p:custDataLst>
    <p:tags r:id="rId39"/>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54"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E7203"/>
    <a:srgbClr val="EA2F13"/>
    <a:srgbClr val="FFFFFF"/>
    <a:srgbClr val="DCDCDC"/>
    <a:srgbClr val="F0F0F0"/>
    <a:srgbClr val="E6E6E6"/>
    <a:srgbClr val="C8C8C8"/>
    <a:srgbClr val="FAFAFA"/>
    <a:srgbClr val="BEBEB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4660"/>
  </p:normalViewPr>
  <p:slideViewPr>
    <p:cSldViewPr snapToGrid="0" showGuides="1">
      <p:cViewPr varScale="1">
        <p:scale>
          <a:sx n="99" d="100"/>
          <a:sy n="99" d="100"/>
        </p:scale>
        <p:origin x="84" y="582"/>
      </p:cViewPr>
      <p:guideLst>
        <p:guide orient="horz" pos="2154"/>
        <p:guide pos="3840"/>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9" Type="http://schemas.openxmlformats.org/officeDocument/2006/relationships/tags" Target="tags/tag63.xml"/><Relationship Id="rId38" Type="http://schemas.openxmlformats.org/officeDocument/2006/relationships/font" Target="fonts/font1.fntdata"/><Relationship Id="rId37" Type="http://schemas.openxmlformats.org/officeDocument/2006/relationships/tableStyles" Target="tableStyles.xml"/><Relationship Id="rId36" Type="http://schemas.openxmlformats.org/officeDocument/2006/relationships/viewProps" Target="viewProps.xml"/><Relationship Id="rId35" Type="http://schemas.openxmlformats.org/officeDocument/2006/relationships/presProps" Target="presProps.xml"/><Relationship Id="rId34" Type="http://schemas.openxmlformats.org/officeDocument/2006/relationships/handoutMaster" Target="handoutMasters/handoutMaster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latin typeface="G8321" panose="00000505000000000000" charset="0"/>
              <a:ea typeface="G8321" panose="00000505000000000000" charset="0"/>
              <a:cs typeface="G8321" panose="00000505000000000000" charset="0"/>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latin typeface="G8321" panose="00000505000000000000" charset="0"/>
                <a:ea typeface="G8321" panose="00000505000000000000" charset="0"/>
                <a:cs typeface="G8321" panose="00000505000000000000" charset="0"/>
              </a:rPr>
            </a:fld>
            <a:endParaRPr lang="zh-CN" altLang="en-US">
              <a:latin typeface="G8321" panose="00000505000000000000" charset="0"/>
              <a:ea typeface="G8321" panose="00000505000000000000" charset="0"/>
              <a:cs typeface="G8321" panose="00000505000000000000" charset="0"/>
            </a:endParaRPr>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latin typeface="G8321" panose="00000505000000000000" charset="0"/>
              <a:ea typeface="G8321" panose="00000505000000000000" charset="0"/>
              <a:cs typeface="G8321" panose="00000505000000000000" charset="0"/>
            </a:endParaRPr>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latin typeface="G8321" panose="00000505000000000000" charset="0"/>
                <a:ea typeface="G8321" panose="00000505000000000000" charset="0"/>
                <a:cs typeface="G8321" panose="00000505000000000000" charset="0"/>
              </a:rPr>
            </a:fld>
            <a:endParaRPr lang="zh-CN" altLang="en-US">
              <a:latin typeface="G8321" panose="00000505000000000000" charset="0"/>
              <a:ea typeface="G8321" panose="00000505000000000000" charset="0"/>
              <a:cs typeface="G8321" panose="00000505000000000000" charset="0"/>
            </a:endParaRP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G8321" panose="00000505000000000000" charset="0"/>
                <a:ea typeface="G8321" panose="00000505000000000000" charset="0"/>
                <a:cs typeface="G8321" panose="00000505000000000000" charset="0"/>
              </a:defRPr>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G8321" panose="00000505000000000000" charset="0"/>
                <a:ea typeface="G8321" panose="00000505000000000000" charset="0"/>
                <a:cs typeface="G8321" panose="00000505000000000000" charset="0"/>
              </a:defRPr>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G8321" panose="00000505000000000000" charset="0"/>
                <a:ea typeface="G8321" panose="00000505000000000000" charset="0"/>
                <a:cs typeface="G8321" panose="00000505000000000000" charset="0"/>
              </a:defRPr>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G8321" panose="00000505000000000000" charset="0"/>
                <a:ea typeface="G8321" panose="00000505000000000000" charset="0"/>
                <a:cs typeface="G8321" panose="00000505000000000000" charset="0"/>
              </a:defRPr>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G8321" panose="00000505000000000000" charset="0"/>
        <a:ea typeface="G8321" panose="00000505000000000000" charset="0"/>
        <a:cs typeface="G8321" panose="00000505000000000000" charset="0"/>
      </a:defRPr>
    </a:lvl1pPr>
    <a:lvl2pPr marL="457200" algn="l" defTabSz="914400" rtl="0" eaLnBrk="1" latinLnBrk="0" hangingPunct="1">
      <a:defRPr sz="1200" kern="1200">
        <a:solidFill>
          <a:schemeClr val="tx1"/>
        </a:solidFill>
        <a:latin typeface="G8321" panose="00000505000000000000" charset="0"/>
        <a:ea typeface="G8321" panose="00000505000000000000" charset="0"/>
        <a:cs typeface="G8321" panose="00000505000000000000" charset="0"/>
      </a:defRPr>
    </a:lvl2pPr>
    <a:lvl3pPr marL="914400" algn="l" defTabSz="914400" rtl="0" eaLnBrk="1" latinLnBrk="0" hangingPunct="1">
      <a:defRPr sz="1200" kern="1200">
        <a:solidFill>
          <a:schemeClr val="tx1"/>
        </a:solidFill>
        <a:latin typeface="G8321" panose="00000505000000000000" charset="0"/>
        <a:ea typeface="G8321" panose="00000505000000000000" charset="0"/>
        <a:cs typeface="G8321" panose="00000505000000000000" charset="0"/>
      </a:defRPr>
    </a:lvl3pPr>
    <a:lvl4pPr marL="1371600" algn="l" defTabSz="914400" rtl="0" eaLnBrk="1" latinLnBrk="0" hangingPunct="1">
      <a:defRPr sz="1200" kern="1200">
        <a:solidFill>
          <a:schemeClr val="tx1"/>
        </a:solidFill>
        <a:latin typeface="G8321" panose="00000505000000000000" charset="0"/>
        <a:ea typeface="G8321" panose="00000505000000000000" charset="0"/>
        <a:cs typeface="G8321" panose="00000505000000000000" charset="0"/>
      </a:defRPr>
    </a:lvl4pPr>
    <a:lvl5pPr marL="1828800" algn="l" defTabSz="914400" rtl="0" eaLnBrk="1" latinLnBrk="0" hangingPunct="1">
      <a:defRPr sz="1200" kern="1200">
        <a:solidFill>
          <a:schemeClr val="tx1"/>
        </a:solidFill>
        <a:latin typeface="G8321" panose="00000505000000000000" charset="0"/>
        <a:ea typeface="G8321" panose="00000505000000000000" charset="0"/>
        <a:cs typeface="G8321" panose="00000505000000000000"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Giới thiệu đề tài DT124. Bài báo cáo trình bày ứng dụng phân tích EML chạy cục bộ và thực nghiệm ba phương pháp phân loại nội dung. Điền tên, MSSV, lớp và giảng viên trước khi nộp. Bộ slide có đúng 30 trang và dùng nguyên artwork, theme, master từ mẫu WPS Presentation1.pptx do sinh viên cung cấp. Các ảnh demo được chụp từ ứng dụng web chạy thật; không dùng bản vẽ giả lập giao diện.</a:t>
            </a:r>
          </a:p>
          <a:p/>
          <a:p>
            <a:r>
              <a:t>Nguồn nội dung: DT124 · Báo cáo giữa kỳ · 18/10/2026</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Đi theo luồng vấn đề, cách xây dựng hệ thống, rồi bằng chứng thực nghiệm. Phần I gồm trang 3–10; Phần II trang 11–19; Phần III trang 20–30. Phần kết quả trình bày cả kết quả Enron tốt hơn và kết quả ngoài nguồn giảm chất lượng.</a:t>
            </a:r>
          </a:p>
          <a:p/>
          <a:p>
            <a:r>
              <a:t>Nguồn nội dung: Nguồn: mã nguồn DT124 và giao diện ứng dụng chạy cục bộ</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Đầu vào của đồ án là tệp EML cục bộ. Người sử dụng cần xem thông tin người gửi, liên kết, cấu trúc MIME và metadata tệp đính kèm trong cùng báo cáo. Phân loại nội dung là một thành phần hỗ trợ, không thay thế kết luận của người phân tích. Không suy ra rằng email được mô hình gắn nhãn hợp lệ chắc chắn an toàn.</a:t>
            </a:r>
          </a:p>
          <a:p/>
          <a:p>
            <a:r>
              <a:t>Nguồn nội dung: Nguồn: mã nguồn DT124 và giao diện ứng dụng chạy cục bộ</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Mục tiêu sản phẩm gồm parser có giới hạn tài nguyên, giao diện Streamlit và báo cáo có hash. Mục tiêu thực nghiệm là so sánh công bằng theo cùng ID, nhãn và cách chia nhóm, đồng thời kiểm tra trên nguồn khác. Không đặt mục tiêu đạt 100% hoặc tự nhận điểm 9–10; điểm và mức đáp ứng yêu cầu học phần do giảng viên đánh giá.</a:t>
            </a:r>
          </a:p>
          <a:p/>
          <a:p>
            <a:r>
              <a:t>Nguồn nội dung: Nguồn: mã nguồn DT124 và giao diện ứng dụng chạy cục bộ</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Paper email là Curated Datasets and Feature Analysis for Phishing Email Detection with Machine Learning, DOI 10.1109/ICMI60790.2024.10585821. Tác giả biên soạn email, dùng TF-IDF sau bỏ stop words và đánh giá SVM, RF, ET, XGB, AdaBoost bằng stratified 10-fold. Table II ghi F-score Enron: SVM 95,87%, RF/ET 98,69%; cách average metric, seed và vectorizer chưa đủ chi tiết để đối chiếu nguyên xi. DT124 dùng đúng tệp phát hành nhưng thay giao thức, nên gọi là đánh giá lại có điều chỉnh, không lấy 99,43% trừ số paper để tuyên bố vượt paper. Paper domain ban đầu Examining newly registered phishing domains at scale, DOI 10.1093/cybsec/tyag020, chỉ đóng vai trò bối cảnh: đơn vị nghiên cứu là domain, không phải EML. Nội dung tiếng Việt này là tóm lược có nguồn, không phải bản dịch toàn văn. Bản dịch đầy đủ tiếng Việt của paper domain Agarwal &amp; Vasek 2026 được đặt trong kết quả/bài báo đã dịch; paper domain là bối cảnh nghiên cứu, không phải giao thức benchmark email của DT124.</a:t>
            </a:r>
          </a:p>
          <a:p/>
          <a:p>
            <a:r>
              <a:t>Nguồn nội dung: Champa et al., DOI 10.1109/ICMI60790.2024.10585821 · Agarwal &amp; Vasek, DOI 10.1093/cybsec/tyag020</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Tệp Enron.csv từ record Zenodo 8339691 là dữ liệu gắn nhãn của nhóm tác giả, không phải archive Enron EML chưa có nhãn của CMU. Đã kiểm checksum và số hàng gốc. Sau bỏ 344 bản trùng, còn 29.423 email gồm 15.474 nhãn 0 và 13.949 nhãn 1. Nhãn dương được diễn đạt là spam/phishing theo curator để phản ánh phạm vi thực. CSV không có raw header/MIME/attachment nên các chỉ báo đó không được đưa vào metric học máy.</a:t>
            </a:r>
          </a:p>
          <a:p/>
          <a:p>
            <a:r>
              <a:t>Nguồn nội dung: Nguồn: Champa và cộng sự, ICMI 2024 · Zenodo 8339691 · CC BY 4.0</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Tên tệp upstream là SpamAssasin.csv (đúng cách viết của tác giả). Bỏ 7 bản trùng trong nguồn và 3 thư thuộc nhóm chồng lấn Enron; tập external còn 5.799 thư. Loại toàn bộ thành phần nhóm khi có mẫu khớp full-text chuẩn hóa, khuôn toàn nội dung hoặc khuôn Body với bất kỳ dòng Enron gốc nào. Tập này không dùng để chọn C, biểu diễn hay ngưỡng. Sau khi đã xem kết quả, các nghiên cứu tiếp theo cần tập kiểm tra mới. 100/100 EML CMU parse được là kiểm tra vận hành, không phải accuracy phân loại.</a:t>
            </a:r>
          </a:p>
          <a:p/>
          <a:p>
            <a:r>
              <a:t>Nguồn nội dung: Nguồn: Champa và cộng sự, ICMI 2024 · Zenodo 8339691 · CC BY 4.0</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Khuôn Subject+Body và khuôn Body được hợp thành các thành phần liên thông. Audit ghi 344 hàng trùng bị loại, không có mâu thuẫn nhãn, một mẫu bị giới hạn 200.000 ký tự; nhóm lớn nhất 449 email. Nhóm giúp giảm rò rỉ do mẫu gần trùng nhưng là heuristic, không chứng minh tìm hết mọi chiến dịch. Vectorizer, trọng số NB và classifier chỉ fit trên phần train tương ứng; không fit TF-IDF trên toàn bộ dữ liệu trước CV.</a:t>
            </a:r>
          </a:p>
          <a:p/>
          <a:p>
            <a:r>
              <a:t>Nguồn nội dung: Nguồn: artifacts/model_improvement_v2/results.json · 18/10/2026</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Luồng nghiên cứu chạy khi chuẩn bị mô hình; luồng sử dụng chỉ đọc mô hình cục bộ đã tạo. Không huấn luyện lại từ tệp EML người dùng vừa tải lên. Nội dung Subject/Body phục vụ suy luận giữ riêng khỏi JSON xuất. Chỉ báo tĩnh của parser và dự đoán model là hai nguồn quan sát có phạm vi khác nhau.</a:t>
            </a:r>
          </a:p>
          <a:p/>
          <a:p>
            <a:r>
              <a:t>Nguồn nội dung: Nguồn: mã nguồn DT124 và giao diện ứng dụng chạy cục bộ</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Sơ đồ nối tệp EML tới parser có giới hạn, sau đó tách nhánh metadata/chỉ báo tĩnh và Subject/Body cho M0/M1/M2. Kết quả đi vào giao diện và JSON có hash; nội dung thư dùng suy luận không được xuất trong JSON. Nhánh nghiên cứu đọc CSV để tạo các artifacts trước khi ứng dụng chạy. Toàn bộ phân tích EML hoạt động ngoại tuyến: không truy cập URL hoặc render HTML, không giải mã nội dung tệp đính kèm.</a:t>
            </a:r>
          </a:p>
          <a:p/>
          <a:p>
            <a:r>
              <a:t>Nguồn nội dung: Nguồn: mã nguồn DT124 và giao diện ứng dụng chạy cục bộ</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Môi trường hiện dùng Python 3.13.2, scikit-learn 1.9.1, NumPy 2.5.4 và Streamlit 1.66.0; các phiên bản đầy đủ nằm trong requirements và báo cáo môi trường. Logistic Regression là ứng viên nghiên cứu, không phải model M2 cuối được chọn. joblib chỉ đọc artifacts cố định do dự án sinh ra, không nhận model tải lên từ người dùng. Không yêu cầu GPU để chạy demo.</a:t>
            </a:r>
          </a:p>
          <a:p/>
          <a:p>
            <a:r>
              <a:t>Nguồn nội dung: Nguồn: mã nguồn DT124 và giao diện ứng dụng chạy cục bộ</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Parser ghi chỉ báo From/Reply-To khác miền, anchor khác hostname đích, URL dùng IP hoặc userinfo, đuôi thực thi/macro hoặc tên nhiều đuôi, header định danh lặp và lỗi cấu trúc. Những chỉ báo này cần được người phân tích diễn giải, không coi từng dấu hiệu là bằng chứng chắc chắn phishing. SPF/DKIM được đọc như khai báo trong tệp, không xác minh chữ ký hay DNS trực tiếp. Giới hạn mặc định là 10 MiB, 150 MIME parts, độ sâu 20, header 64 KiB/500 dòng; văn bản model tối đa 200.000 ký tự.</a:t>
            </a:r>
          </a:p>
          <a:p/>
          <a:p>
            <a:r>
              <a:t>Nguồn nội dung: Nguồn: mã nguồn DT124 và giao diện ứng dụng chạy cục bộ</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Giới thiệu màn hình chạy thật. Thanh điều hướng có Phân tích EML, So sánh mô hình và Dữ liệu Enron. Chỉ dùng ảnh chụp dữ liệu mẫu tổng hợp để không đưa thông tin email cá nhân lên slide. Màn hình phân tích tách dự đoán nội dung khỏi các chỉ báo EML.</a:t>
            </a:r>
          </a:p>
          <a:p/>
          <a:p>
            <a:r>
              <a:t>Nguồn nội dung: Nguồn: ảnh chụp ứng dụng Streamlit DT124 chạy thật · 18/10/2026</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Trang so sánh đọc results.json thay vì nhập điểm bằng tay. Người dùng xem macro-F1, P/R/F1, số FP/FN, khoảng tin cậy, cấu hình lựa chọn và kết quả external. Cần nói rõ M2 là vòng nghiên cứu thăm dò tiếp sau khi đã xem M0/M1; tập external được khóa trước dự đoán cho vòng M2.</a:t>
            </a:r>
          </a:p>
          <a:p/>
          <a:p>
            <a:r>
              <a:t>Nguồn nội dung: Nguồn: ảnh chụp ứng dụng Streamlit DT124 chạy thật · 18/10/2026</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Chuẩn bị sẵn hai mẫu normal và suspicious trong samples. Chạy lần lượt hai mẫu để minh họa sự khác nhau của chỉ báo. Đọc đúng nhãn model hiển thị trên máy, kể cả khi model dự đoán không như ý; mẫu tổng hợp không phải tập benchmark và không dùng để tính accuracy. Khi trình bày không mở liên kết hay attachment. Demo khoảng 3–4 phút, có ảnh chụp dự phòng nếu màn hình trực tiếp gặp sự cố.</a:t>
            </a:r>
          </a:p>
          <a:p/>
          <a:p>
            <a:r>
              <a:t>Nguồn nội dung: Nguồn: mã nguồn DT124 và giao diện ứng dụng chạy cục bộ</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Mở benign_synthetic.eml. Giao diện chạy thật ghi 0 chỉ báo, 1 URL và 0 tệp đính kèm; ba model đều dự đoán lớp 0. Margin M0/M1/M2 lần lượt −0,3285/−0,2418/−0,4746. Đây là kết quả của một mẫu tổng hợp, không cộng vào benchmark. Việc không thấy chỉ báo bất thường không đồng nghĩa đã chứng minh thư an toàn. Bằng chứng ảnh và kết quả tại kết quả/demo kết quả/demo_capture.json.</a:t>
            </a:r>
          </a:p>
          <a:p/>
          <a:p>
            <a:r>
              <a:t>Nguồn nội dung: Nguồn: ảnh chụp ứng dụng Streamlit DT124 chạy thật · 18/10/2026</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Mở suspicious_synthetic.eml, dùng địa chỉ giả lập và miền .test. Giao diện chạy thật ghi 5 chỉ báo, 2 URL và 1 tệp đính kèm; ba model đều dự đoán lớp 1. Margin M0/M1/M2 lần lượt +0,3139/+0,5734/+0,9163. Chỉ rõ từng dấu hiệu From/Reply-To, URL hoặc attachment trong giao diện. Không lấy số chỉ báo làm xác suất phishing. Điểm SVM có dấu là margin, không phải phần trăm rủi ro; không so trực tiếp độ lớn margin giữa ba model. Mẫu tổng hợp không đưa vào điểm thực nghiệm.</a:t>
            </a:r>
          </a:p>
          <a:p/>
          <a:p>
            <a:r>
              <a:t>Nguồn nội dung: Nguồn: ảnh chụp ứng dụng Streamlit DT124 chạy thật · 18/10/2026</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Ảnh chụp thật phần chỉ báo của mẫu suspicious_synthetic.eml. Giải thích từng dấu hiệu đang hiển thị thay vì chỉ nêu tổng số. Năm chỉ báo là From/Reply-To khác miền, tên miền liên kết hiển thị khác đích, phần mở rộng tệp rủi ro, tên tệp có nhiều đuôi và khai báo lỗi xác thực trong header không đáng tin cậy. Tên miền .test, địa chỉ email và nội dung đều là dữ liệu tổng hợp. Chỉ báo tĩnh được trình bày riêng với kết luận của ba mô hình văn bản. Không coi một chỉ báo đơn lẻ là bằng chứng chắc chắn phishing; không mở URL và không chạy attachment. Bộ demo đi kèm còn có ảnh header/xác thực, URL và metadata tệp đính kèm để giảng viên xem chi tiết.</a:t>
            </a:r>
          </a:p>
          <a:p/>
          <a:p>
            <a:r>
              <a:t>Nguồn nội dung: Nguồn: ứng dụng Streamlit DT124 · suspicious_synthetic.eml · 18/10/2026</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Minh họa nút Tải báo cáo JSON và trường SHA-256 để gắn kết quả với đúng tệp. Ẩn thông tin cá nhân làm giảm rủi ro lộ dữ liệu nhưng không được mô tả là ẩn danh tuyệt đối. Địa chỉ, URL và tên tệp có thể chứa thông tin riêng nên cần xem lại trước khi gửi. Parser cũng ghi khi lỗi hoặc giới hạn làm giảm độ bao phủ; không bỏ qua những cảnh báo này khi kết luận. Lệnh demo: .\.venv\Scripts\python.exe -m streamlit run app\streamlit_app.py --server.address 127.0.0.1. Lệnh kiểm chứng: .\.venv\Scripts\python.exe scripts\verify_comparison.py và .\.venv\Scripts\python.exe scripts\verify_improvement.py. Lệnh kiểm thử: .\.venv\Scripts\python.exe -m pytest. Bằng chứng chạy trước lần biên tập này là 174 kiểm thử đạt; con số kiểm thử xác minh phần mềm, không chứng minh model chính xác trên mọi email. Không cần huấn luyện lại để demo vì đã có artifacts.</a:t>
            </a:r>
          </a:p>
          <a:p/>
          <a:p>
            <a:r>
              <a:t>Nguồn nội dung: Nguồn: ứng dụng DT124 · scripts/verify_comparison.py, verify_improvement.py · tests/</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M0 là baseline TF-IDF từ đơn + LinearSVC do DT124 công bố đủ cấu hình, dựa trên cùng họ phương pháp của paper email. Không gọi M0 là model gốc nguyên xi của paper vì cấu hình chi tiết và giao thức đã khác. Mỗi outer fold tự chọn C bằng inner CV; C lần lượt 4, 1 và 4. Model dùng trong ứng dụng được chọn lại bằng CV trên toàn Enron với C=1 rồi fit lại toàn bộ dữ liệu. Metric trên slide là pooled OOF, không phải điểm train.</a:t>
            </a:r>
          </a:p>
          <a:p/>
          <a:p>
            <a:r>
              <a:t>Nguồn nội dung: Nguồn: artifacts/model_improvement_v2/results.json · 18/10/2026</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M1 bổ sung ngữ cảnh hai từ và chuỗi ký tự trong ranh giới từ để nhận diện biến thể cách viết. Tìm trong word, character, hybrid và hybrid+16 thống kê với ba C; cả ba outer folds chọn hybrid_text C=4. Thống kê bổ sung không tạo lợi ích đo được ở thiết kế này. So với M0, thay đổi bao gồm cả n-gram và kích thước từ vựng nên không gán toàn bộ hiệu quả riêng cho một yếu tố. Model triển khai cuối là hybrid_text C=4.</a:t>
            </a:r>
          </a:p>
          <a:p/>
          <a:p>
            <a:r>
              <a:t>Nguồn nội dung: Nguồn: artifacts/model_improvement_v2/results.json · 18/10/2026</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M2 là thủ tục chọn cấu hình trong một phạm vi 36 cấu hình đã ghi trước vòng đánh giá: ba incumbent M1, 21 cấu hình bảy họ mới với ba C ở char_weight=0,75, và 12 cấu hình đổi trọng số 0,5/1,5 ở C=4 cho sáu họ hybrid. NB tính log-ratio hiện diện đặc trưng giữa hai lớp chỉ từ train, dùng để đổi trọng số TF-IDF trước head tuyến tính; đây không phải mô hình Naive Bayes độc lập. Outer fold 1 chọn cross_boundary_svm C=4, char=0,75; fold 2 retain_stop_nbsvm C=4, char=0,75; fold 3 cross_boundary_svm C=4, char=1,5. Sau CV toàn Enron, model demo được chọn là retain_stop_nbsvm C=4, char=1,5. Vì vậy kết quả OOF của M2 đánh giá thủ tục lựa chọn, không phải riêng một model NB cố định. Tham khảo ý tưởng NB-SVM của Wang &amp; Manning 2012, https://aclanthology.org/P12-2018/.</a:t>
            </a:r>
          </a:p>
          <a:p/>
          <a:p>
            <a:r>
              <a:t>Nguồn nội dung: Nguồn: advanced_text_models.py · config.json/results.json · Wang &amp; Manning 2012</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Các vectorizer và trọng số NB chỉ học trên train tương ứng. Outer seed 20261018; inner seeds 43,44,45, CV cuối seed42. M0/M1 dùng outer test cũ làm đối chứng; M2 giữ cùng ID và split. Tuy inner/outer được tách trong mỗi vòng, thiết kế vòng M2 được đưa ra sau khi đã xem M0/M1, nên kết quả Enron M2 phải coi là thăm dò thích nghi. Tập external dùng sau selection_frozen.json; không fit hoặc tune trên external. Ngưỡng quyết định giữ nguyên 0. Điều này không cho phép gọi Enron M2 là xác nhận hoàn toàn độc lập.</a:t>
            </a:r>
          </a:p>
          <a:p/>
          <a:p>
            <a:r>
              <a:t>Nguồn nội dung: Nguồn: artifacts/model_improvement_v2/results.json · 18/10/2026</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Bảng tính từ dự đoán pooled OOF trên cùng 29.423 email. Macro-F1 là trung bình F1 hai lớp; P/R/F1 (+) chỉ lớp dương. Accuracy lần lượt 99,1231%; 99,3474%; 99,4290%. Đọc đúng đơn vị: tăng điểm phần trăm F1 khác giảm tương đối số lỗi. Không lấy điểm train của model fit toàn bộ Enron thay vào bảng.</a:t>
            </a:r>
          </a:p>
          <a:p/>
          <a:p>
            <a:r>
              <a:t>Nguồn nội dung: Nguồn: artifacts/model_improvement_v2/results.json · 18/10/2026</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Ma trận có thứ tự [[TN,FP],[FN,TP]]. TN/TP cũng hiển thị để kiểm tổng 29.423 mẫu. M0 có 186 FP và 72 FN, M1 136/56, M2 113/55. So M2 với M1: sửa 65, tạo 41, do đó giảm ròng 24 lỗi; không nói M2 sửa mọi lỗi cũ. M1 so M0 giảm 25,5814% lỗi; M2 so M0 giảm 34,8837%. Tỷ lệ FP có mẫu số là 15.474 thư hợp lệ, không phải toàn bộ tập. Bootstrap ghép cặp theo nhóm · 2.000 lượt · CI 95% M1 − M0: [+0,1526; +0,2997] điểm phần trăm M2 − M1: [+0,0169; +0,1523] điểm phần trăm CI có điều kiện trên dự đoán đã lưu; không huấn luyện lại từng lượt Các CI Enron loại trừ 0 theo hướng tăng điểm, hỗ trợ mức cải thiện trong corpus/cách chia này. Tuy nhiên bootstrap giữ nguyên mô hình và dự đoán OOF, không refit, không khử được thiết kế thích nghi vòng M2, nhãn sai, mẫu gần trùng chưa phát hiện hoặc lệch miền. Vì thế kết luận đúng là cải thiện Enron trong phạm vi thực nghiệm; không suy ra tốt hơn với mọi nguồn email hay vượt paper. Chênh M2−M0 có CI [+0,2194; +0,3986] điểm phần trăm.</a:t>
            </a:r>
          </a:p>
          <a:p/>
          <a:p>
            <a:r>
              <a:t>Nguồn nội dung: Nguồn: artifacts/model_improvement_v2/results.json · 18/10/2026</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Ảnh được chụp từ trang so sánh ba mô hình của ứng dụng đang chạy, với số liệu do artifacts/model_improvement_v2/results.json cung cấp. Có thể đối chiếu bảng điểm ở trang 24 và bảng số lỗi ở trang 25 với màn hình này. Không lấy điểm trên dữ liệu huấn luyện để thay pooled OOF. Các CI Enron loại trừ 0 theo hướng tăng điểm, hỗ trợ mức cải thiện trong corpus/cách chia này. Tuy nhiên bootstrap giữ nguyên mô hình và dự đoán OOF, không refit, không khử được thiết kế thích nghi vòng M2, nhãn sai, mẫu gần trùng chưa phát hiện hoặc lệch miền. Vì thế kết luận đúng là cải thiện Enron trong phạm vi thực nghiệm; không suy ra tốt hơn với mọi nguồn email hay vượt paper. Chênh M2−M0 có CI [+0,2194; +0,3986] điểm phần trăm.</a:t>
            </a:r>
          </a:p>
          <a:p/>
          <a:p>
            <a:r>
              <a:t>Nguồn nội dung: Nguồn: web DT124 đọc artifacts/model_improvement_v2/results.json · 18/10/2026</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Điểm ngoài nguồn thấp dù điểm Enron cao. Precision lớp dương chỉ khoảng 31–34% trong khi recall gần 100%, cho thấy model có xu hướng gắn phần lớn thư là dương. Không dùng kết quả này để đổi lựa chọn model hoặc threshold trong cùng phép xác nhận. Accuracy external M0/M1/M2 lần lượt 41,4209%; 43,5592%; 36,4890%. CI95% M2−M1 ngoài nguồn là [-9,9873; -8,0719] điểm phần trăm. Các lỗi ngoài nguồn (FP/FN/tổng): M0 3.395/2/3.397; M1 3.270/3/3.273; M2 3.679/4/3.683. Bảng FP/FN làm rõ tại sao recall cao không đồng nghĩa chất lượng tốt. Audit độc lập không phát hiện đảo nhãn hoặc sai phép tính; cả hai tệp khớp số lớp ở Table I của paper. Trên CSV gốc, Enron có 0% URL liền http(s)://, trong khi SpamAssassin có 86,75% lớp 0 và 59,55% lớp 1; dấu câu có khoảng trắng hai bên ở Enron là 98,78%/97,63%, SpamAssassin là 10,88%/16,18%. Đây là mô tả phân bố chứ chưa chứng minh nhân quả. Không đổ lỗi trực tiếp cho chữ hoa vì vectorizer chuyển chữ thường. ROC-AUC cũng giảm từ 95,31% ở M1 xuống 90,27% ở M2, nên vấn đề không chỉ là ngưỡng. Tập external là corpus lịch sử tiếng Anh; chưa đại diện phishing Việt Nam hiện nay.</a:t>
            </a:r>
          </a:p>
          <a:p/>
          <a:p>
            <a:r>
              <a:t>Nguồn nội dung: Nguồn: artifacts/model_improvement_v2/results.json · 18/10/2026</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Ảnh thật phần đánh giá ngoài nguồn trên trang so sánh. Nói rõ điểm trên 5.799 email SpamAssassin khác rất xa điểm trên Enron. M1 tốt nhất trong ba mô hình ở phép kiểm tra này; M2 kém M1 và M0. Kết quả được trình bày nguyên trạng, không chỉnh ngưỡng sau khi xem tập kiểm tra. Bảng FP/FN làm rõ tại sao recall cao không đồng nghĩa chất lượng tốt. Audit độc lập không phát hiện đảo nhãn hoặc sai phép tính; cả hai tệp khớp số lớp ở Table I của paper. Trên CSV gốc, Enron có 0% URL liền http(s)://, trong khi SpamAssassin có 86,75% lớp 0 và 59,55% lớp 1; dấu câu có khoảng trắng hai bên ở Enron là 98,78%/97,63%, SpamAssassin là 10,88%/16,18%. Đây là mô tả phân bố chứ chưa chứng minh nhân quả. Không đổ lỗi trực tiếp cho chữ hoa vì vectorizer chuyển chữ thường. ROC-AUC cũng giảm từ 95,31% ở M1 xuống 90,27% ở M2, nên vấn đề không chỉ là ngưỡng. Tập external là corpus lịch sử tiếng Anh; chưa đại diện phishing Việt Nam hiện nay.</a:t>
            </a:r>
          </a:p>
          <a:p/>
          <a:p>
            <a:r>
              <a:t>Nguồn nội dung: Nguồn: web DT124 đọc kết quả kiểm tra SpamAssassin đã khóa · 18/10/2026</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Dung lượng là byte/1.000.000; thời gian suy luận trung bình mỗi email trong batch 1.000 trên máy hiện tại, không phải độ trễ đơn thư hoặc benchmark phần cứng chuẩn. M0 fit 4,04 giây, M1 56,40 giây, M2 53,86 giây cho model cuối; chưa bao gồm toàn bộ tìm kiếm. M2 tổng nghiên cứu 1.649,82 giây, nested 827,13 giây với 3 jobs; không so trực tiếp thành tốc độ thuật toán với M1 vì phạm vi tìm kiếm khác. M2 tốn thêm tài nguyên và chưa cải thiện chuyển nguồn. Dù M1 cao nhất external, đây không phải lựa chọn triển khai được xác nhận bằng tập test mới.</a:t>
            </a:r>
          </a:p>
          <a:p/>
          <a:p>
            <a:r>
              <a:t>Nguồn nội dung: Nguồn: artifacts/model_improvement_v2/results.json · 18/10/2026</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Kết luận sản phẩm: hệ thống đọc EML, trình bày chỉ báo, dự đoán ba model và xuất JSON. Kết luận thực nghiệm: M1 cải thiện baseline trên Enron; M2 cải thiện thêm trong cùng corpus nhưng thất bại khi chuyển nguồn. Chưa thể tuyên bố tăng chất lượng tổng quát, đạt kết quả tốt nhất lĩnh vực hoặc đáp ứng mọi tiêu chí điểm cao. Hướng mới cần đóng băng giao thức, thử chuẩn hóa URL/dấu câu, ablation để đo nguyên nhân, huấn luyện đa nguồn, hiệu chuẩn ngưỡng chỉ trên validation và dành nguồn chưa xem để kiểm tra. Hiệu quả tương lai phải được đo thay vì hứa trước. Tài liệu nguồn chính: Champa và cộng sự, ICMI 2024, DOI 10.1109/ICMI60790.2024.10585821; Zenodo 10.5281/zenodo.8339691; Wang &amp; Manning, ACL 2012, P12-2018. Mời giảng viên xem demo và artifacts để đối chiếu. Bộ nộp nằm trong thư mục kết quả: slide báo cáo, demo kết quả có ảnh web và JSON, cùng bài báo đã dịch. Bản dịch paper domain là tài liệu đọc nền; kết quả email được dựa trên corpus và paper email ghi ở trang 5–7.</a:t>
            </a:r>
          </a:p>
          <a:p/>
          <a:p>
            <a:r>
              <a:t>Nguồn nội dung: Nguồn: kết quả DT124 · ICMI 2024 · Zenodo 8339691 · ACL P12-2018</a:t>
            </a:r>
          </a:p>
          <a:p>
            <a:r>
              <a:t>Thiết kế: mẫu Presentation1.pptx do sinh viên cung cấp từ WPS; giữ artwork, theme và master.</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6" Type="http://schemas.openxmlformats.org/officeDocument/2006/relationships/tags" Target="../tags/tag10.xml"/><Relationship Id="rId5" Type="http://schemas.openxmlformats.org/officeDocument/2006/relationships/tags" Target="../tags/tag9.xml"/><Relationship Id="rId4" Type="http://schemas.openxmlformats.org/officeDocument/2006/relationships/tags" Target="../tags/tag8.xml"/><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6" Type="http://schemas.openxmlformats.org/officeDocument/2006/relationships/tags" Target="../tags/tag15.xml"/><Relationship Id="rId5" Type="http://schemas.openxmlformats.org/officeDocument/2006/relationships/tags" Target="../tags/tag14.xml"/><Relationship Id="rId4" Type="http://schemas.openxmlformats.org/officeDocument/2006/relationships/tags" Target="../tags/tag13.xml"/><Relationship Id="rId3" Type="http://schemas.openxmlformats.org/officeDocument/2006/relationships/tags" Target="../tags/tag12.xml"/><Relationship Id="rId2" Type="http://schemas.openxmlformats.org/officeDocument/2006/relationships/tags" Target="../tags/tag11.xm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7" Type="http://schemas.openxmlformats.org/officeDocument/2006/relationships/tags" Target="../tags/tag21.xml"/><Relationship Id="rId6" Type="http://schemas.openxmlformats.org/officeDocument/2006/relationships/tags" Target="../tags/tag20.xml"/><Relationship Id="rId5" Type="http://schemas.openxmlformats.org/officeDocument/2006/relationships/tags" Target="../tags/tag19.xml"/><Relationship Id="rId4" Type="http://schemas.openxmlformats.org/officeDocument/2006/relationships/tags" Target="../tags/tag18.xml"/><Relationship Id="rId3" Type="http://schemas.openxmlformats.org/officeDocument/2006/relationships/tags" Target="../tags/tag17.xml"/><Relationship Id="rId2" Type="http://schemas.openxmlformats.org/officeDocument/2006/relationships/tags" Target="../tags/tag16.xm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9" Type="http://schemas.openxmlformats.org/officeDocument/2006/relationships/tags" Target="../tags/tag29.xml"/><Relationship Id="rId8" Type="http://schemas.openxmlformats.org/officeDocument/2006/relationships/tags" Target="../tags/tag28.xml"/><Relationship Id="rId7" Type="http://schemas.openxmlformats.org/officeDocument/2006/relationships/tags" Target="../tags/tag27.xml"/><Relationship Id="rId6" Type="http://schemas.openxmlformats.org/officeDocument/2006/relationships/tags" Target="../tags/tag26.xml"/><Relationship Id="rId5" Type="http://schemas.openxmlformats.org/officeDocument/2006/relationships/tags" Target="../tags/tag25.xml"/><Relationship Id="rId4" Type="http://schemas.openxmlformats.org/officeDocument/2006/relationships/tags" Target="../tags/tag24.xml"/><Relationship Id="rId3" Type="http://schemas.openxmlformats.org/officeDocument/2006/relationships/tags" Target="../tags/tag23.xml"/><Relationship Id="rId2" Type="http://schemas.openxmlformats.org/officeDocument/2006/relationships/tags" Target="../tags/tag22.xm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5" Type="http://schemas.openxmlformats.org/officeDocument/2006/relationships/tags" Target="../tags/tag33.xml"/><Relationship Id="rId4" Type="http://schemas.openxmlformats.org/officeDocument/2006/relationships/tags" Target="../tags/tag32.xml"/><Relationship Id="rId3" Type="http://schemas.openxmlformats.org/officeDocument/2006/relationships/tags" Target="../tags/tag31.xml"/><Relationship Id="rId2" Type="http://schemas.openxmlformats.org/officeDocument/2006/relationships/tags" Target="../tags/tag30.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openxmlformats.org/officeDocument/2006/relationships/tags" Target="../tags/tag36.xml"/><Relationship Id="rId3" Type="http://schemas.openxmlformats.org/officeDocument/2006/relationships/tags" Target="../tags/tag35.xml"/><Relationship Id="rId2" Type="http://schemas.openxmlformats.org/officeDocument/2006/relationships/tags" Target="../tags/tag34.xm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7" Type="http://schemas.openxmlformats.org/officeDocument/2006/relationships/tags" Target="../tags/tag42.xml"/><Relationship Id="rId6" Type="http://schemas.openxmlformats.org/officeDocument/2006/relationships/tags" Target="../tags/tag41.xml"/><Relationship Id="rId5" Type="http://schemas.openxmlformats.org/officeDocument/2006/relationships/tags" Target="../tags/tag40.xml"/><Relationship Id="rId4" Type="http://schemas.openxmlformats.org/officeDocument/2006/relationships/tags" Target="../tags/tag39.xml"/><Relationship Id="rId3" Type="http://schemas.openxmlformats.org/officeDocument/2006/relationships/tags" Target="../tags/tag38.xml"/><Relationship Id="rId2" Type="http://schemas.openxmlformats.org/officeDocument/2006/relationships/tags" Target="../tags/tag37.xm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6" Type="http://schemas.openxmlformats.org/officeDocument/2006/relationships/tags" Target="../tags/tag47.xml"/><Relationship Id="rId5" Type="http://schemas.openxmlformats.org/officeDocument/2006/relationships/tags" Target="../tags/tag46.xml"/><Relationship Id="rId4" Type="http://schemas.openxmlformats.org/officeDocument/2006/relationships/tags" Target="../tags/tag45.xml"/><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5" Type="http://schemas.openxmlformats.org/officeDocument/2006/relationships/tags" Target="../tags/tag51.xml"/><Relationship Id="rId4" Type="http://schemas.openxmlformats.org/officeDocument/2006/relationships/tags" Target="../tags/tag50.xml"/><Relationship Id="rId3" Type="http://schemas.openxmlformats.org/officeDocument/2006/relationships/tags" Target="../tags/tag49.xml"/><Relationship Id="rId2" Type="http://schemas.openxmlformats.org/officeDocument/2006/relationships/tags" Target="../tags/tag48.xm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6" Type="http://schemas.openxmlformats.org/officeDocument/2006/relationships/tags" Target="../tags/tag56.xml"/><Relationship Id="rId5" Type="http://schemas.openxmlformats.org/officeDocument/2006/relationships/tags" Target="../tags/tag55.xml"/><Relationship Id="rId4" Type="http://schemas.openxmlformats.org/officeDocument/2006/relationships/tags" Target="../tags/tag54.xml"/><Relationship Id="rId3" Type="http://schemas.openxmlformats.org/officeDocument/2006/relationships/tags" Target="../tags/tag53.xml"/><Relationship Id="rId2" Type="http://schemas.openxmlformats.org/officeDocument/2006/relationships/tags" Target="../tags/tag52.xm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p:txBody>
          <a:bodyPr/>
          <a:lstStyle/>
          <a:p>
            <a:endParaRPr lang="zh-CN" altLang="en-US" dirty="0"/>
          </a:p>
        </p:txBody>
      </p:sp>
      <p:sp>
        <p:nvSpPr>
          <p:cNvPr id="18" name="灯片编号占位符 17"/>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G8321" panose="00000505000000000000" charset="0"/>
                <a:ea typeface="G8321" panose="00000505000000000000" charset="0"/>
                <a:cs typeface="G8321" panose="00000505000000000000" charset="0"/>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8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5pPr>
            <a:lvl6pPr marL="2286000" indent="0">
              <a:buNone/>
              <a:defRPr/>
            </a:lvl6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b="1" i="0" u="none" strike="noStrike" kern="1200" cap="none" spc="300" normalizeH="0" baseline="0">
                <a:solidFill>
                  <a:schemeClr val="tx1">
                    <a:lumMod val="85000"/>
                    <a:lumOff val="15000"/>
                  </a:schemeClr>
                </a:solidFill>
                <a:effectLst/>
                <a:uFillTx/>
              </a:defRPr>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eaLnBrk="1" fontAlgn="auto" latinLnBrk="0" hangingPunct="1">
              <a:lnSpc>
                <a:spcPct val="130000"/>
              </a:lnSpc>
              <a:buNone/>
              <a:defRPr kumimoji="0" lang="zh-CN" altLang="en-US" sz="1800" b="0" i="0" u="none" strike="noStrike" kern="1200" cap="none" spc="150" normalizeH="0" baseline="0" noProof="1">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G8321" panose="00000505000000000000" charset="0"/>
                <a:ea typeface="G8321" panose="00000505000000000000" charset="0"/>
                <a:cs typeface="G8321" panose="00000505000000000000" charset="0"/>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lvl1pPr marL="228600" indent="-228600" eaLnBrk="1" fontAlgn="auto" latinLnBrk="0" hangingPunct="1">
              <a:lnSpc>
                <a:spcPct val="130000"/>
              </a:lnSpc>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latin typeface="G8321" panose="00000505000000000000" charset="0"/>
                <a:ea typeface="G8321" panose="00000505000000000000" charset="0"/>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latin typeface="G8321" panose="00000505000000000000" charset="0"/>
                <a:ea typeface="G8321" panose="00000505000000000000" charset="0"/>
              </a:defRPr>
            </a:lvl2pPr>
            <a:lvl3pPr marL="1143000" indent="-228600" eaLnBrk="1" fontAlgn="auto" latinLnBrk="0" hangingPunct="1">
              <a:lnSpc>
                <a:spcPct val="120000"/>
              </a:lnSpc>
              <a:buFont typeface="Arial" panose="020B0604020202020204" pitchFamily="34" charset="0"/>
              <a:buChar char="●"/>
              <a:defRPr sz="1600" u="none" strike="noStrike" kern="1200" cap="none" spc="150" normalizeH="0" baseline="0">
                <a:solidFill>
                  <a:schemeClr val="tx1">
                    <a:lumMod val="65000"/>
                    <a:lumOff val="35000"/>
                  </a:schemeClr>
                </a:solidFill>
                <a:latin typeface="G8321" panose="00000505000000000000" charset="0"/>
                <a:ea typeface="G8321" panose="00000505000000000000" charset="0"/>
              </a:defRPr>
            </a:lvl3pPr>
            <a:lvl4pPr marL="1600200" indent="-228600" eaLnBrk="1" fontAlgn="auto" latinLnBrk="0" hangingPunct="1">
              <a:lnSpc>
                <a:spcPct val="120000"/>
              </a:lnSpc>
              <a:buFont typeface="Wingdings" panose="05000000000000000000" charset="0"/>
              <a:buChar char=""/>
              <a:defRPr sz="1400" u="none" strike="noStrike" kern="1200" cap="none" spc="150" normalizeH="0" baseline="0">
                <a:solidFill>
                  <a:schemeClr val="tx1">
                    <a:lumMod val="65000"/>
                    <a:lumOff val="35000"/>
                  </a:schemeClr>
                </a:solidFill>
                <a:latin typeface="G8321" panose="00000505000000000000" charset="0"/>
                <a:ea typeface="G8321" panose="00000505000000000000" charset="0"/>
              </a:defRPr>
            </a:lvl4pPr>
            <a:lvl5pPr eaLnBrk="1" fontAlgn="auto" latinLnBrk="0" hangingPunct="1">
              <a:lnSpc>
                <a:spcPct val="120000"/>
              </a:lnSpc>
              <a:defRPr sz="1400" u="none" strike="noStrike" kern="1200" cap="none" spc="150" normalizeH="0">
                <a:solidFill>
                  <a:schemeClr val="tx1">
                    <a:lumMod val="65000"/>
                    <a:lumOff val="35000"/>
                  </a:schemeClr>
                </a:solidFill>
                <a:latin typeface="G8321" panose="00000505000000000000" charset="0"/>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G8321" panose="00000505000000000000" charset="0"/>
                <a:ea typeface="G8321" panose="00000505000000000000" charset="0"/>
                <a:cs typeface="G8321" panose="00000505000000000000" charset="0"/>
                <a:sym typeface="+mn-ea"/>
              </a:defRPr>
            </a:lvl1pPr>
          </a:lstStyle>
          <a:p>
            <a:pPr lvl="0"/>
            <a:r>
              <a:rPr dirty="0">
                <a:sym typeface="+mn-ea"/>
              </a:rPr>
              <a:t>单击此处编辑母版标题样式</a:t>
            </a:r>
            <a:endParaRPr dirty="0">
              <a:sym typeface="+mn-ea"/>
            </a:endParaRPr>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eaLnBrk="1" fontAlgn="auto" latinLnBrk="0" hangingPunct="1">
              <a:lnSpc>
                <a:spcPct val="100000"/>
              </a:lnSpc>
              <a:spcAft>
                <a:spcPts val="0"/>
              </a:spcAft>
              <a:buNone/>
              <a:defRPr sz="2000" b="1" u="none" strike="noStrike" kern="1200" cap="none" spc="200" normalizeH="0" baseline="0">
                <a:solidFill>
                  <a:schemeClr val="tx1">
                    <a:lumMod val="75000"/>
                    <a:lumOff val="25000"/>
                  </a:schemeClr>
                </a:solidFill>
                <a:uFillTx/>
                <a:latin typeface="G8321" panose="00000505000000000000" charset="0"/>
                <a:ea typeface="G8321" panose="00000505000000000000"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marR="0" lvl="0" indent="0" algn="l" defTabSz="914400" rtl="0" eaLnBrk="1" fontAlgn="auto" latinLnBrk="0" hangingPunct="1">
              <a:lnSpc>
                <a:spcPct val="100000"/>
              </a:lnSpc>
              <a:spcBef>
                <a:spcPts val="0"/>
              </a:spcBef>
              <a:spcAft>
                <a:spcPts val="0"/>
              </a:spcAft>
              <a:buFont typeface="Arial" panose="020B0604020202020204" pitchFamily="34" charset="0"/>
              <a:buNone/>
              <a:defRPr kumimoji="0" lang="zh-CN" altLang="en-US" sz="2000" b="1" i="0" u="none" strike="noStrike" kern="1200" cap="none" spc="200" normalizeH="0" baseline="0" noProof="1" dirty="0">
                <a:solidFill>
                  <a:schemeClr val="tx1">
                    <a:lumMod val="75000"/>
                    <a:lumOff val="25000"/>
                  </a:schemeClr>
                </a:solidFill>
                <a:uFillTx/>
                <a:latin typeface="G8321" panose="00000505000000000000" charset="0"/>
                <a:ea typeface="G8321" panose="00000505000000000000" charset="0"/>
                <a:cs typeface="G8321" panose="00000505000000000000" charset="0"/>
                <a:sym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a:sym typeface="+mn-ea"/>
              </a:rPr>
              <a:t>单击此处编辑文本</a:t>
            </a:r>
            <a:endParaRPr>
              <a:sym typeface="+mn-ea"/>
            </a:endParaRPr>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7" name="日期占位符 6"/>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G8321" panose="00000505000000000000" charset="0"/>
                <a:ea typeface="G8321" panose="00000505000000000000" charset="0"/>
                <a:cs typeface="G8321" panose="00000505000000000000" charset="0"/>
                <a:sym typeface="+mn-ea"/>
              </a:defRPr>
            </a:lvl1pPr>
          </a:lstStyle>
          <a:p>
            <a:pPr lvl="0"/>
            <a:r>
              <a:rPr>
                <a:sym typeface="+mn-ea"/>
              </a:rPr>
              <a:t>单击此处编辑母版标题样式</a:t>
            </a:r>
            <a:endParaRPr>
              <a:sym typeface="+mn-ea"/>
            </a:endParaRPr>
          </a:p>
        </p:txBody>
      </p:sp>
      <p:sp>
        <p:nvSpPr>
          <p:cNvPr id="3" name="日期占位符 2"/>
          <p:cNvSpPr>
            <a:spLocks noGrp="1"/>
          </p:cNvSpPr>
          <p:nvPr>
            <p:ph type="dt" sz="half" idx="10"/>
            <p:custDataLst>
              <p:tags r:id="rId3"/>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1000"/>
              </a:spcAft>
              <a:buFont typeface="Arial" panose="020B0604020202020204" pitchFamily="34" charset="0"/>
              <a:buNone/>
              <a:defRPr kumimoji="0" lang="zh-CN" altLang="en-US" sz="1600" b="0" i="0" u="none" strike="noStrike" kern="1200" cap="none" spc="0" normalizeH="0" baseline="0" noProof="1" dirty="0">
                <a:solidFill>
                  <a:schemeClr val="tx1">
                    <a:lumMod val="65000"/>
                    <a:lumOff val="35000"/>
                  </a:schemeClr>
                </a:solidFill>
                <a:uFillTx/>
                <a:latin typeface="Arial" panose="020B0604020202020204" pitchFamily="34" charset="0"/>
                <a:ea typeface="Microsoft YaHei" panose="020B0503020204020204" pitchFamily="34" charset="-122"/>
                <a:cs typeface="+mn-cs"/>
                <a:sym typeface="+mn-ea"/>
              </a:defRPr>
            </a:lvl1pPr>
            <a:lvl2pPr marL="685800" marR="0" lvl="1" indent="-228600" algn="l" defTabSz="914400" rtl="0" eaLnBrk="1" fontAlgn="auto" latinLnBrk="0" hangingPunct="1">
              <a:lnSpc>
                <a:spcPct val="130000"/>
              </a:lnSpc>
              <a:spcBef>
                <a:spcPts val="0"/>
              </a:spcBef>
              <a:spcAft>
                <a:spcPts val="10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solidFill>
                <a:uFillTx/>
                <a:latin typeface="+mn-lt"/>
                <a:ea typeface="+mn-ea"/>
                <a:cs typeface="+mn-cs"/>
                <a:sym typeface="+mn-ea"/>
              </a:defRPr>
            </a:lvl2pPr>
            <a:lvl3pPr marL="1143000" marR="0" lvl="2"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3pPr>
            <a:lvl4pPr marL="1600200" marR="0" lvl="3"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4pPr>
            <a:lvl5pPr marL="2057400" marR="0" lvl="4"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5pPr>
          </a:lstStyle>
          <a:p>
            <a:pPr lvl="0"/>
            <a:endParaRPr dirty="0">
              <a:sym typeface="+mn-ea"/>
            </a:endParaRPr>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600"/>
              </a:spcAft>
              <a:buFont typeface="Arial" panose="020B0604020202020204" pitchFamily="34" charset="0"/>
              <a:buNone/>
              <a:defRPr kumimoji="0" lang="zh-CN" altLang="en-US" sz="1600" b="0" i="0" u="none" strike="noStrike" kern="1200" cap="none" spc="150" normalizeH="0" baseline="0" noProof="1" dirty="0">
                <a:solidFill>
                  <a:schemeClr val="tx1">
                    <a:lumMod val="65000"/>
                    <a:lumOff val="35000"/>
                  </a:schemeClr>
                </a:solidFill>
                <a:uFillTx/>
                <a:latin typeface="G8321" panose="00000505000000000000" charset="0"/>
                <a:ea typeface="G8321" panose="00000505000000000000" charset="0"/>
                <a:cs typeface="G8321" panose="00000505000000000000" charset="0"/>
                <a:sym typeface="+mn-ea"/>
              </a:defRPr>
            </a:lvl1pPr>
            <a:lvl2pPr marL="457200" indent="0" defTabSz="914400" eaLnBrk="1" fontAlgn="auto" latinLnBrk="0" hangingPunct="1">
              <a:buFont typeface="Arial" panose="020B0604020202020204" pitchFamily="34" charset="0"/>
              <a:buNone/>
              <a:tabLst>
                <a:tab pos="1609725" algn="l"/>
                <a:tab pos="1609725" algn="l"/>
                <a:tab pos="1609725" algn="l"/>
                <a:tab pos="1609725" algn="l"/>
              </a:tabLst>
              <a:defRPr u="none" strike="noStrike" kern="1200" cap="none" spc="150" normalizeH="0">
                <a:solidFill>
                  <a:schemeClr val="tx1">
                    <a:lumMod val="65000"/>
                    <a:lumOff val="35000"/>
                  </a:schemeClr>
                </a:solidFill>
                <a:uFillTx/>
                <a:latin typeface="Arial" panose="020B0604020202020204" pitchFamily="34" charset="0"/>
                <a:ea typeface="Microsoft YaHei" panose="020B0503020204020204" pitchFamily="34" charset="-122"/>
              </a:defRPr>
            </a:lvl2pPr>
            <a:lvl3pPr eaLnBrk="1" fontAlgn="auto" latinLnBrk="0" hangingPunct="1">
              <a:buFont typeface="Arial" panose="020B0604020202020204" pitchFamily="34" charset="0"/>
              <a:buChar char="●"/>
              <a:defRPr u="none" strike="noStrike" kern="1200" cap="none" spc="150" normalizeH="0">
                <a:solidFill>
                  <a:schemeClr val="tx1">
                    <a:lumMod val="65000"/>
                    <a:lumOff val="35000"/>
                  </a:schemeClr>
                </a:solidFill>
                <a:uFillTx/>
                <a:latin typeface="Arial" panose="020B0604020202020204" pitchFamily="34" charset="0"/>
                <a:ea typeface="Microsoft YaHei" panose="020B0503020204020204" pitchFamily="34" charset="-122"/>
              </a:defRPr>
            </a:lvl3pPr>
            <a:lvl4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Microsoft YaHei" panose="020B0503020204020204" pitchFamily="34" charset="-122"/>
              </a:defRPr>
            </a:lvl4pPr>
            <a:lvl5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Microsoft YaHei" panose="020B0503020204020204" pitchFamily="34" charset="-122"/>
              </a:defRPr>
            </a:lvl5pPr>
          </a:lstStyle>
          <a:p>
            <a:pPr lvl="0"/>
            <a:r>
              <a:rPr dirty="0">
                <a:sym typeface="+mn-ea"/>
              </a:rPr>
              <a:t>单击此处编辑母版文本样式</a:t>
            </a:r>
            <a:endParaRPr dirty="0">
              <a:sym typeface="+mn-ea"/>
            </a:endParaRPr>
          </a:p>
        </p:txBody>
      </p:sp>
      <p:sp>
        <p:nvSpPr>
          <p:cNvPr id="5" name="日期占位符 4"/>
          <p:cNvSpPr>
            <a:spLocks noGrp="1"/>
          </p:cNvSpPr>
          <p:nvPr>
            <p:ph type="dt" sz="half" idx="10"/>
            <p:custDataLst>
              <p:tags r:id="rId4"/>
            </p:custDataLst>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p:txBody>
          <a:bodyPr/>
          <a:lstStyle>
            <a:lvl1pPr>
              <a:defRPr baseline="0"/>
            </a:lvl1pPr>
          </a:lstStyle>
          <a:p>
            <a:r>
              <a:rPr lang="zh-CN" altLang="en-US"/>
              <a:t>单击此处编辑母版标题样式</a:t>
            </a:r>
            <a:endParaRPr lang="zh-CN" alt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marL="0" marR="0" lvl="0" algn="l" defTabSz="914400" rtl="0" eaLnBrk="1" fontAlgn="auto" latinLnBrk="0" hangingPunct="1">
              <a:lnSpc>
                <a:spcPct val="100000"/>
              </a:lnSpc>
              <a:spcAft>
                <a:spcPts val="0"/>
              </a:spcAft>
              <a:buNone/>
              <a:defRPr kumimoji="0" lang="zh-CN" altLang="en-US" sz="2800" b="1" i="0" u="none" strike="noStrike" kern="1200" cap="none" spc="300" normalizeH="0" baseline="0" noProof="1" dirty="0">
                <a:solidFill>
                  <a:schemeClr val="tx1">
                    <a:lumMod val="85000"/>
                    <a:lumOff val="15000"/>
                  </a:schemeClr>
                </a:solidFill>
                <a:uFillTx/>
                <a:latin typeface="G8321" panose="00000505000000000000" charset="0"/>
                <a:ea typeface="G8321" panose="00000505000000000000" charset="0"/>
                <a:cs typeface="G8321" panose="00000505000000000000" charset="0"/>
                <a:sym typeface="+mn-ea"/>
              </a:defRPr>
            </a:lvl1pPr>
          </a:lstStyle>
          <a:p>
            <a:pPr lvl="0"/>
            <a:r>
              <a:rPr dirty="0">
                <a:sym typeface="+mn-ea"/>
              </a:rPr>
              <a:t>单击此处编辑标题</a:t>
            </a:r>
            <a:endParaRPr dirty="0">
              <a:sym typeface="+mn-ea"/>
            </a:endParaRPr>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eaLnBrk="1" fontAlgn="auto" latinLnBrk="0" hangingPunct="1">
              <a:lnSpc>
                <a:spcPct val="130000"/>
              </a:lnSpc>
              <a:spcAft>
                <a:spcPts val="1000"/>
              </a:spcAft>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spcAft>
                <a:spcPts val="600"/>
              </a:spcAft>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spcAft>
                <a:spcPts val="600"/>
              </a:spcAft>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spcAft>
                <a:spcPts val="300"/>
              </a:spcAft>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spcAft>
                <a:spcPts val="300"/>
              </a:spcAft>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lvl1pPr marL="228600" indent="-228600" eaLnBrk="1" fontAlgn="auto" latinLnBrk="0" hangingPunct="1">
              <a:lnSpc>
                <a:spcPct val="130000"/>
              </a:lnSpc>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G8321" panose="00000505000000000000" charset="0"/>
                <a:ea typeface="G8321" panose="00000505000000000000" charset="0"/>
                <a:cs typeface="G8321" panose="00000505000000000000" charset="0"/>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9" Type="http://schemas.openxmlformats.org/officeDocument/2006/relationships/theme" Target="../theme/theme1.xml"/><Relationship Id="rId18" Type="http://schemas.openxmlformats.org/officeDocument/2006/relationships/tags" Target="../tags/tag62.xml"/><Relationship Id="rId17" Type="http://schemas.openxmlformats.org/officeDocument/2006/relationships/tags" Target="../tags/tag61.xml"/><Relationship Id="rId16" Type="http://schemas.openxmlformats.org/officeDocument/2006/relationships/tags" Target="../tags/tag60.xml"/><Relationship Id="rId15" Type="http://schemas.openxmlformats.org/officeDocument/2006/relationships/tags" Target="../tags/tag59.xml"/><Relationship Id="rId14" Type="http://schemas.openxmlformats.org/officeDocument/2006/relationships/tags" Target="../tags/tag58.xml"/><Relationship Id="rId13" Type="http://schemas.openxmlformats.org/officeDocument/2006/relationships/tags" Target="../tags/tag57.xml"/><Relationship Id="rId12" Type="http://schemas.openxmlformats.org/officeDocument/2006/relationships/image" Target="../media/image1.png"/><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0">
          <a:blip r:embed="rId12"/>
          <a:stretch>
            <a:fillRect/>
          </a:stretch>
        </a:blipFill>
        <a:effectLst/>
      </p:bgPr>
    </p:bg>
    <p:spTree>
      <p:nvGrpSpPr>
        <p:cNvPr id="1" name=""/>
        <p:cNvGrpSpPr/>
        <p:nvPr/>
      </p:nvGrpSpPr>
      <p:grpSpPr>
        <a:xfrm>
          <a:off x="0" y="0"/>
          <a:ext cx="0" cy="0"/>
          <a:chOff x="0" y="0"/>
          <a:chExt cx="0" cy="0"/>
        </a:xfrm>
      </p:grpSpPr>
      <p:sp>
        <p:nvSpPr>
          <p:cNvPr id="2" name="标题占位符 1"/>
          <p:cNvSpPr>
            <a:spLocks noGrp="1"/>
          </p:cNvSpPr>
          <p:nvPr>
            <p:ph type="title"/>
            <p:custDataLst>
              <p:tags r:id="rId13"/>
            </p:custDataLst>
          </p:nvPr>
        </p:nvSpPr>
        <p:spPr>
          <a:xfrm>
            <a:off x="608400" y="608400"/>
            <a:ext cx="10969200" cy="705600"/>
          </a:xfrm>
          <a:prstGeom prst="rect">
            <a:avLst/>
          </a:prstGeom>
        </p:spPr>
        <p:txBody>
          <a:bodyPr vert="horz" lIns="90170" tIns="46990" rIns="90170" bIns="46990" rtlCol="0" anchor="ctr" anchorCtr="0">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14"/>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5"/>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latin typeface="G8321" panose="00000505000000000000" charset="0"/>
                <a:ea typeface="G8321" panose="00000505000000000000" charset="0"/>
                <a:cs typeface="G8321" panose="00000505000000000000" charset="0"/>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custDataLst>
              <p:tags r:id="rId16"/>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latin typeface="G8321" panose="00000505000000000000" charset="0"/>
                <a:ea typeface="G8321" panose="00000505000000000000" charset="0"/>
                <a:cs typeface="G8321" panose="00000505000000000000" charset="0"/>
              </a:defRPr>
            </a:lvl1pPr>
          </a:lstStyle>
          <a:p>
            <a:endParaRPr lang="zh-CN" altLang="en-US" dirty="0"/>
          </a:p>
        </p:txBody>
      </p:sp>
      <p:sp>
        <p:nvSpPr>
          <p:cNvPr id="6" name="灯片编号占位符 5"/>
          <p:cNvSpPr>
            <a:spLocks noGrp="1"/>
          </p:cNvSpPr>
          <p:nvPr>
            <p:ph type="sldNum" sz="quarter" idx="4"/>
            <p:custDataLst>
              <p:tags r:id="rId17"/>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latin typeface="G8321" panose="00000505000000000000" charset="0"/>
                <a:ea typeface="G8321" panose="00000505000000000000" charset="0"/>
                <a:cs typeface="G8321" panose="00000505000000000000" charset="0"/>
              </a:defRPr>
            </a:lvl1pPr>
          </a:lstStyle>
          <a:p>
            <a:fld id="{49AE70B2-8BF9-45C0-BB95-33D1B9D3A854}" type="slidenum">
              <a:rPr lang="zh-CN" altLang="en-US" smtClean="0"/>
            </a:fld>
            <a:endParaRPr lang="zh-CN" altLang="en-US" dirty="0"/>
          </a:p>
        </p:txBody>
      </p:sp>
    </p:spTree>
    <p:custDataLst>
      <p:tags r:id="rId18"/>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G8321" panose="00000505000000000000" charset="0"/>
          <a:ea typeface="G8321" panose="00000505000000000000" charset="0"/>
          <a:cs typeface="G8321" panose="00000505000000000000" charset="0"/>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G8321" panose="00000505000000000000" charset="0"/>
          <a:ea typeface="G8321" panose="00000505000000000000" charset="0"/>
          <a:cs typeface="G8321" panose="00000505000000000000" charset="0"/>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G8321" panose="00000505000000000000" charset="0"/>
          <a:ea typeface="G8321" panose="00000505000000000000" charset="0"/>
          <a:cs typeface="G8321" panose="00000505000000000000" charset="0"/>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G8321" panose="00000505000000000000" charset="0"/>
          <a:ea typeface="G8321" panose="00000505000000000000" charset="0"/>
          <a:cs typeface="G8321" panose="00000505000000000000" charset="0"/>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G8321" panose="00000505000000000000" charset="0"/>
          <a:ea typeface="G8321" panose="00000505000000000000" charset="0"/>
          <a:cs typeface="G8321" panose="00000505000000000000" charset="0"/>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G8321" panose="00000505000000000000" charset="0"/>
          <a:ea typeface="G8321" panose="00000505000000000000" charset="0"/>
          <a:cs typeface="G8321" panose="00000505000000000000"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pn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16.xml.rels><?xml version="1.0" encoding="UTF-8" standalone="yes"?>
<Relationships xmlns="http://schemas.openxmlformats.org/package/2006/relationships"><Relationship Id="rId4" Type="http://schemas.openxmlformats.org/officeDocument/2006/relationships/notesSlide" Target="../notesSlides/notesSlide16.xml"/><Relationship Id="rId3" Type="http://schemas.openxmlformats.org/officeDocument/2006/relationships/slideLayout" Target="../slideLayouts/slideLayout1.xml"/><Relationship Id="rId2" Type="http://schemas.openxmlformats.org/officeDocument/2006/relationships/image" Target="../media/image5.png"/><Relationship Id="rId1" Type="http://schemas.openxmlformats.org/officeDocument/2006/relationships/image" Target="../media/image2.png"/></Relationships>
</file>

<file path=ppt/slides/_rels/slide17.xml.rels><?xml version="1.0" encoding="UTF-8" standalone="yes"?>
<Relationships xmlns="http://schemas.openxmlformats.org/package/2006/relationships"><Relationship Id="rId4" Type="http://schemas.openxmlformats.org/officeDocument/2006/relationships/notesSlide" Target="../notesSlides/notesSlide17.xml"/><Relationship Id="rId3" Type="http://schemas.openxmlformats.org/officeDocument/2006/relationships/slideLayout" Target="../slideLayouts/slideLayout1.xml"/><Relationship Id="rId2" Type="http://schemas.openxmlformats.org/officeDocument/2006/relationships/image" Target="../media/image6.png"/><Relationship Id="rId1" Type="http://schemas.openxmlformats.org/officeDocument/2006/relationships/image" Target="../media/image2.pn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8.xml"/><Relationship Id="rId3" Type="http://schemas.openxmlformats.org/officeDocument/2006/relationships/slideLayout" Target="../slideLayouts/slideLayout1.xml"/><Relationship Id="rId2" Type="http://schemas.openxmlformats.org/officeDocument/2006/relationships/image" Target="../media/image7.png"/><Relationship Id="rId1"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26.xml.rels><?xml version="1.0" encoding="UTF-8" standalone="yes"?>
<Relationships xmlns="http://schemas.openxmlformats.org/package/2006/relationships"><Relationship Id="rId4" Type="http://schemas.openxmlformats.org/officeDocument/2006/relationships/notesSlide" Target="../notesSlides/notesSlide26.xml"/><Relationship Id="rId3" Type="http://schemas.openxmlformats.org/officeDocument/2006/relationships/slideLayout" Target="../slideLayouts/slideLayout1.xml"/><Relationship Id="rId2" Type="http://schemas.openxmlformats.org/officeDocument/2006/relationships/image" Target="../media/image8.png"/><Relationship Id="rId1" Type="http://schemas.openxmlformats.org/officeDocument/2006/relationships/image" Target="../media/image2.png"/></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28.xml.rels><?xml version="1.0" encoding="UTF-8" standalone="yes"?>
<Relationships xmlns="http://schemas.openxmlformats.org/package/2006/relationships"><Relationship Id="rId4" Type="http://schemas.openxmlformats.org/officeDocument/2006/relationships/notesSlide" Target="../notesSlides/notesSlide28.xml"/><Relationship Id="rId3" Type="http://schemas.openxmlformats.org/officeDocument/2006/relationships/slideLayout" Target="../slideLayouts/slideLayout1.xml"/><Relationship Id="rId2" Type="http://schemas.openxmlformats.org/officeDocument/2006/relationships/image" Target="../media/image9.png"/><Relationship Id="rId1" Type="http://schemas.openxmlformats.org/officeDocument/2006/relationships/image" Target="../media/image2.png"/></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29.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30.xml"/><Relationship Id="rId2" Type="http://schemas.openxmlformats.org/officeDocument/2006/relationships/slideLayout" Target="../slideLayouts/slideLayout1.xml"/><Relationship Id="rId1"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259830" y="-1947545"/>
            <a:ext cx="11184890" cy="10972800"/>
          </a:xfrm>
          <a:prstGeom prst="rect">
            <a:avLst/>
          </a:prstGeom>
        </p:spPr>
      </p:pic>
      <p:cxnSp>
        <p:nvCxnSpPr>
          <p:cNvPr id="9" name="直接连接符 8"/>
          <p:cNvCxnSpPr/>
          <p:nvPr/>
        </p:nvCxnSpPr>
        <p:spPr>
          <a:xfrm>
            <a:off x="0" y="4251960"/>
            <a:ext cx="3032125" cy="0"/>
          </a:xfrm>
          <a:prstGeom prst="line">
            <a:avLst/>
          </a:prstGeom>
          <a:ln w="28575">
            <a:solidFill>
              <a:srgbClr val="FFC000"/>
            </a:solidFill>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658368" y="1170432"/>
            <a:ext cx="6309360" cy="685800"/>
          </a:xfrm>
          <a:prstGeom prst="rect">
            <a:avLst/>
          </a:prstGeom>
          <a:noFill/>
        </p:spPr>
        <p:txBody>
          <a:bodyPr wrap="square" lIns="22860" tIns="22860" rIns="22860" bIns="22860" anchor="t">
            <a:spAutoFit/>
          </a:bodyPr>
          <a:lstStyle/>
          <a:p>
            <a:pPr algn="l">
              <a:lnSpc>
                <a:spcPct val="108000"/>
              </a:lnSpc>
              <a:spcBef>
                <a:spcPts val="0"/>
              </a:spcBef>
              <a:spcAft>
                <a:spcPts val="800"/>
              </a:spcAft>
              <a:defRPr sz="4400" b="1">
                <a:solidFill>
                  <a:srgbClr val="FFC000"/>
                </a:solidFill>
                <a:latin typeface="Arial" panose="020B0604020202020204"/>
              </a:defRPr>
            </a:pPr>
            <a:r>
              <a:t>DT124</a:t>
            </a:r>
          </a:p>
        </p:txBody>
      </p:sp>
      <p:sp>
        <p:nvSpPr>
          <p:cNvPr id="11" name="TextBox 10"/>
          <p:cNvSpPr txBox="1"/>
          <p:nvPr/>
        </p:nvSpPr>
        <p:spPr>
          <a:xfrm>
            <a:off x="658368" y="2075688"/>
            <a:ext cx="6400800" cy="1417320"/>
          </a:xfrm>
          <a:prstGeom prst="rect">
            <a:avLst/>
          </a:prstGeom>
          <a:noFill/>
        </p:spPr>
        <p:txBody>
          <a:bodyPr wrap="square" lIns="22860" tIns="22860" rIns="22860" bIns="22860" anchor="t">
            <a:spAutoFit/>
          </a:bodyPr>
          <a:lstStyle/>
          <a:p>
            <a:pPr algn="l">
              <a:lnSpc>
                <a:spcPct val="108000"/>
              </a:lnSpc>
              <a:spcBef>
                <a:spcPts val="0"/>
              </a:spcBef>
              <a:spcAft>
                <a:spcPts val="800"/>
              </a:spcAft>
              <a:defRPr sz="3700" b="1">
                <a:solidFill>
                  <a:srgbClr val="FFFFFF"/>
                </a:solidFill>
                <a:latin typeface="Arial" panose="020B0604020202020204"/>
              </a:defRPr>
            </a:pPr>
            <a:r>
              <a:t>Phân tích email EML</a:t>
            </a:r>
          </a:p>
          <a:p>
            <a:pPr algn="l">
              <a:lnSpc>
                <a:spcPct val="108000"/>
              </a:lnSpc>
              <a:spcBef>
                <a:spcPts val="0"/>
              </a:spcBef>
              <a:spcAft>
                <a:spcPts val="800"/>
              </a:spcAft>
              <a:defRPr sz="3700" b="1">
                <a:solidFill>
                  <a:srgbClr val="FFFFFF"/>
                </a:solidFill>
                <a:latin typeface="Arial" panose="020B0604020202020204"/>
              </a:defRPr>
            </a:pPr>
            <a:r>
              <a:t>ngoại tuyến</a:t>
            </a:r>
          </a:p>
        </p:txBody>
      </p:sp>
      <p:sp>
        <p:nvSpPr>
          <p:cNvPr id="12" name="TextBox 11"/>
          <p:cNvSpPr txBox="1"/>
          <p:nvPr/>
        </p:nvSpPr>
        <p:spPr>
          <a:xfrm>
            <a:off x="685800" y="3685032"/>
            <a:ext cx="6172200" cy="411480"/>
          </a:xfrm>
          <a:prstGeom prst="rect">
            <a:avLst/>
          </a:prstGeom>
          <a:noFill/>
        </p:spPr>
        <p:txBody>
          <a:bodyPr wrap="square" lIns="22860" tIns="22860" rIns="22860" bIns="22860" anchor="t">
            <a:spAutoFit/>
          </a:bodyPr>
          <a:lstStyle/>
          <a:p>
            <a:pPr algn="l">
              <a:lnSpc>
                <a:spcPct val="108000"/>
              </a:lnSpc>
              <a:spcBef>
                <a:spcPts val="0"/>
              </a:spcBef>
              <a:spcAft>
                <a:spcPts val="800"/>
              </a:spcAft>
              <a:defRPr sz="1900" b="1">
                <a:solidFill>
                  <a:srgbClr val="FFFFFF"/>
                </a:solidFill>
                <a:latin typeface="Arial" panose="020B0604020202020204"/>
              </a:defRPr>
            </a:pPr>
            <a:r>
              <a:t>BÁO CÁO GIỮA KỲ · 2026</a:t>
            </a:r>
          </a:p>
        </p:txBody>
      </p:sp>
      <p:sp>
        <p:nvSpPr>
          <p:cNvPr id="13" name="TextBox 12"/>
          <p:cNvSpPr txBox="1"/>
          <p:nvPr/>
        </p:nvSpPr>
        <p:spPr>
          <a:xfrm>
            <a:off x="685800" y="4507992"/>
            <a:ext cx="6217920" cy="914400"/>
          </a:xfrm>
          <a:prstGeom prst="rect">
            <a:avLst/>
          </a:prstGeom>
          <a:noFill/>
        </p:spPr>
        <p:txBody>
          <a:bodyPr wrap="square" lIns="22860" tIns="22860" rIns="22860" bIns="22860" anchor="t">
            <a:spAutoFit/>
          </a:bodyPr>
          <a:lstStyle/>
          <a:p>
            <a:pPr algn="l">
              <a:lnSpc>
                <a:spcPct val="108000"/>
              </a:lnSpc>
              <a:spcBef>
                <a:spcPts val="0"/>
              </a:spcBef>
              <a:spcAft>
                <a:spcPts val="800"/>
              </a:spcAft>
              <a:defRPr sz="1600" b="0">
                <a:solidFill>
                  <a:srgbClr val="FFFFFF"/>
                </a:solidFill>
                <a:latin typeface="Arial" panose="020B0604020202020204"/>
              </a:defRPr>
            </a:pPr>
            <a:r>
              <a:t>Xây dựng ứng dụng và đánh giá ba mô hình M0 · M1 · M2</a:t>
            </a:r>
          </a:p>
          <a:p>
            <a:pPr algn="l">
              <a:lnSpc>
                <a:spcPct val="108000"/>
              </a:lnSpc>
              <a:spcBef>
                <a:spcPts val="0"/>
              </a:spcBef>
              <a:spcAft>
                <a:spcPts val="800"/>
              </a:spcAft>
              <a:defRPr sz="1600" b="0">
                <a:solidFill>
                  <a:srgbClr val="FFFFFF"/>
                </a:solidFill>
                <a:latin typeface="Arial" panose="020B0604020202020204"/>
              </a:defRPr>
            </a:pPr>
            <a:r>
              <a:t>Từ dữ liệu nghiên cứu đến demo và kết quả thực nghiệm</a:t>
            </a:r>
          </a:p>
        </p:txBody>
      </p:sp>
      <p:sp>
        <p:nvSpPr>
          <p:cNvPr id="14" name="TextBox 13"/>
          <p:cNvSpPr txBox="1"/>
          <p:nvPr/>
        </p:nvSpPr>
        <p:spPr>
          <a:xfrm>
            <a:off x="685800" y="5742432"/>
            <a:ext cx="6675120" cy="579120"/>
          </a:xfrm>
          <a:prstGeom prst="rect">
            <a:avLst/>
          </a:prstGeom>
          <a:noFill/>
        </p:spPr>
        <p:txBody>
          <a:bodyPr wrap="square" lIns="22860" tIns="22860" rIns="22860" bIns="22860" anchor="t">
            <a:spAutoFit/>
          </a:bodyPr>
          <a:lstStyle/>
          <a:p>
            <a:pPr algn="l">
              <a:lnSpc>
                <a:spcPct val="108000"/>
              </a:lnSpc>
              <a:spcBef>
                <a:spcPts val="0"/>
              </a:spcBef>
              <a:spcAft>
                <a:spcPts val="800"/>
              </a:spcAft>
              <a:defRPr sz="1300" b="0">
                <a:solidFill>
                  <a:srgbClr val="FFFFFF"/>
                </a:solidFill>
                <a:latin typeface="Arial" panose="020B0604020202020204"/>
              </a:defRPr>
            </a:pPr>
            <a:r>
              <a:t>Sinh viên / MSSV: </a:t>
            </a:r>
            <a:r>
              <a:rPr lang="en-US"/>
              <a:t>nguyễn đức phát / 1150080152</a:t>
            </a:r>
            <a:endParaRPr lang="en-US"/>
          </a:p>
          <a:p>
            <a:pPr algn="l">
              <a:lnSpc>
                <a:spcPct val="108000"/>
              </a:lnSpc>
              <a:spcBef>
                <a:spcPts val="0"/>
              </a:spcBef>
              <a:spcAft>
                <a:spcPts val="800"/>
              </a:spcAft>
              <a:defRPr sz="1300" b="0">
                <a:solidFill>
                  <a:srgbClr val="FFFFFF"/>
                </a:solidFill>
                <a:latin typeface="Arial" panose="020B0604020202020204"/>
              </a:defRPr>
            </a:pPr>
            <a:r>
              <a:t>Lớp / Giảng viên:</a:t>
            </a:r>
            <a:r>
              <a:rPr lang="en-US"/>
              <a:t> 11-ĐH-THMT / Phạm Trọng Huynh</a:t>
            </a:r>
            <a:endParaRPr lang="en-US"/>
          </a:p>
        </p:txBody>
      </p:sp>
      <p:sp>
        <p:nvSpPr>
          <p:cNvPr id="15" name="TextBox 14"/>
          <p:cNvSpPr txBox="1"/>
          <p:nvPr/>
        </p:nvSpPr>
        <p:spPr>
          <a:xfrm>
            <a:off x="10744200" y="6492240"/>
            <a:ext cx="731520" cy="228600"/>
          </a:xfrm>
          <a:prstGeom prst="rect">
            <a:avLst/>
          </a:prstGeom>
          <a:noFill/>
        </p:spPr>
        <p:txBody>
          <a:bodyPr wrap="square" lIns="22860" tIns="22860" rIns="22860" bIns="22860" anchor="t">
            <a:spAutoFit/>
          </a:bodyPr>
          <a:lstStyle/>
          <a:p>
            <a:pPr algn="r">
              <a:lnSpc>
                <a:spcPct val="108000"/>
              </a:lnSpc>
              <a:spcBef>
                <a:spcPts val="0"/>
              </a:spcBef>
              <a:spcAft>
                <a:spcPts val="800"/>
              </a:spcAft>
              <a:defRPr sz="900" b="0">
                <a:solidFill>
                  <a:srgbClr val="FFFFFF"/>
                </a:solidFill>
                <a:latin typeface="Arial" panose="020B0604020202020204"/>
              </a:defRPr>
            </a:pPr>
            <a:r>
              <a:t>01 / 30</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BA PHẦN · 30 TRANG</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Nội dung báo cáo</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25312"/>
            <a:ext cx="10744200" cy="356616"/>
          </a:xfrm>
          <a:prstGeom prst="rect">
            <a:avLst/>
          </a:prstGeom>
          <a:noFill/>
        </p:spPr>
        <p:txBody>
          <a:bodyPr wrap="square" lIns="22860" tIns="22860" rIns="22860" bIns="22860" anchor="t">
            <a:spAutoFit/>
          </a:bodyPr>
          <a:lstStyle/>
          <a:p>
            <a:pPr algn="l">
              <a:lnSpc>
                <a:spcPct val="108000"/>
              </a:lnSpc>
              <a:spcBef>
                <a:spcPts val="0"/>
              </a:spcBef>
              <a:spcAft>
                <a:spcPts val="0"/>
              </a:spcAft>
              <a:defRPr sz="820" b="0">
                <a:solidFill>
                  <a:srgbClr val="69757A"/>
                </a:solidFill>
                <a:latin typeface="Arial" panose="020B0604020202020204"/>
              </a:defRPr>
            </a:pPr>
            <a:r>
              <a:t>Nguồn: mã nguồn DT124 và giao diện ứng dụng chạy cục bộ</a:t>
            </a: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02 / 30</a:t>
            </a:r>
          </a:p>
        </p:txBody>
      </p:sp>
      <p:sp>
        <p:nvSpPr>
          <p:cNvPr id="13" name="Rounded Rectangle 12"/>
          <p:cNvSpPr/>
          <p:nvPr/>
        </p:nvSpPr>
        <p:spPr>
          <a:xfrm>
            <a:off x="713232" y="1819656"/>
            <a:ext cx="10716768" cy="1042415"/>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96112" y="2002536"/>
            <a:ext cx="603504" cy="603504"/>
          </a:xfrm>
          <a:prstGeom prst="roundRect">
            <a:avLst>
              <a:gd name="adj" fmla="val 12000"/>
            </a:avLst>
          </a:prstGeom>
          <a:solidFill>
            <a:srgbClr val="51BC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2264"/>
            <a:ext cx="502920" cy="365760"/>
          </a:xfrm>
          <a:prstGeom prst="rect">
            <a:avLst/>
          </a:prstGeom>
          <a:noFill/>
        </p:spPr>
        <p:txBody>
          <a:bodyPr wrap="square" lIns="22860" tIns="22860" rIns="22860" bIns="22860" anchor="t">
            <a:spAutoFit/>
          </a:bodyPr>
          <a:lstStyle/>
          <a:p>
            <a:pPr algn="ctr">
              <a:lnSpc>
                <a:spcPct val="108000"/>
              </a:lnSpc>
              <a:spcBef>
                <a:spcPts val="0"/>
              </a:spcBef>
              <a:spcAft>
                <a:spcPts val="800"/>
              </a:spcAft>
              <a:defRPr sz="2000" b="1">
                <a:solidFill>
                  <a:srgbClr val="FFFFFF"/>
                </a:solidFill>
                <a:latin typeface="Arial" panose="020B0604020202020204"/>
              </a:defRPr>
            </a:pPr>
            <a:r>
              <a:t>01</a:t>
            </a:r>
          </a:p>
        </p:txBody>
      </p:sp>
      <p:sp>
        <p:nvSpPr>
          <p:cNvPr id="16" name="TextBox 15"/>
          <p:cNvSpPr txBox="1"/>
          <p:nvPr/>
        </p:nvSpPr>
        <p:spPr>
          <a:xfrm>
            <a:off x="1737360" y="2002536"/>
            <a:ext cx="9253728" cy="71323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I. Đặt vấn đề · Mục tiêu · Dữ liệu · Kiến trúc tổng thể</a:t>
            </a:r>
          </a:p>
        </p:txBody>
      </p:sp>
      <p:sp>
        <p:nvSpPr>
          <p:cNvPr id="17" name="Rounded Rectangle 16"/>
          <p:cNvSpPr/>
          <p:nvPr/>
        </p:nvSpPr>
        <p:spPr>
          <a:xfrm>
            <a:off x="713232" y="3063240"/>
            <a:ext cx="10716768" cy="1042415"/>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96112" y="3246120"/>
            <a:ext cx="603504" cy="603504"/>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3355848"/>
            <a:ext cx="502920" cy="365760"/>
          </a:xfrm>
          <a:prstGeom prst="rect">
            <a:avLst/>
          </a:prstGeom>
          <a:noFill/>
        </p:spPr>
        <p:txBody>
          <a:bodyPr wrap="square" lIns="22860" tIns="22860" rIns="22860" bIns="22860" anchor="t">
            <a:spAutoFit/>
          </a:bodyPr>
          <a:lstStyle/>
          <a:p>
            <a:pPr algn="ctr">
              <a:lnSpc>
                <a:spcPct val="108000"/>
              </a:lnSpc>
              <a:spcBef>
                <a:spcPts val="0"/>
              </a:spcBef>
              <a:spcAft>
                <a:spcPts val="800"/>
              </a:spcAft>
              <a:defRPr sz="2000" b="1">
                <a:solidFill>
                  <a:srgbClr val="FFFFFF"/>
                </a:solidFill>
                <a:latin typeface="Arial" panose="020B0604020202020204"/>
              </a:defRPr>
            </a:pPr>
            <a:r>
              <a:t>02</a:t>
            </a:r>
          </a:p>
        </p:txBody>
      </p:sp>
      <p:sp>
        <p:nvSpPr>
          <p:cNvPr id="20" name="TextBox 19"/>
          <p:cNvSpPr txBox="1"/>
          <p:nvPr/>
        </p:nvSpPr>
        <p:spPr>
          <a:xfrm>
            <a:off x="1737360" y="3246120"/>
            <a:ext cx="9253728" cy="71323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II. Công nghệ triển khai · Giao diện hệ thống · Demo EML</a:t>
            </a:r>
          </a:p>
        </p:txBody>
      </p:sp>
      <p:sp>
        <p:nvSpPr>
          <p:cNvPr id="21" name="Rounded Rectangle 20"/>
          <p:cNvSpPr/>
          <p:nvPr/>
        </p:nvSpPr>
        <p:spPr>
          <a:xfrm>
            <a:off x="713232" y="4306824"/>
            <a:ext cx="10716768" cy="1042415"/>
          </a:xfrm>
          <a:prstGeom prst="roundRect">
            <a:avLst>
              <a:gd name="adj" fmla="val 12000"/>
            </a:avLst>
          </a:prstGeom>
          <a:solidFill>
            <a:srgbClr val="FFF9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96112" y="4489704"/>
            <a:ext cx="603504" cy="603504"/>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1832" y="4599432"/>
            <a:ext cx="502920" cy="365760"/>
          </a:xfrm>
          <a:prstGeom prst="rect">
            <a:avLst/>
          </a:prstGeom>
          <a:noFill/>
        </p:spPr>
        <p:txBody>
          <a:bodyPr wrap="square" lIns="22860" tIns="22860" rIns="22860" bIns="22860" anchor="t">
            <a:spAutoFit/>
          </a:bodyPr>
          <a:lstStyle/>
          <a:p>
            <a:pPr algn="ctr">
              <a:lnSpc>
                <a:spcPct val="108000"/>
              </a:lnSpc>
              <a:spcBef>
                <a:spcPts val="0"/>
              </a:spcBef>
              <a:spcAft>
                <a:spcPts val="800"/>
              </a:spcAft>
              <a:defRPr sz="2000" b="1">
                <a:solidFill>
                  <a:srgbClr val="444444"/>
                </a:solidFill>
                <a:latin typeface="Arial" panose="020B0604020202020204"/>
              </a:defRPr>
            </a:pPr>
            <a:r>
              <a:t>03</a:t>
            </a:r>
          </a:p>
        </p:txBody>
      </p:sp>
      <p:sp>
        <p:nvSpPr>
          <p:cNvPr id="24" name="TextBox 23"/>
          <p:cNvSpPr txBox="1"/>
          <p:nvPr/>
        </p:nvSpPr>
        <p:spPr>
          <a:xfrm>
            <a:off x="1737360" y="4489704"/>
            <a:ext cx="9253728" cy="71323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III. Giới thiệu M0/M1/M2 · So sánh · Kết luận đánh giá</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 · ĐẶT VẤN ĐỀ, MỤC TIÊU, DỮ LIỆU VÀ KIẾN TRÚC</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Đặt vấn đề: cần xem email dưới nhiều góc độ</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25312"/>
            <a:ext cx="10744200" cy="356616"/>
          </a:xfrm>
          <a:prstGeom prst="rect">
            <a:avLst/>
          </a:prstGeom>
          <a:noFill/>
        </p:spPr>
        <p:txBody>
          <a:bodyPr wrap="square" lIns="22860" tIns="22860" rIns="22860" bIns="22860" anchor="t">
            <a:spAutoFit/>
          </a:bodyPr>
          <a:lstStyle/>
          <a:p>
            <a:pPr algn="l">
              <a:lnSpc>
                <a:spcPct val="108000"/>
              </a:lnSpc>
              <a:spcBef>
                <a:spcPts val="0"/>
              </a:spcBef>
              <a:spcAft>
                <a:spcPts val="0"/>
              </a:spcAft>
              <a:defRPr sz="820" b="0">
                <a:solidFill>
                  <a:srgbClr val="69757A"/>
                </a:solidFill>
                <a:latin typeface="Arial" panose="020B0604020202020204"/>
              </a:defRPr>
            </a:pPr>
            <a:r>
              <a:t>Nguồn: mã nguồn DT124 và giao diện ứng dụng chạy cục bộ</a:t>
            </a: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03 / 30</a:t>
            </a:r>
          </a:p>
        </p:txBody>
      </p:sp>
      <p:sp>
        <p:nvSpPr>
          <p:cNvPr id="13" name="Rounded Rectangle 12"/>
          <p:cNvSpPr/>
          <p:nvPr/>
        </p:nvSpPr>
        <p:spPr>
          <a:xfrm>
            <a:off x="713232" y="185623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77824" y="2066543"/>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01</a:t>
            </a:r>
          </a:p>
        </p:txBody>
      </p:sp>
      <p:sp>
        <p:nvSpPr>
          <p:cNvPr id="16" name="TextBox 15"/>
          <p:cNvSpPr txBox="1"/>
          <p:nvPr/>
        </p:nvSpPr>
        <p:spPr>
          <a:xfrm>
            <a:off x="1554480" y="2066543"/>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Một tệp EML chứa header, MIME, nội dung, URL và tệp đính kèm</a:t>
            </a:r>
          </a:p>
        </p:txBody>
      </p:sp>
      <p:sp>
        <p:nvSpPr>
          <p:cNvPr id="17" name="Rounded Rectangle 16"/>
          <p:cNvSpPr/>
          <p:nvPr/>
        </p:nvSpPr>
        <p:spPr>
          <a:xfrm>
            <a:off x="6153912" y="185623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18504" y="2066543"/>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93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02</a:t>
            </a:r>
          </a:p>
        </p:txBody>
      </p:sp>
      <p:sp>
        <p:nvSpPr>
          <p:cNvPr id="20" name="TextBox 19"/>
          <p:cNvSpPr txBox="1"/>
          <p:nvPr/>
        </p:nvSpPr>
        <p:spPr>
          <a:xfrm>
            <a:off x="6995160" y="2066543"/>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Giả mạo địa chỉ hoặc liên kết có thể bị bỏ sót khi chỉ đọc văn bản</a:t>
            </a:r>
          </a:p>
        </p:txBody>
      </p:sp>
      <p:sp>
        <p:nvSpPr>
          <p:cNvPr id="21" name="Rounded Rectangle 20"/>
          <p:cNvSpPr/>
          <p:nvPr/>
        </p:nvSpPr>
        <p:spPr>
          <a:xfrm>
            <a:off x="713232" y="382219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77824" y="4032504"/>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525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03</a:t>
            </a:r>
          </a:p>
        </p:txBody>
      </p:sp>
      <p:sp>
        <p:nvSpPr>
          <p:cNvPr id="24" name="TextBox 23"/>
          <p:cNvSpPr txBox="1"/>
          <p:nvPr/>
        </p:nvSpPr>
        <p:spPr>
          <a:xfrm>
            <a:off x="155448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Cần công cụ phân tích cục bộ, tổng hợp chỉ báo và lưu bằng chứng</a:t>
            </a:r>
          </a:p>
        </p:txBody>
      </p:sp>
      <p:sp>
        <p:nvSpPr>
          <p:cNvPr id="25" name="Rounded Rectangle 24"/>
          <p:cNvSpPr/>
          <p:nvPr/>
        </p:nvSpPr>
        <p:spPr>
          <a:xfrm>
            <a:off x="6153912" y="382219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18504" y="4032504"/>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04</a:t>
            </a:r>
          </a:p>
        </p:txBody>
      </p:sp>
      <p:sp>
        <p:nvSpPr>
          <p:cNvPr id="28" name="TextBox 27"/>
          <p:cNvSpPr txBox="1"/>
          <p:nvPr/>
        </p:nvSpPr>
        <p:spPr>
          <a:xfrm>
            <a:off x="699516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Mô hình nội dung hỗ trợ người phân tích; kết quả cần được kiểm chứng</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 · ĐẶT VẤN ĐỀ, MỤC TIÊU, DỮ LIỆU VÀ KIẾN TRÚC</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Mục tiêu nghiên cứu và sản phẩm</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25312"/>
            <a:ext cx="10744200" cy="356616"/>
          </a:xfrm>
          <a:prstGeom prst="rect">
            <a:avLst/>
          </a:prstGeom>
          <a:noFill/>
        </p:spPr>
        <p:txBody>
          <a:bodyPr wrap="square" lIns="22860" tIns="22860" rIns="22860" bIns="22860" anchor="t">
            <a:spAutoFit/>
          </a:bodyPr>
          <a:lstStyle/>
          <a:p>
            <a:pPr algn="l">
              <a:lnSpc>
                <a:spcPct val="108000"/>
              </a:lnSpc>
              <a:spcBef>
                <a:spcPts val="0"/>
              </a:spcBef>
              <a:spcAft>
                <a:spcPts val="0"/>
              </a:spcAft>
              <a:defRPr sz="820" b="0">
                <a:solidFill>
                  <a:srgbClr val="69757A"/>
                </a:solidFill>
                <a:latin typeface="Arial" panose="020B0604020202020204"/>
              </a:defRPr>
            </a:pPr>
            <a:r>
              <a:t>Nguồn: mã nguồn DT124 và giao diện ứng dụng chạy cục bộ</a:t>
            </a: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04 / 30</a:t>
            </a:r>
          </a:p>
        </p:txBody>
      </p:sp>
      <p:sp>
        <p:nvSpPr>
          <p:cNvPr id="13" name="Rounded Rectangle 12"/>
          <p:cNvSpPr/>
          <p:nvPr/>
        </p:nvSpPr>
        <p:spPr>
          <a:xfrm>
            <a:off x="713232" y="185623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77824" y="2066543"/>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01</a:t>
            </a:r>
          </a:p>
        </p:txBody>
      </p:sp>
      <p:sp>
        <p:nvSpPr>
          <p:cNvPr id="16" name="TextBox 15"/>
          <p:cNvSpPr txBox="1"/>
          <p:nvPr/>
        </p:nvSpPr>
        <p:spPr>
          <a:xfrm>
            <a:off x="1554480" y="2066543"/>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Xây dựng luồng đọc EML → phân tích tĩnh → báo cáo JSON</a:t>
            </a:r>
          </a:p>
        </p:txBody>
      </p:sp>
      <p:sp>
        <p:nvSpPr>
          <p:cNvPr id="17" name="Rounded Rectangle 16"/>
          <p:cNvSpPr/>
          <p:nvPr/>
        </p:nvSpPr>
        <p:spPr>
          <a:xfrm>
            <a:off x="6153912" y="185623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18504" y="2066543"/>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93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02</a:t>
            </a:r>
          </a:p>
        </p:txBody>
      </p:sp>
      <p:sp>
        <p:nvSpPr>
          <p:cNvPr id="20" name="TextBox 19"/>
          <p:cNvSpPr txBox="1"/>
          <p:nvPr/>
        </p:nvSpPr>
        <p:spPr>
          <a:xfrm>
            <a:off x="6995160" y="2066543"/>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Thiết kế và so sánh M0, M1, M2 trên cùng dữ liệu Enron</a:t>
            </a:r>
          </a:p>
        </p:txBody>
      </p:sp>
      <p:sp>
        <p:nvSpPr>
          <p:cNvPr id="21" name="Rounded Rectangle 20"/>
          <p:cNvSpPr/>
          <p:nvPr/>
        </p:nvSpPr>
        <p:spPr>
          <a:xfrm>
            <a:off x="713232" y="382219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77824" y="4032504"/>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525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03</a:t>
            </a:r>
          </a:p>
        </p:txBody>
      </p:sp>
      <p:sp>
        <p:nvSpPr>
          <p:cNvPr id="24" name="TextBox 23"/>
          <p:cNvSpPr txBox="1"/>
          <p:nvPr/>
        </p:nvSpPr>
        <p:spPr>
          <a:xfrm>
            <a:off x="155448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Kiểm tra khả năng chuyển nguồn bằng tập SpamAssassin giữ riêng</a:t>
            </a:r>
          </a:p>
        </p:txBody>
      </p:sp>
      <p:sp>
        <p:nvSpPr>
          <p:cNvPr id="25" name="Rounded Rectangle 24"/>
          <p:cNvSpPr/>
          <p:nvPr/>
        </p:nvSpPr>
        <p:spPr>
          <a:xfrm>
            <a:off x="6153912" y="382219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18504" y="4032504"/>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04</a:t>
            </a:r>
          </a:p>
        </p:txBody>
      </p:sp>
      <p:sp>
        <p:nvSpPr>
          <p:cNvPr id="28" name="TextBox 27"/>
          <p:cNvSpPr txBox="1"/>
          <p:nvPr/>
        </p:nvSpPr>
        <p:spPr>
          <a:xfrm>
            <a:off x="699516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Demo bằng giao diện tiếng Việt; lưu cấu hình và kết quả tái lập</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 · ĐẶT VẤN ĐỀ, MỤC TIÊU, DỮ LIỆU VÀ KIẾN TRÚC</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Cơ sở nghiên cứu và phạm vi tái lập</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25312"/>
            <a:ext cx="10744200" cy="356616"/>
          </a:xfrm>
          <a:prstGeom prst="rect">
            <a:avLst/>
          </a:prstGeom>
          <a:noFill/>
        </p:spPr>
        <p:txBody>
          <a:bodyPr wrap="square" lIns="22860" tIns="22860" rIns="22860" bIns="22860" anchor="t">
            <a:spAutoFit/>
          </a:bodyPr>
          <a:lstStyle/>
          <a:p>
            <a:pPr algn="l">
              <a:lnSpc>
                <a:spcPct val="108000"/>
              </a:lnSpc>
              <a:spcBef>
                <a:spcPts val="0"/>
              </a:spcBef>
              <a:spcAft>
                <a:spcPts val="0"/>
              </a:spcAft>
              <a:defRPr sz="820" b="0">
                <a:solidFill>
                  <a:srgbClr val="69757A"/>
                </a:solidFill>
                <a:latin typeface="Arial" panose="020B0604020202020204"/>
              </a:defRPr>
            </a:pPr>
            <a:r>
              <a:t>Champa et al., DOI 10.1109/ICMI60790.2024.10585821 · Agarwal &amp; Vasek, DOI 10.1093/cybsec/tyag020</a:t>
            </a: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05 / 30</a:t>
            </a:r>
          </a:p>
        </p:txBody>
      </p:sp>
      <p:sp>
        <p:nvSpPr>
          <p:cNvPr id="13" name="Rounded Rectangle 12"/>
          <p:cNvSpPr/>
          <p:nvPr/>
        </p:nvSpPr>
        <p:spPr>
          <a:xfrm>
            <a:off x="713232" y="185623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77824" y="2066543"/>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01</a:t>
            </a:r>
          </a:p>
        </p:txBody>
      </p:sp>
      <p:sp>
        <p:nvSpPr>
          <p:cNvPr id="16" name="TextBox 15"/>
          <p:cNvSpPr txBox="1"/>
          <p:nvPr/>
        </p:nvSpPr>
        <p:spPr>
          <a:xfrm>
            <a:off x="1554480" y="2066543"/>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Email: Champa, Rabbi &amp; Zibran · IEEE ICMI 2024</a:t>
            </a:r>
          </a:p>
        </p:txBody>
      </p:sp>
      <p:sp>
        <p:nvSpPr>
          <p:cNvPr id="17" name="Rounded Rectangle 16"/>
          <p:cNvSpPr/>
          <p:nvPr/>
        </p:nvSpPr>
        <p:spPr>
          <a:xfrm>
            <a:off x="6153912" y="185623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18504" y="2066543"/>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93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02</a:t>
            </a:r>
          </a:p>
        </p:txBody>
      </p:sp>
      <p:sp>
        <p:nvSpPr>
          <p:cNvPr id="20" name="TextBox 19"/>
          <p:cNvSpPr txBox="1"/>
          <p:nvPr/>
        </p:nvSpPr>
        <p:spPr>
          <a:xfrm>
            <a:off x="6995160" y="2066543"/>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Kế thừa corpus Enron.csv và hướng biểu diễn TF-IDF/SVM</a:t>
            </a:r>
          </a:p>
        </p:txBody>
      </p:sp>
      <p:sp>
        <p:nvSpPr>
          <p:cNvPr id="21" name="Rounded Rectangle 20"/>
          <p:cNvSpPr/>
          <p:nvPr/>
        </p:nvSpPr>
        <p:spPr>
          <a:xfrm>
            <a:off x="713232" y="382219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77824" y="4032504"/>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525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03</a:t>
            </a:r>
          </a:p>
        </p:txBody>
      </p:sp>
      <p:sp>
        <p:nvSpPr>
          <p:cNvPr id="24" name="TextBox 23"/>
          <p:cNvSpPr txBox="1"/>
          <p:nvPr/>
        </p:nvSpPr>
        <p:spPr>
          <a:xfrm>
            <a:off x="155448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Paper: stratified 10-fold; DT124: nested CV theo nhóm nội dung</a:t>
            </a:r>
          </a:p>
        </p:txBody>
      </p:sp>
      <p:sp>
        <p:nvSpPr>
          <p:cNvPr id="25" name="Rounded Rectangle 24"/>
          <p:cNvSpPr/>
          <p:nvPr/>
        </p:nvSpPr>
        <p:spPr>
          <a:xfrm>
            <a:off x="6153912" y="382219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18504" y="4032504"/>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04</a:t>
            </a:r>
          </a:p>
        </p:txBody>
      </p:sp>
      <p:sp>
        <p:nvSpPr>
          <p:cNvPr id="28" name="TextBox 27"/>
          <p:cNvSpPr txBox="1"/>
          <p:nvPr/>
        </p:nvSpPr>
        <p:spPr>
          <a:xfrm>
            <a:off x="699516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Domain 2026: bối cảnh; có bản dịch tiếng Việt trong bộ kết quả</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 · ĐẶT VẤN ĐỀ, MỤC TIÊU, DỮ LIỆU VÀ KIẾN TRÚC</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Dữ liệu nghiên cứu: Enron có nhãn</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25312"/>
            <a:ext cx="10744200" cy="356616"/>
          </a:xfrm>
          <a:prstGeom prst="rect">
            <a:avLst/>
          </a:prstGeom>
          <a:noFill/>
        </p:spPr>
        <p:txBody>
          <a:bodyPr wrap="square" lIns="22860" tIns="22860" rIns="22860" bIns="22860" anchor="t">
            <a:spAutoFit/>
          </a:bodyPr>
          <a:lstStyle/>
          <a:p>
            <a:pPr algn="l">
              <a:lnSpc>
                <a:spcPct val="108000"/>
              </a:lnSpc>
              <a:spcBef>
                <a:spcPts val="0"/>
              </a:spcBef>
              <a:spcAft>
                <a:spcPts val="0"/>
              </a:spcAft>
              <a:defRPr sz="820" b="0">
                <a:solidFill>
                  <a:srgbClr val="69757A"/>
                </a:solidFill>
                <a:latin typeface="Arial" panose="020B0604020202020204"/>
              </a:defRPr>
            </a:pPr>
            <a:r>
              <a:t>Nguồn: Champa và cộng sự, ICMI 2024 · Zenodo 8339691 · CC BY 4.0</a:t>
            </a: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06 / 30</a:t>
            </a:r>
          </a:p>
        </p:txBody>
      </p:sp>
      <p:graphicFrame>
        <p:nvGraphicFramePr>
          <p:cNvPr id="13" name="Table 12"/>
          <p:cNvGraphicFramePr>
            <a:graphicFrameLocks noGrp="1"/>
          </p:cNvGraphicFramePr>
          <p:nvPr/>
        </p:nvGraphicFramePr>
        <p:xfrm>
          <a:off x="722376" y="1819656"/>
          <a:ext cx="10725912" cy="3584448"/>
        </p:xfrm>
        <a:graphic>
          <a:graphicData uri="http://schemas.openxmlformats.org/drawingml/2006/table">
            <a:tbl>
              <a:tblPr firstRow="1" bandRow="1">
                <a:tableStyleId>{5C22544A-7EE6-4342-B048-85BDC9FD1C3A}</a:tableStyleId>
              </a:tblPr>
              <a:tblGrid>
                <a:gridCol w="3337560"/>
                <a:gridCol w="7388352"/>
              </a:tblGrid>
              <a:tr h="597408">
                <a:tc>
                  <a:txBody>
                    <a:bodyPr/>
                    <a:lstStyle/>
                    <a:p>
                      <a:pPr>
                        <a:lnSpc>
                          <a:spcPct val="100000"/>
                        </a:lnSpc>
                        <a:spcAft>
                          <a:spcPts val="0"/>
                        </a:spcAft>
                        <a:defRPr sz="1700" b="1">
                          <a:solidFill>
                            <a:srgbClr val="FFFFFF"/>
                          </a:solidFill>
                          <a:latin typeface="Arial" panose="020B0604020202020204"/>
                        </a:defRPr>
                      </a:pPr>
                      <a:r>
                        <a:t>Thuộc tính</a:t>
                      </a:r>
                    </a:p>
                  </a:txBody>
                  <a:tcPr marL="118872" marR="118872" marT="64008" marB="64008" anchor="ctr">
                    <a:solidFill>
                      <a:srgbClr val="F47700"/>
                    </a:solidFill>
                  </a:tcPr>
                </a:tc>
                <a:tc>
                  <a:txBody>
                    <a:bodyPr/>
                    <a:lstStyle/>
                    <a:p>
                      <a:pPr>
                        <a:lnSpc>
                          <a:spcPct val="100000"/>
                        </a:lnSpc>
                        <a:spcAft>
                          <a:spcPts val="0"/>
                        </a:spcAft>
                        <a:defRPr sz="1700" b="1">
                          <a:solidFill>
                            <a:srgbClr val="FFFFFF"/>
                          </a:solidFill>
                          <a:latin typeface="Arial" panose="020B0604020202020204"/>
                        </a:defRPr>
                      </a:pPr>
                      <a:r>
                        <a:t>Giá trị đã kiểm tra</a:t>
                      </a:r>
                    </a:p>
                  </a:txBody>
                  <a:tcPr marL="118872" marR="118872" marT="64008" marB="64008" anchor="ctr">
                    <a:solidFill>
                      <a:srgbClr val="F47700"/>
                    </a:solidFill>
                  </a:tcPr>
                </a:tc>
              </a:tr>
              <a:tr h="597408">
                <a:tc>
                  <a:txBody>
                    <a:bodyPr/>
                    <a:lstStyle/>
                    <a:p>
                      <a:pPr>
                        <a:lnSpc>
                          <a:spcPct val="100000"/>
                        </a:lnSpc>
                        <a:spcAft>
                          <a:spcPts val="0"/>
                        </a:spcAft>
                        <a:defRPr sz="1700" b="0">
                          <a:solidFill>
                            <a:srgbClr val="444444"/>
                          </a:solidFill>
                          <a:latin typeface="Arial" panose="020B0604020202020204"/>
                        </a:defRPr>
                      </a:pPr>
                      <a:r>
                        <a:t>Tệp</a:t>
                      </a:r>
                    </a:p>
                  </a:txBody>
                  <a:tcPr marL="118872" marR="118872" marT="64008" marB="64008" anchor="ctr">
                    <a:solidFill>
                      <a:srgbClr val="FFFFFF"/>
                    </a:solidFill>
                  </a:tcPr>
                </a:tc>
                <a:tc>
                  <a:txBody>
                    <a:bodyPr/>
                    <a:lstStyle/>
                    <a:p>
                      <a:pPr>
                        <a:lnSpc>
                          <a:spcPct val="100000"/>
                        </a:lnSpc>
                        <a:spcAft>
                          <a:spcPts val="0"/>
                        </a:spcAft>
                        <a:defRPr sz="1700" b="0">
                          <a:solidFill>
                            <a:srgbClr val="444444"/>
                          </a:solidFill>
                          <a:latin typeface="Arial" panose="020B0604020202020204"/>
                        </a:defRPr>
                      </a:pPr>
                      <a:r>
                        <a:t>Enron.csv · 44.837.129 byte</a:t>
                      </a:r>
                    </a:p>
                  </a:txBody>
                  <a:tcPr marL="118872" marR="118872" marT="64008" marB="64008" anchor="ctr">
                    <a:solidFill>
                      <a:srgbClr val="FFFFFF"/>
                    </a:solidFill>
                  </a:tcPr>
                </a:tc>
              </a:tr>
              <a:tr h="597408">
                <a:tc>
                  <a:txBody>
                    <a:bodyPr/>
                    <a:lstStyle/>
                    <a:p>
                      <a:pPr>
                        <a:lnSpc>
                          <a:spcPct val="100000"/>
                        </a:lnSpc>
                        <a:spcAft>
                          <a:spcPts val="0"/>
                        </a:spcAft>
                        <a:defRPr sz="1700" b="0">
                          <a:solidFill>
                            <a:srgbClr val="444444"/>
                          </a:solidFill>
                          <a:latin typeface="Arial" panose="020B0604020202020204"/>
                        </a:defRPr>
                      </a:pPr>
                      <a:r>
                        <a:t>Dòng gốc</a:t>
                      </a:r>
                    </a:p>
                  </a:txBody>
                  <a:tcPr marL="118872" marR="118872" marT="64008" marB="64008" anchor="ctr">
                    <a:solidFill>
                      <a:srgbClr val="F2F8F8"/>
                    </a:solidFill>
                  </a:tcPr>
                </a:tc>
                <a:tc>
                  <a:txBody>
                    <a:bodyPr/>
                    <a:lstStyle/>
                    <a:p>
                      <a:pPr>
                        <a:lnSpc>
                          <a:spcPct val="100000"/>
                        </a:lnSpc>
                        <a:spcAft>
                          <a:spcPts val="0"/>
                        </a:spcAft>
                        <a:defRPr sz="1700" b="0">
                          <a:solidFill>
                            <a:srgbClr val="444444"/>
                          </a:solidFill>
                          <a:latin typeface="Arial" panose="020B0604020202020204"/>
                        </a:defRPr>
                      </a:pPr>
                      <a:r>
                        <a:t>29.767</a:t>
                      </a:r>
                    </a:p>
                  </a:txBody>
                  <a:tcPr marL="118872" marR="118872" marT="64008" marB="64008" anchor="ctr">
                    <a:solidFill>
                      <a:srgbClr val="F2F8F8"/>
                    </a:solidFill>
                  </a:tcPr>
                </a:tc>
              </a:tr>
              <a:tr h="597408">
                <a:tc>
                  <a:txBody>
                    <a:bodyPr/>
                    <a:lstStyle/>
                    <a:p>
                      <a:pPr>
                        <a:lnSpc>
                          <a:spcPct val="100000"/>
                        </a:lnSpc>
                        <a:spcAft>
                          <a:spcPts val="0"/>
                        </a:spcAft>
                        <a:defRPr sz="1700" b="0">
                          <a:solidFill>
                            <a:srgbClr val="444444"/>
                          </a:solidFill>
                          <a:latin typeface="Arial" panose="020B0604020202020204"/>
                        </a:defRPr>
                      </a:pPr>
                      <a:r>
                        <a:t>Giữ lại</a:t>
                      </a:r>
                    </a:p>
                  </a:txBody>
                  <a:tcPr marL="118872" marR="118872" marT="64008" marB="64008" anchor="ctr">
                    <a:solidFill>
                      <a:srgbClr val="FFFFFF"/>
                    </a:solidFill>
                  </a:tcPr>
                </a:tc>
                <a:tc>
                  <a:txBody>
                    <a:bodyPr/>
                    <a:lstStyle/>
                    <a:p>
                      <a:pPr>
                        <a:lnSpc>
                          <a:spcPct val="100000"/>
                        </a:lnSpc>
                        <a:spcAft>
                          <a:spcPts val="0"/>
                        </a:spcAft>
                        <a:defRPr sz="1700" b="0">
                          <a:solidFill>
                            <a:srgbClr val="444444"/>
                          </a:solidFill>
                          <a:latin typeface="Arial" panose="020B0604020202020204"/>
                        </a:defRPr>
                      </a:pPr>
                      <a:r>
                        <a:t>29.423</a:t>
                      </a:r>
                    </a:p>
                  </a:txBody>
                  <a:tcPr marL="118872" marR="118872" marT="64008" marB="64008" anchor="ctr">
                    <a:solidFill>
                      <a:srgbClr val="FFFFFF"/>
                    </a:solidFill>
                  </a:tcPr>
                </a:tc>
              </a:tr>
              <a:tr h="597408">
                <a:tc>
                  <a:txBody>
                    <a:bodyPr/>
                    <a:lstStyle/>
                    <a:p>
                      <a:pPr>
                        <a:lnSpc>
                          <a:spcPct val="100000"/>
                        </a:lnSpc>
                        <a:spcAft>
                          <a:spcPts val="0"/>
                        </a:spcAft>
                        <a:defRPr sz="1700" b="0">
                          <a:solidFill>
                            <a:srgbClr val="444444"/>
                          </a:solidFill>
                          <a:latin typeface="Arial" panose="020B0604020202020204"/>
                        </a:defRPr>
                      </a:pPr>
                      <a:r>
                        <a:t>Trường học máy</a:t>
                      </a:r>
                    </a:p>
                  </a:txBody>
                  <a:tcPr marL="118872" marR="118872" marT="64008" marB="64008" anchor="ctr">
                    <a:solidFill>
                      <a:srgbClr val="F2F8F8"/>
                    </a:solidFill>
                  </a:tcPr>
                </a:tc>
                <a:tc>
                  <a:txBody>
                    <a:bodyPr/>
                    <a:lstStyle/>
                    <a:p>
                      <a:pPr>
                        <a:lnSpc>
                          <a:spcPct val="100000"/>
                        </a:lnSpc>
                        <a:spcAft>
                          <a:spcPts val="0"/>
                        </a:spcAft>
                        <a:defRPr sz="1700" b="0">
                          <a:solidFill>
                            <a:srgbClr val="444444"/>
                          </a:solidFill>
                          <a:latin typeface="Arial" panose="020B0604020202020204"/>
                        </a:defRPr>
                      </a:pPr>
                      <a:r>
                        <a:t>Subject, Body, label</a:t>
                      </a:r>
                    </a:p>
                  </a:txBody>
                  <a:tcPr marL="118872" marR="118872" marT="64008" marB="64008" anchor="ctr">
                    <a:solidFill>
                      <a:srgbClr val="F2F8F8"/>
                    </a:solidFill>
                  </a:tcPr>
                </a:tc>
              </a:tr>
              <a:tr h="597408">
                <a:tc>
                  <a:txBody>
                    <a:bodyPr/>
                    <a:lstStyle/>
                    <a:p>
                      <a:pPr>
                        <a:lnSpc>
                          <a:spcPct val="100000"/>
                        </a:lnSpc>
                        <a:spcAft>
                          <a:spcPts val="0"/>
                        </a:spcAft>
                        <a:defRPr sz="1700" b="0">
                          <a:solidFill>
                            <a:srgbClr val="444444"/>
                          </a:solidFill>
                          <a:latin typeface="Arial" panose="020B0604020202020204"/>
                        </a:defRPr>
                      </a:pPr>
                      <a:r>
                        <a:t>Nguồn / giấy phép</a:t>
                      </a:r>
                    </a:p>
                  </a:txBody>
                  <a:tcPr marL="118872" marR="118872" marT="64008" marB="64008" anchor="ctr">
                    <a:solidFill>
                      <a:srgbClr val="FFFFFF"/>
                    </a:solidFill>
                  </a:tcPr>
                </a:tc>
                <a:tc>
                  <a:txBody>
                    <a:bodyPr/>
                    <a:lstStyle/>
                    <a:p>
                      <a:pPr>
                        <a:lnSpc>
                          <a:spcPct val="100000"/>
                        </a:lnSpc>
                        <a:spcAft>
                          <a:spcPts val="0"/>
                        </a:spcAft>
                        <a:defRPr sz="1700" b="0">
                          <a:solidFill>
                            <a:srgbClr val="444444"/>
                          </a:solidFill>
                          <a:latin typeface="Arial" panose="020B0604020202020204"/>
                        </a:defRPr>
                      </a:pPr>
                      <a:r>
                        <a:t>Zenodo 8339691 / CC BY 4.0</a:t>
                      </a:r>
                    </a:p>
                  </a:txBody>
                  <a:tcPr marL="118872" marR="118872" marT="64008" marB="64008" anchor="ctr">
                    <a:solidFill>
                      <a:srgbClr val="FFFFFF"/>
                    </a:solidFill>
                  </a:tcPr>
                </a:tc>
              </a:tr>
            </a:tbl>
          </a:graphicData>
        </a:graphic>
      </p:graphicFrame>
      <p:sp>
        <p:nvSpPr>
          <p:cNvPr id="14" name="TextBox 13"/>
          <p:cNvSpPr txBox="1"/>
          <p:nvPr/>
        </p:nvSpPr>
        <p:spPr>
          <a:xfrm>
            <a:off x="749808" y="5641848"/>
            <a:ext cx="10607040" cy="265176"/>
          </a:xfrm>
          <a:prstGeom prst="rect">
            <a:avLst/>
          </a:prstGeom>
          <a:noFill/>
        </p:spPr>
        <p:txBody>
          <a:bodyPr wrap="square" lIns="22860" tIns="22860" rIns="22860" bIns="22860" anchor="t">
            <a:spAutoFit/>
          </a:bodyPr>
          <a:lstStyle/>
          <a:p>
            <a:pPr algn="l">
              <a:lnSpc>
                <a:spcPct val="108000"/>
              </a:lnSpc>
              <a:spcBef>
                <a:spcPts val="0"/>
              </a:spcBef>
              <a:spcAft>
                <a:spcPts val="0"/>
              </a:spcAft>
              <a:defRPr sz="1050" b="0">
                <a:solidFill>
                  <a:srgbClr val="69757A"/>
                </a:solidFill>
                <a:latin typeface="Arial" panose="020B0604020202020204"/>
              </a:defRPr>
            </a:pPr>
            <a:r>
              <a:t>15.474 hợp lệ · 13.949 spam/phishing theo nhãn nguồn; chưa gắn nhãn lại độc lập.</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 · ĐẶT VẤN ĐỀ, MỤC TIÊU, DỮ LIỆU VÀ KIẾN TRÚC</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Tập kiểm tra khác nguồn: SpamAssassin</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25312"/>
            <a:ext cx="10744200" cy="356616"/>
          </a:xfrm>
          <a:prstGeom prst="rect">
            <a:avLst/>
          </a:prstGeom>
          <a:noFill/>
        </p:spPr>
        <p:txBody>
          <a:bodyPr wrap="square" lIns="22860" tIns="22860" rIns="22860" bIns="22860" anchor="t">
            <a:spAutoFit/>
          </a:bodyPr>
          <a:lstStyle/>
          <a:p>
            <a:pPr algn="l">
              <a:lnSpc>
                <a:spcPct val="108000"/>
              </a:lnSpc>
              <a:spcBef>
                <a:spcPts val="0"/>
              </a:spcBef>
              <a:spcAft>
                <a:spcPts val="0"/>
              </a:spcAft>
              <a:defRPr sz="820" b="0">
                <a:solidFill>
                  <a:srgbClr val="69757A"/>
                </a:solidFill>
                <a:latin typeface="Arial" panose="020B0604020202020204"/>
              </a:defRPr>
            </a:pPr>
            <a:r>
              <a:t>Nguồn: Champa và cộng sự, ICMI 2024 · Zenodo 8339691 · CC BY 4.0</a:t>
            </a: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07 / 30</a:t>
            </a:r>
          </a:p>
        </p:txBody>
      </p:sp>
      <p:sp>
        <p:nvSpPr>
          <p:cNvPr id="13" name="Rounded Rectangle 12"/>
          <p:cNvSpPr/>
          <p:nvPr/>
        </p:nvSpPr>
        <p:spPr>
          <a:xfrm>
            <a:off x="713232" y="185623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77824" y="2066543"/>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01</a:t>
            </a:r>
          </a:p>
        </p:txBody>
      </p:sp>
      <p:sp>
        <p:nvSpPr>
          <p:cNvPr id="16" name="TextBox 15"/>
          <p:cNvSpPr txBox="1"/>
          <p:nvPr/>
        </p:nvSpPr>
        <p:spPr>
          <a:xfrm>
            <a:off x="1554480" y="2066543"/>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5.809 hàng gốc → 5.799 email sau làm sạch và loại chồng lấn</a:t>
            </a:r>
          </a:p>
        </p:txBody>
      </p:sp>
      <p:sp>
        <p:nvSpPr>
          <p:cNvPr id="17" name="Rounded Rectangle 16"/>
          <p:cNvSpPr/>
          <p:nvPr/>
        </p:nvSpPr>
        <p:spPr>
          <a:xfrm>
            <a:off x="6153912" y="185623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18504" y="2066543"/>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93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02</a:t>
            </a:r>
          </a:p>
        </p:txBody>
      </p:sp>
      <p:sp>
        <p:nvSpPr>
          <p:cNvPr id="20" name="TextBox 19"/>
          <p:cNvSpPr txBox="1"/>
          <p:nvPr/>
        </p:nvSpPr>
        <p:spPr>
          <a:xfrm>
            <a:off x="6995160" y="2066543"/>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4.090 hợp lệ · 1.709 spam/phishing theo nguồn</a:t>
            </a:r>
          </a:p>
        </p:txBody>
      </p:sp>
      <p:sp>
        <p:nvSpPr>
          <p:cNvPr id="21" name="Rounded Rectangle 20"/>
          <p:cNvSpPr/>
          <p:nvPr/>
        </p:nvSpPr>
        <p:spPr>
          <a:xfrm>
            <a:off x="713232" y="382219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77824" y="4032504"/>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525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03</a:t>
            </a:r>
          </a:p>
        </p:txBody>
      </p:sp>
      <p:sp>
        <p:nvSpPr>
          <p:cNvPr id="24" name="TextBox 23"/>
          <p:cNvSpPr txBox="1"/>
          <p:nvPr/>
        </p:nvSpPr>
        <p:spPr>
          <a:xfrm>
            <a:off x="155448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Khóa mô hình trước khi dự đoán; giữ nguyên ngưỡng quyết định</a:t>
            </a:r>
          </a:p>
        </p:txBody>
      </p:sp>
      <p:sp>
        <p:nvSpPr>
          <p:cNvPr id="25" name="Rounded Rectangle 24"/>
          <p:cNvSpPr/>
          <p:nvPr/>
        </p:nvSpPr>
        <p:spPr>
          <a:xfrm>
            <a:off x="6153912" y="382219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18504" y="4032504"/>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04</a:t>
            </a:r>
          </a:p>
        </p:txBody>
      </p:sp>
      <p:sp>
        <p:nvSpPr>
          <p:cNvPr id="28" name="TextBox 27"/>
          <p:cNvSpPr txBox="1"/>
          <p:nvPr/>
        </p:nvSpPr>
        <p:spPr>
          <a:xfrm>
            <a:off x="699516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100 EML Enron chưa nhãn chỉ dùng thử parser, tách khỏi metric</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 · ĐẶT VẤN ĐỀ, MỤC TIÊU, DỮ LIỆU VÀ KIẾN TRÚC</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Chuẩn bị dữ liệu và giảm rò rỉ</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25312"/>
            <a:ext cx="10744200" cy="356616"/>
          </a:xfrm>
          <a:prstGeom prst="rect">
            <a:avLst/>
          </a:prstGeom>
          <a:noFill/>
        </p:spPr>
        <p:txBody>
          <a:bodyPr wrap="square" lIns="22860" tIns="22860" rIns="22860" bIns="22860" anchor="t">
            <a:spAutoFit/>
          </a:bodyPr>
          <a:lstStyle/>
          <a:p>
            <a:pPr algn="l">
              <a:lnSpc>
                <a:spcPct val="108000"/>
              </a:lnSpc>
              <a:spcBef>
                <a:spcPts val="0"/>
              </a:spcBef>
              <a:spcAft>
                <a:spcPts val="0"/>
              </a:spcAft>
              <a:defRPr sz="820" b="0">
                <a:solidFill>
                  <a:srgbClr val="69757A"/>
                </a:solidFill>
                <a:latin typeface="Arial" panose="020B0604020202020204"/>
              </a:defRPr>
            </a:pPr>
            <a:r>
              <a:t>Nguồn: artifacts/model_improvement_v2/results.json · 18/10/2026</a:t>
            </a: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08 / 30</a:t>
            </a:r>
          </a:p>
        </p:txBody>
      </p:sp>
      <p:sp>
        <p:nvSpPr>
          <p:cNvPr id="13" name="Rounded Rectangle 12"/>
          <p:cNvSpPr/>
          <p:nvPr/>
        </p:nvSpPr>
        <p:spPr>
          <a:xfrm>
            <a:off x="731520" y="2212848"/>
            <a:ext cx="2462022" cy="2944368"/>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2212848"/>
            <a:ext cx="2462022" cy="566928"/>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 y="2331720"/>
            <a:ext cx="2242565" cy="356616"/>
          </a:xfrm>
          <a:prstGeom prst="rect">
            <a:avLst/>
          </a:prstGeom>
          <a:noFill/>
        </p:spPr>
        <p:txBody>
          <a:bodyPr wrap="square" lIns="22860" tIns="22860" rIns="22860" bIns="22860" anchor="t">
            <a:spAutoFit/>
          </a:bodyPr>
          <a:lstStyle/>
          <a:p>
            <a:pPr algn="ctr">
              <a:lnSpc>
                <a:spcPct val="108000"/>
              </a:lnSpc>
              <a:spcBef>
                <a:spcPts val="0"/>
              </a:spcBef>
              <a:spcAft>
                <a:spcPts val="800"/>
              </a:spcAft>
              <a:defRPr sz="2200" b="1">
                <a:solidFill>
                  <a:srgbClr val="FFFFFF"/>
                </a:solidFill>
                <a:latin typeface="Arial" panose="020B0604020202020204"/>
              </a:defRPr>
            </a:pPr>
            <a:r>
              <a:t>01</a:t>
            </a:r>
          </a:p>
        </p:txBody>
      </p:sp>
      <p:sp>
        <p:nvSpPr>
          <p:cNvPr id="16" name="TextBox 15"/>
          <p:cNvSpPr txBox="1"/>
          <p:nvPr/>
        </p:nvSpPr>
        <p:spPr>
          <a:xfrm>
            <a:off x="905256" y="3081528"/>
            <a:ext cx="2114550" cy="17647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000" b="0">
                <a:solidFill>
                  <a:srgbClr val="444444"/>
                </a:solidFill>
                <a:latin typeface="Arial" panose="020B0604020202020204"/>
              </a:defRPr>
            </a:pPr>
            <a:r>
              <a:t>Kiểm tra checksum, trường dữ liệu, nhãn và nội dung trống</a:t>
            </a:r>
          </a:p>
        </p:txBody>
      </p:sp>
      <p:sp>
        <p:nvSpPr>
          <p:cNvPr id="17" name="TextBox 16"/>
          <p:cNvSpPr txBox="1"/>
          <p:nvPr/>
        </p:nvSpPr>
        <p:spPr>
          <a:xfrm>
            <a:off x="3225546" y="3374136"/>
            <a:ext cx="228600" cy="493776"/>
          </a:xfrm>
          <a:prstGeom prst="rect">
            <a:avLst/>
          </a:prstGeom>
          <a:noFill/>
        </p:spPr>
        <p:txBody>
          <a:bodyPr wrap="square" lIns="22860" tIns="22860" rIns="22860" bIns="22860" anchor="t">
            <a:spAutoFit/>
          </a:bodyPr>
          <a:lstStyle/>
          <a:p>
            <a:pPr algn="l">
              <a:lnSpc>
                <a:spcPct val="108000"/>
              </a:lnSpc>
              <a:spcBef>
                <a:spcPts val="0"/>
              </a:spcBef>
              <a:spcAft>
                <a:spcPts val="800"/>
              </a:spcAft>
              <a:defRPr sz="2900" b="1">
                <a:solidFill>
                  <a:srgbClr val="F47700"/>
                </a:solidFill>
                <a:latin typeface="Arial" panose="020B0604020202020204"/>
              </a:defRPr>
            </a:pPr>
            <a:r>
              <a:t>›</a:t>
            </a:r>
          </a:p>
        </p:txBody>
      </p:sp>
      <p:sp>
        <p:nvSpPr>
          <p:cNvPr id="18" name="Rounded Rectangle 17"/>
          <p:cNvSpPr/>
          <p:nvPr/>
        </p:nvSpPr>
        <p:spPr>
          <a:xfrm>
            <a:off x="3477006" y="2212848"/>
            <a:ext cx="2462022" cy="2944368"/>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477006" y="2212848"/>
            <a:ext cx="2462022" cy="566928"/>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86734" y="2331720"/>
            <a:ext cx="2242565" cy="356616"/>
          </a:xfrm>
          <a:prstGeom prst="rect">
            <a:avLst/>
          </a:prstGeom>
          <a:noFill/>
        </p:spPr>
        <p:txBody>
          <a:bodyPr wrap="square" lIns="22860" tIns="22860" rIns="22860" bIns="22860" anchor="t">
            <a:spAutoFit/>
          </a:bodyPr>
          <a:lstStyle/>
          <a:p>
            <a:pPr algn="ctr">
              <a:lnSpc>
                <a:spcPct val="108000"/>
              </a:lnSpc>
              <a:spcBef>
                <a:spcPts val="0"/>
              </a:spcBef>
              <a:spcAft>
                <a:spcPts val="800"/>
              </a:spcAft>
              <a:defRPr sz="2200" b="1">
                <a:solidFill>
                  <a:srgbClr val="444444"/>
                </a:solidFill>
                <a:latin typeface="Arial" panose="020B0604020202020204"/>
              </a:defRPr>
            </a:pPr>
            <a:r>
              <a:t>02</a:t>
            </a:r>
          </a:p>
        </p:txBody>
      </p:sp>
      <p:sp>
        <p:nvSpPr>
          <p:cNvPr id="21" name="TextBox 20"/>
          <p:cNvSpPr txBox="1"/>
          <p:nvPr/>
        </p:nvSpPr>
        <p:spPr>
          <a:xfrm>
            <a:off x="3650742" y="3081528"/>
            <a:ext cx="2114550" cy="17647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000" b="0">
                <a:solidFill>
                  <a:srgbClr val="444444"/>
                </a:solidFill>
                <a:latin typeface="Arial" panose="020B0604020202020204"/>
              </a:defRPr>
            </a:pPr>
            <a:r>
              <a:t>Bỏ trùng NFKC/chữ thường/khoảng trắng; kiểm tra nhãn mâu thuẫn</a:t>
            </a:r>
          </a:p>
        </p:txBody>
      </p:sp>
      <p:sp>
        <p:nvSpPr>
          <p:cNvPr id="22" name="TextBox 21"/>
          <p:cNvSpPr txBox="1"/>
          <p:nvPr/>
        </p:nvSpPr>
        <p:spPr>
          <a:xfrm>
            <a:off x="5971032" y="3374136"/>
            <a:ext cx="228600" cy="493776"/>
          </a:xfrm>
          <a:prstGeom prst="rect">
            <a:avLst/>
          </a:prstGeom>
          <a:noFill/>
        </p:spPr>
        <p:txBody>
          <a:bodyPr wrap="square" lIns="22860" tIns="22860" rIns="22860" bIns="22860" anchor="t">
            <a:spAutoFit/>
          </a:bodyPr>
          <a:lstStyle/>
          <a:p>
            <a:pPr algn="l">
              <a:lnSpc>
                <a:spcPct val="108000"/>
              </a:lnSpc>
              <a:spcBef>
                <a:spcPts val="0"/>
              </a:spcBef>
              <a:spcAft>
                <a:spcPts val="800"/>
              </a:spcAft>
              <a:defRPr sz="2900" b="1">
                <a:solidFill>
                  <a:srgbClr val="F47700"/>
                </a:solidFill>
                <a:latin typeface="Arial" panose="020B0604020202020204"/>
              </a:defRPr>
            </a:pPr>
            <a:r>
              <a:t>›</a:t>
            </a:r>
          </a:p>
        </p:txBody>
      </p:sp>
      <p:sp>
        <p:nvSpPr>
          <p:cNvPr id="23" name="Rounded Rectangle 22"/>
          <p:cNvSpPr/>
          <p:nvPr/>
        </p:nvSpPr>
        <p:spPr>
          <a:xfrm>
            <a:off x="6222492" y="2212848"/>
            <a:ext cx="2462022" cy="2944368"/>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222492" y="2212848"/>
            <a:ext cx="2462022" cy="566928"/>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32220" y="2331720"/>
            <a:ext cx="2242565" cy="356616"/>
          </a:xfrm>
          <a:prstGeom prst="rect">
            <a:avLst/>
          </a:prstGeom>
          <a:noFill/>
        </p:spPr>
        <p:txBody>
          <a:bodyPr wrap="square" lIns="22860" tIns="22860" rIns="22860" bIns="22860" anchor="t">
            <a:spAutoFit/>
          </a:bodyPr>
          <a:lstStyle/>
          <a:p>
            <a:pPr algn="ctr">
              <a:lnSpc>
                <a:spcPct val="108000"/>
              </a:lnSpc>
              <a:spcBef>
                <a:spcPts val="0"/>
              </a:spcBef>
              <a:spcAft>
                <a:spcPts val="800"/>
              </a:spcAft>
              <a:defRPr sz="2200" b="1">
                <a:solidFill>
                  <a:srgbClr val="FFFFFF"/>
                </a:solidFill>
                <a:latin typeface="Arial" panose="020B0604020202020204"/>
              </a:defRPr>
            </a:pPr>
            <a:r>
              <a:t>03</a:t>
            </a:r>
          </a:p>
        </p:txBody>
      </p:sp>
      <p:sp>
        <p:nvSpPr>
          <p:cNvPr id="26" name="TextBox 25"/>
          <p:cNvSpPr txBox="1"/>
          <p:nvPr/>
        </p:nvSpPr>
        <p:spPr>
          <a:xfrm>
            <a:off x="6396228" y="3081528"/>
            <a:ext cx="2114550" cy="17647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000" b="0">
                <a:solidFill>
                  <a:srgbClr val="444444"/>
                </a:solidFill>
                <a:latin typeface="Arial" panose="020B0604020202020204"/>
              </a:defRPr>
            </a:pPr>
            <a:r>
              <a:t>Gom nhóm khuôn nội dung sau che URL, email và chữ số</a:t>
            </a:r>
          </a:p>
        </p:txBody>
      </p:sp>
      <p:sp>
        <p:nvSpPr>
          <p:cNvPr id="27" name="TextBox 26"/>
          <p:cNvSpPr txBox="1"/>
          <p:nvPr/>
        </p:nvSpPr>
        <p:spPr>
          <a:xfrm>
            <a:off x="8716517" y="3374136"/>
            <a:ext cx="228600" cy="493776"/>
          </a:xfrm>
          <a:prstGeom prst="rect">
            <a:avLst/>
          </a:prstGeom>
          <a:noFill/>
        </p:spPr>
        <p:txBody>
          <a:bodyPr wrap="square" lIns="22860" tIns="22860" rIns="22860" bIns="22860" anchor="t">
            <a:spAutoFit/>
          </a:bodyPr>
          <a:lstStyle/>
          <a:p>
            <a:pPr algn="l">
              <a:lnSpc>
                <a:spcPct val="108000"/>
              </a:lnSpc>
              <a:spcBef>
                <a:spcPts val="0"/>
              </a:spcBef>
              <a:spcAft>
                <a:spcPts val="800"/>
              </a:spcAft>
              <a:defRPr sz="2900" b="1">
                <a:solidFill>
                  <a:srgbClr val="F47700"/>
                </a:solidFill>
                <a:latin typeface="Arial" panose="020B0604020202020204"/>
              </a:defRPr>
            </a:pPr>
            <a:r>
              <a:t>›</a:t>
            </a:r>
          </a:p>
        </p:txBody>
      </p:sp>
      <p:sp>
        <p:nvSpPr>
          <p:cNvPr id="28" name="Rounded Rectangle 27"/>
          <p:cNvSpPr/>
          <p:nvPr/>
        </p:nvSpPr>
        <p:spPr>
          <a:xfrm>
            <a:off x="8967978" y="2212848"/>
            <a:ext cx="2462022" cy="2944368"/>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967978" y="2212848"/>
            <a:ext cx="2462022" cy="566928"/>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77706" y="2331720"/>
            <a:ext cx="2242565" cy="356616"/>
          </a:xfrm>
          <a:prstGeom prst="rect">
            <a:avLst/>
          </a:prstGeom>
          <a:noFill/>
        </p:spPr>
        <p:txBody>
          <a:bodyPr wrap="square" lIns="22860" tIns="22860" rIns="22860" bIns="22860" anchor="t">
            <a:spAutoFit/>
          </a:bodyPr>
          <a:lstStyle/>
          <a:p>
            <a:pPr algn="ctr">
              <a:lnSpc>
                <a:spcPct val="108000"/>
              </a:lnSpc>
              <a:spcBef>
                <a:spcPts val="0"/>
              </a:spcBef>
              <a:spcAft>
                <a:spcPts val="800"/>
              </a:spcAft>
              <a:defRPr sz="2200" b="1">
                <a:solidFill>
                  <a:srgbClr val="444444"/>
                </a:solidFill>
                <a:latin typeface="Arial" panose="020B0604020202020204"/>
              </a:defRPr>
            </a:pPr>
            <a:r>
              <a:t>04</a:t>
            </a:r>
          </a:p>
        </p:txBody>
      </p:sp>
      <p:sp>
        <p:nvSpPr>
          <p:cNvPr id="31" name="TextBox 30"/>
          <p:cNvSpPr txBox="1"/>
          <p:nvPr/>
        </p:nvSpPr>
        <p:spPr>
          <a:xfrm>
            <a:off x="9141714" y="3081528"/>
            <a:ext cx="2114550" cy="17647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000" b="0">
                <a:solidFill>
                  <a:srgbClr val="444444"/>
                </a:solidFill>
                <a:latin typeface="Arial" panose="020B0604020202020204"/>
              </a:defRPr>
            </a:pPr>
            <a:r>
              <a:t>28.146 nhóm; giao nhóm train/test bằng 0 ở ba outer folds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 · ĐẶT VẤN ĐỀ, MỤC TIÊU, DỮ LIỆU VÀ KIẾN TRÚC</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Hai luồng trong cùng hệ thống</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25312"/>
            <a:ext cx="10744200" cy="356616"/>
          </a:xfrm>
          <a:prstGeom prst="rect">
            <a:avLst/>
          </a:prstGeom>
          <a:noFill/>
        </p:spPr>
        <p:txBody>
          <a:bodyPr wrap="square" lIns="22860" tIns="22860" rIns="22860" bIns="22860" anchor="t">
            <a:spAutoFit/>
          </a:bodyPr>
          <a:lstStyle/>
          <a:p>
            <a:pPr algn="l">
              <a:lnSpc>
                <a:spcPct val="108000"/>
              </a:lnSpc>
              <a:spcBef>
                <a:spcPts val="0"/>
              </a:spcBef>
              <a:spcAft>
                <a:spcPts val="0"/>
              </a:spcAft>
              <a:defRPr sz="820" b="0">
                <a:solidFill>
                  <a:srgbClr val="69757A"/>
                </a:solidFill>
                <a:latin typeface="Arial" panose="020B0604020202020204"/>
              </a:defRPr>
            </a:pPr>
            <a:r>
              <a:t>Nguồn: mã nguồn DT124 và giao diện ứng dụng chạy cục bộ</a:t>
            </a: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09 / 30</a:t>
            </a:r>
          </a:p>
        </p:txBody>
      </p:sp>
      <p:sp>
        <p:nvSpPr>
          <p:cNvPr id="13" name="Rounded Rectangle 12"/>
          <p:cNvSpPr/>
          <p:nvPr/>
        </p:nvSpPr>
        <p:spPr>
          <a:xfrm>
            <a:off x="731520" y="2212848"/>
            <a:ext cx="2462022" cy="2944368"/>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2212848"/>
            <a:ext cx="2462022" cy="566928"/>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 y="2331720"/>
            <a:ext cx="2242565" cy="356616"/>
          </a:xfrm>
          <a:prstGeom prst="rect">
            <a:avLst/>
          </a:prstGeom>
          <a:noFill/>
        </p:spPr>
        <p:txBody>
          <a:bodyPr wrap="square" lIns="22860" tIns="22860" rIns="22860" bIns="22860" anchor="t">
            <a:spAutoFit/>
          </a:bodyPr>
          <a:lstStyle/>
          <a:p>
            <a:pPr algn="ctr">
              <a:lnSpc>
                <a:spcPct val="108000"/>
              </a:lnSpc>
              <a:spcBef>
                <a:spcPts val="0"/>
              </a:spcBef>
              <a:spcAft>
                <a:spcPts val="800"/>
              </a:spcAft>
              <a:defRPr sz="2200" b="1">
                <a:solidFill>
                  <a:srgbClr val="FFFFFF"/>
                </a:solidFill>
                <a:latin typeface="Arial" panose="020B0604020202020204"/>
              </a:defRPr>
            </a:pPr>
            <a:r>
              <a:t>01</a:t>
            </a:r>
          </a:p>
        </p:txBody>
      </p:sp>
      <p:sp>
        <p:nvSpPr>
          <p:cNvPr id="16" name="TextBox 15"/>
          <p:cNvSpPr txBox="1"/>
          <p:nvPr/>
        </p:nvSpPr>
        <p:spPr>
          <a:xfrm>
            <a:off x="905256" y="3081528"/>
            <a:ext cx="2114550" cy="17647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000" b="0">
                <a:solidFill>
                  <a:srgbClr val="444444"/>
                </a:solidFill>
                <a:latin typeface="Arial" panose="020B0604020202020204"/>
              </a:defRPr>
            </a:pPr>
            <a:r>
              <a:t>Nghiên cứu: CSV → chia nhóm → train/validation → artifacts</a:t>
            </a:r>
          </a:p>
        </p:txBody>
      </p:sp>
      <p:sp>
        <p:nvSpPr>
          <p:cNvPr id="17" name="TextBox 16"/>
          <p:cNvSpPr txBox="1"/>
          <p:nvPr/>
        </p:nvSpPr>
        <p:spPr>
          <a:xfrm>
            <a:off x="3225546" y="3374136"/>
            <a:ext cx="228600" cy="493776"/>
          </a:xfrm>
          <a:prstGeom prst="rect">
            <a:avLst/>
          </a:prstGeom>
          <a:noFill/>
        </p:spPr>
        <p:txBody>
          <a:bodyPr wrap="square" lIns="22860" tIns="22860" rIns="22860" bIns="22860" anchor="t">
            <a:spAutoFit/>
          </a:bodyPr>
          <a:lstStyle/>
          <a:p>
            <a:pPr algn="l">
              <a:lnSpc>
                <a:spcPct val="108000"/>
              </a:lnSpc>
              <a:spcBef>
                <a:spcPts val="0"/>
              </a:spcBef>
              <a:spcAft>
                <a:spcPts val="800"/>
              </a:spcAft>
              <a:defRPr sz="2900" b="1">
                <a:solidFill>
                  <a:srgbClr val="F47700"/>
                </a:solidFill>
                <a:latin typeface="Arial" panose="020B0604020202020204"/>
              </a:defRPr>
            </a:pPr>
            <a:r>
              <a:t>›</a:t>
            </a:r>
          </a:p>
        </p:txBody>
      </p:sp>
      <p:sp>
        <p:nvSpPr>
          <p:cNvPr id="18" name="Rounded Rectangle 17"/>
          <p:cNvSpPr/>
          <p:nvPr/>
        </p:nvSpPr>
        <p:spPr>
          <a:xfrm>
            <a:off x="3477006" y="2212848"/>
            <a:ext cx="2462022" cy="2944368"/>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477006" y="2212848"/>
            <a:ext cx="2462022" cy="566928"/>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86734" y="2331720"/>
            <a:ext cx="2242565" cy="356616"/>
          </a:xfrm>
          <a:prstGeom prst="rect">
            <a:avLst/>
          </a:prstGeom>
          <a:noFill/>
        </p:spPr>
        <p:txBody>
          <a:bodyPr wrap="square" lIns="22860" tIns="22860" rIns="22860" bIns="22860" anchor="t">
            <a:spAutoFit/>
          </a:bodyPr>
          <a:lstStyle/>
          <a:p>
            <a:pPr algn="ctr">
              <a:lnSpc>
                <a:spcPct val="108000"/>
              </a:lnSpc>
              <a:spcBef>
                <a:spcPts val="0"/>
              </a:spcBef>
              <a:spcAft>
                <a:spcPts val="800"/>
              </a:spcAft>
              <a:defRPr sz="2200" b="1">
                <a:solidFill>
                  <a:srgbClr val="444444"/>
                </a:solidFill>
                <a:latin typeface="Arial" panose="020B0604020202020204"/>
              </a:defRPr>
            </a:pPr>
            <a:r>
              <a:t>02</a:t>
            </a:r>
          </a:p>
        </p:txBody>
      </p:sp>
      <p:sp>
        <p:nvSpPr>
          <p:cNvPr id="21" name="TextBox 20"/>
          <p:cNvSpPr txBox="1"/>
          <p:nvPr/>
        </p:nvSpPr>
        <p:spPr>
          <a:xfrm>
            <a:off x="3650742" y="3081528"/>
            <a:ext cx="2114550" cy="17647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000" b="0">
                <a:solidFill>
                  <a:srgbClr val="444444"/>
                </a:solidFill>
                <a:latin typeface="Arial" panose="020B0604020202020204"/>
              </a:defRPr>
            </a:pPr>
            <a:r>
              <a:t>Sử dụng: EML → parser → chỉ báo tĩnh + dự đoán M0/M1/M2</a:t>
            </a:r>
          </a:p>
        </p:txBody>
      </p:sp>
      <p:sp>
        <p:nvSpPr>
          <p:cNvPr id="22" name="TextBox 21"/>
          <p:cNvSpPr txBox="1"/>
          <p:nvPr/>
        </p:nvSpPr>
        <p:spPr>
          <a:xfrm>
            <a:off x="5971032" y="3374136"/>
            <a:ext cx="228600" cy="493776"/>
          </a:xfrm>
          <a:prstGeom prst="rect">
            <a:avLst/>
          </a:prstGeom>
          <a:noFill/>
        </p:spPr>
        <p:txBody>
          <a:bodyPr wrap="square" lIns="22860" tIns="22860" rIns="22860" bIns="22860" anchor="t">
            <a:spAutoFit/>
          </a:bodyPr>
          <a:lstStyle/>
          <a:p>
            <a:pPr algn="l">
              <a:lnSpc>
                <a:spcPct val="108000"/>
              </a:lnSpc>
              <a:spcBef>
                <a:spcPts val="0"/>
              </a:spcBef>
              <a:spcAft>
                <a:spcPts val="800"/>
              </a:spcAft>
              <a:defRPr sz="2900" b="1">
                <a:solidFill>
                  <a:srgbClr val="F47700"/>
                </a:solidFill>
                <a:latin typeface="Arial" panose="020B0604020202020204"/>
              </a:defRPr>
            </a:pPr>
            <a:r>
              <a:t>›</a:t>
            </a:r>
          </a:p>
        </p:txBody>
      </p:sp>
      <p:sp>
        <p:nvSpPr>
          <p:cNvPr id="23" name="Rounded Rectangle 22"/>
          <p:cNvSpPr/>
          <p:nvPr/>
        </p:nvSpPr>
        <p:spPr>
          <a:xfrm>
            <a:off x="6222492" y="2212848"/>
            <a:ext cx="2462022" cy="2944368"/>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222492" y="2212848"/>
            <a:ext cx="2462022" cy="566928"/>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32220" y="2331720"/>
            <a:ext cx="2242565" cy="356616"/>
          </a:xfrm>
          <a:prstGeom prst="rect">
            <a:avLst/>
          </a:prstGeom>
          <a:noFill/>
        </p:spPr>
        <p:txBody>
          <a:bodyPr wrap="square" lIns="22860" tIns="22860" rIns="22860" bIns="22860" anchor="t">
            <a:spAutoFit/>
          </a:bodyPr>
          <a:lstStyle/>
          <a:p>
            <a:pPr algn="ctr">
              <a:lnSpc>
                <a:spcPct val="108000"/>
              </a:lnSpc>
              <a:spcBef>
                <a:spcPts val="0"/>
              </a:spcBef>
              <a:spcAft>
                <a:spcPts val="800"/>
              </a:spcAft>
              <a:defRPr sz="2200" b="1">
                <a:solidFill>
                  <a:srgbClr val="FFFFFF"/>
                </a:solidFill>
                <a:latin typeface="Arial" panose="020B0604020202020204"/>
              </a:defRPr>
            </a:pPr>
            <a:r>
              <a:t>03</a:t>
            </a:r>
          </a:p>
        </p:txBody>
      </p:sp>
      <p:sp>
        <p:nvSpPr>
          <p:cNvPr id="26" name="TextBox 25"/>
          <p:cNvSpPr txBox="1"/>
          <p:nvPr/>
        </p:nvSpPr>
        <p:spPr>
          <a:xfrm>
            <a:off x="6396228" y="3081528"/>
            <a:ext cx="2114550" cy="17647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000" b="0">
                <a:solidFill>
                  <a:srgbClr val="444444"/>
                </a:solidFill>
                <a:latin typeface="Arial" panose="020B0604020202020204"/>
              </a:defRPr>
            </a:pPr>
            <a:r>
              <a:t>Giao diện trình bày bằng chứng, giới hạn và nhãn dự đoán</a:t>
            </a:r>
          </a:p>
        </p:txBody>
      </p:sp>
      <p:sp>
        <p:nvSpPr>
          <p:cNvPr id="27" name="TextBox 26"/>
          <p:cNvSpPr txBox="1"/>
          <p:nvPr/>
        </p:nvSpPr>
        <p:spPr>
          <a:xfrm>
            <a:off x="8716517" y="3374136"/>
            <a:ext cx="228600" cy="493776"/>
          </a:xfrm>
          <a:prstGeom prst="rect">
            <a:avLst/>
          </a:prstGeom>
          <a:noFill/>
        </p:spPr>
        <p:txBody>
          <a:bodyPr wrap="square" lIns="22860" tIns="22860" rIns="22860" bIns="22860" anchor="t">
            <a:spAutoFit/>
          </a:bodyPr>
          <a:lstStyle/>
          <a:p>
            <a:pPr algn="l">
              <a:lnSpc>
                <a:spcPct val="108000"/>
              </a:lnSpc>
              <a:spcBef>
                <a:spcPts val="0"/>
              </a:spcBef>
              <a:spcAft>
                <a:spcPts val="800"/>
              </a:spcAft>
              <a:defRPr sz="2900" b="1">
                <a:solidFill>
                  <a:srgbClr val="F47700"/>
                </a:solidFill>
                <a:latin typeface="Arial" panose="020B0604020202020204"/>
              </a:defRPr>
            </a:pPr>
            <a:r>
              <a:t>›</a:t>
            </a:r>
          </a:p>
        </p:txBody>
      </p:sp>
      <p:sp>
        <p:nvSpPr>
          <p:cNvPr id="28" name="Rounded Rectangle 27"/>
          <p:cNvSpPr/>
          <p:nvPr/>
        </p:nvSpPr>
        <p:spPr>
          <a:xfrm>
            <a:off x="8967978" y="2212848"/>
            <a:ext cx="2462022" cy="2944368"/>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967978" y="2212848"/>
            <a:ext cx="2462022" cy="566928"/>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77706" y="2331720"/>
            <a:ext cx="2242565" cy="356616"/>
          </a:xfrm>
          <a:prstGeom prst="rect">
            <a:avLst/>
          </a:prstGeom>
          <a:noFill/>
        </p:spPr>
        <p:txBody>
          <a:bodyPr wrap="square" lIns="22860" tIns="22860" rIns="22860" bIns="22860" anchor="t">
            <a:spAutoFit/>
          </a:bodyPr>
          <a:lstStyle/>
          <a:p>
            <a:pPr algn="ctr">
              <a:lnSpc>
                <a:spcPct val="108000"/>
              </a:lnSpc>
              <a:spcBef>
                <a:spcPts val="0"/>
              </a:spcBef>
              <a:spcAft>
                <a:spcPts val="800"/>
              </a:spcAft>
              <a:defRPr sz="2200" b="1">
                <a:solidFill>
                  <a:srgbClr val="444444"/>
                </a:solidFill>
                <a:latin typeface="Arial" panose="020B0604020202020204"/>
              </a:defRPr>
            </a:pPr>
            <a:r>
              <a:t>04</a:t>
            </a:r>
          </a:p>
        </p:txBody>
      </p:sp>
      <p:sp>
        <p:nvSpPr>
          <p:cNvPr id="31" name="TextBox 30"/>
          <p:cNvSpPr txBox="1"/>
          <p:nvPr/>
        </p:nvSpPr>
        <p:spPr>
          <a:xfrm>
            <a:off x="9141714" y="3081528"/>
            <a:ext cx="2114550" cy="17647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000" b="0">
                <a:solidFill>
                  <a:srgbClr val="444444"/>
                </a:solidFill>
                <a:latin typeface="Arial" panose="020B0604020202020204"/>
              </a:defRPr>
            </a:pPr>
            <a:r>
              <a:t>Xuất JSON đã giảm thông tin cá nhân để tra cứu kết quả</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 · ĐẶT VẤN ĐỀ, MỤC TIÊU, DỮ LIỆU VÀ KIẾN TRÚC</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Kiến trúc tổng thể của DT124</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25312"/>
            <a:ext cx="10744200" cy="356616"/>
          </a:xfrm>
          <a:prstGeom prst="rect">
            <a:avLst/>
          </a:prstGeom>
          <a:noFill/>
        </p:spPr>
        <p:txBody>
          <a:bodyPr wrap="square" lIns="22860" tIns="22860" rIns="22860" bIns="22860" anchor="t">
            <a:spAutoFit/>
          </a:bodyPr>
          <a:lstStyle/>
          <a:p>
            <a:pPr algn="l">
              <a:lnSpc>
                <a:spcPct val="108000"/>
              </a:lnSpc>
              <a:spcBef>
                <a:spcPts val="0"/>
              </a:spcBef>
              <a:spcAft>
                <a:spcPts val="0"/>
              </a:spcAft>
              <a:defRPr sz="820" b="0">
                <a:solidFill>
                  <a:srgbClr val="69757A"/>
                </a:solidFill>
                <a:latin typeface="Arial" panose="020B0604020202020204"/>
              </a:defRPr>
            </a:pPr>
            <a:r>
              <a:t>Nguồn: mã nguồn DT124 và giao diện ứng dụng chạy cục bộ</a:t>
            </a: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10 / 30</a:t>
            </a:r>
          </a:p>
        </p:txBody>
      </p:sp>
      <p:cxnSp>
        <p:nvCxnSpPr>
          <p:cNvPr id="13" name="Connector 12"/>
          <p:cNvCxnSpPr/>
          <p:nvPr/>
        </p:nvCxnSpPr>
        <p:spPr>
          <a:xfrm>
            <a:off x="2313432" y="3465576"/>
            <a:ext cx="493776" cy="0"/>
          </a:xfrm>
          <a:prstGeom prst="line">
            <a:avLst/>
          </a:prstGeom>
          <a:ln w="27940">
            <a:solidFill>
              <a:srgbClr val="F47700"/>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709160" y="2715768"/>
            <a:ext cx="694944" cy="749808"/>
          </a:xfrm>
          <a:prstGeom prst="line">
            <a:avLst/>
          </a:prstGeom>
          <a:ln w="27940">
            <a:solidFill>
              <a:srgbClr val="F47700"/>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709160" y="3465576"/>
            <a:ext cx="694944" cy="758952"/>
          </a:xfrm>
          <a:prstGeom prst="line">
            <a:avLst/>
          </a:prstGeom>
          <a:ln w="27940">
            <a:solidFill>
              <a:srgbClr val="F47700"/>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18704" y="2715768"/>
            <a:ext cx="621792" cy="749808"/>
          </a:xfrm>
          <a:prstGeom prst="line">
            <a:avLst/>
          </a:prstGeom>
          <a:ln w="27940">
            <a:solidFill>
              <a:srgbClr val="F47700"/>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7918704" y="3465576"/>
            <a:ext cx="621792" cy="758952"/>
          </a:xfrm>
          <a:prstGeom prst="line">
            <a:avLst/>
          </a:prstGeom>
          <a:ln w="27940">
            <a:solidFill>
              <a:srgbClr val="F47700"/>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22376" y="2916936"/>
            <a:ext cx="1591056" cy="1097280"/>
          </a:xfrm>
          <a:prstGeom prst="roundRect">
            <a:avLst>
              <a:gd name="adj" fmla="val 12000"/>
            </a:avLst>
          </a:prstGeom>
          <a:solidFill>
            <a:srgbClr val="F2F8F8"/>
          </a:solidFill>
          <a:ln w="8890">
            <a:solidFill>
              <a:srgbClr val="51BC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104" y="3081528"/>
            <a:ext cx="1371600" cy="347472"/>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850" b="1">
                <a:solidFill>
                  <a:srgbClr val="137F85"/>
                </a:solidFill>
                <a:latin typeface="Arial" panose="020B0604020202020204"/>
              </a:defRPr>
            </a:pPr>
            <a:r>
              <a:t>Tệp EML</a:t>
            </a:r>
          </a:p>
        </p:txBody>
      </p:sp>
      <p:sp>
        <p:nvSpPr>
          <p:cNvPr id="20" name="TextBox 19"/>
          <p:cNvSpPr txBox="1"/>
          <p:nvPr/>
        </p:nvSpPr>
        <p:spPr>
          <a:xfrm>
            <a:off x="813816" y="3557015"/>
            <a:ext cx="1408176" cy="265176"/>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200" b="0">
                <a:solidFill>
                  <a:srgbClr val="444444"/>
                </a:solidFill>
                <a:latin typeface="Arial" panose="020B0604020202020204"/>
              </a:defRPr>
            </a:pPr>
            <a:r>
              <a:t>Mẫu / tải cục bộ</a:t>
            </a:r>
          </a:p>
        </p:txBody>
      </p:sp>
      <p:sp>
        <p:nvSpPr>
          <p:cNvPr id="21" name="Rounded Rectangle 20"/>
          <p:cNvSpPr/>
          <p:nvPr/>
        </p:nvSpPr>
        <p:spPr>
          <a:xfrm>
            <a:off x="2807208" y="2916936"/>
            <a:ext cx="1901952" cy="1097280"/>
          </a:xfrm>
          <a:prstGeom prst="roundRect">
            <a:avLst>
              <a:gd name="adj" fmla="val 12000"/>
            </a:avLst>
          </a:prstGeom>
          <a:solidFill>
            <a:srgbClr val="F2F8F8"/>
          </a:solidFill>
          <a:ln w="8890">
            <a:solidFill>
              <a:srgbClr val="51BC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16936" y="3081528"/>
            <a:ext cx="1682496" cy="347472"/>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850" b="1">
                <a:solidFill>
                  <a:srgbClr val="137F85"/>
                </a:solidFill>
                <a:latin typeface="Arial" panose="020B0604020202020204"/>
              </a:defRPr>
            </a:pPr>
            <a:r>
              <a:t>Parser EML</a:t>
            </a:r>
          </a:p>
        </p:txBody>
      </p:sp>
      <p:sp>
        <p:nvSpPr>
          <p:cNvPr id="23" name="TextBox 22"/>
          <p:cNvSpPr txBox="1"/>
          <p:nvPr/>
        </p:nvSpPr>
        <p:spPr>
          <a:xfrm>
            <a:off x="2898648" y="3557015"/>
            <a:ext cx="1719072" cy="265176"/>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200" b="0">
                <a:solidFill>
                  <a:srgbClr val="444444"/>
                </a:solidFill>
                <a:latin typeface="Arial" panose="020B0604020202020204"/>
              </a:defRPr>
            </a:pPr>
            <a:r>
              <a:t>Header · MIME · body</a:t>
            </a:r>
          </a:p>
        </p:txBody>
      </p:sp>
      <p:sp>
        <p:nvSpPr>
          <p:cNvPr id="24" name="Rounded Rectangle 23"/>
          <p:cNvSpPr/>
          <p:nvPr/>
        </p:nvSpPr>
        <p:spPr>
          <a:xfrm>
            <a:off x="5404104" y="2167128"/>
            <a:ext cx="2514600" cy="1097280"/>
          </a:xfrm>
          <a:prstGeom prst="roundRect">
            <a:avLst>
              <a:gd name="adj" fmla="val 12000"/>
            </a:avLst>
          </a:prstGeom>
          <a:solidFill>
            <a:srgbClr val="F2F8F8"/>
          </a:solidFill>
          <a:ln w="8890">
            <a:solidFill>
              <a:srgbClr val="51BC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13832" y="2331720"/>
            <a:ext cx="2295144" cy="347472"/>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850" b="1">
                <a:solidFill>
                  <a:srgbClr val="137F85"/>
                </a:solidFill>
                <a:latin typeface="Arial" panose="020B0604020202020204"/>
              </a:defRPr>
            </a:pPr>
            <a:r>
              <a:t>Chỉ báo tĩnh</a:t>
            </a:r>
          </a:p>
        </p:txBody>
      </p:sp>
      <p:sp>
        <p:nvSpPr>
          <p:cNvPr id="26" name="TextBox 25"/>
          <p:cNvSpPr txBox="1"/>
          <p:nvPr/>
        </p:nvSpPr>
        <p:spPr>
          <a:xfrm>
            <a:off x="5495544" y="2807208"/>
            <a:ext cx="2331720" cy="265176"/>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200" b="0">
                <a:solidFill>
                  <a:srgbClr val="444444"/>
                </a:solidFill>
                <a:latin typeface="Arial" panose="020B0604020202020204"/>
              </a:defRPr>
            </a:pPr>
            <a:r>
              <a:t>URL · auth · tệp kèm</a:t>
            </a:r>
          </a:p>
        </p:txBody>
      </p:sp>
      <p:sp>
        <p:nvSpPr>
          <p:cNvPr id="27" name="Rounded Rectangle 26"/>
          <p:cNvSpPr/>
          <p:nvPr/>
        </p:nvSpPr>
        <p:spPr>
          <a:xfrm>
            <a:off x="5404104" y="3675887"/>
            <a:ext cx="2514600" cy="1097280"/>
          </a:xfrm>
          <a:prstGeom prst="roundRect">
            <a:avLst>
              <a:gd name="adj" fmla="val 12000"/>
            </a:avLst>
          </a:prstGeom>
          <a:solidFill>
            <a:srgbClr val="F2F8F8"/>
          </a:solidFill>
          <a:ln w="8890">
            <a:solidFill>
              <a:srgbClr val="51BC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513832" y="3840479"/>
            <a:ext cx="2295144" cy="347472"/>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850" b="1">
                <a:solidFill>
                  <a:srgbClr val="137F85"/>
                </a:solidFill>
                <a:latin typeface="Arial" panose="020B0604020202020204"/>
              </a:defRPr>
            </a:pPr>
            <a:r>
              <a:t>Văn bản riêng</a:t>
            </a:r>
          </a:p>
        </p:txBody>
      </p:sp>
      <p:sp>
        <p:nvSpPr>
          <p:cNvPr id="29" name="TextBox 28"/>
          <p:cNvSpPr txBox="1"/>
          <p:nvPr/>
        </p:nvSpPr>
        <p:spPr>
          <a:xfrm>
            <a:off x="5495544" y="4315968"/>
            <a:ext cx="2331720" cy="265176"/>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200" b="0">
                <a:solidFill>
                  <a:srgbClr val="444444"/>
                </a:solidFill>
                <a:latin typeface="Arial" panose="020B0604020202020204"/>
              </a:defRPr>
            </a:pPr>
            <a:r>
              <a:t>M0 · M1 · M2</a:t>
            </a:r>
          </a:p>
        </p:txBody>
      </p:sp>
      <p:sp>
        <p:nvSpPr>
          <p:cNvPr id="30" name="Rounded Rectangle 29"/>
          <p:cNvSpPr/>
          <p:nvPr/>
        </p:nvSpPr>
        <p:spPr>
          <a:xfrm>
            <a:off x="8540496" y="2916936"/>
            <a:ext cx="2880360" cy="1097280"/>
          </a:xfrm>
          <a:prstGeom prst="roundRect">
            <a:avLst>
              <a:gd name="adj" fmla="val 12000"/>
            </a:avLst>
          </a:prstGeom>
          <a:solidFill>
            <a:srgbClr val="F2F8F8"/>
          </a:solidFill>
          <a:ln w="8890">
            <a:solidFill>
              <a:srgbClr val="51BC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50224" y="3081528"/>
            <a:ext cx="2660904" cy="347472"/>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850" b="1">
                <a:solidFill>
                  <a:srgbClr val="137F85"/>
                </a:solidFill>
                <a:latin typeface="Arial" panose="020B0604020202020204"/>
              </a:defRPr>
            </a:pPr>
            <a:r>
              <a:t>Giao diện &amp; JSON</a:t>
            </a:r>
          </a:p>
        </p:txBody>
      </p:sp>
      <p:sp>
        <p:nvSpPr>
          <p:cNvPr id="32" name="TextBox 31"/>
          <p:cNvSpPr txBox="1"/>
          <p:nvPr/>
        </p:nvSpPr>
        <p:spPr>
          <a:xfrm>
            <a:off x="8631936" y="3557015"/>
            <a:ext cx="2697479" cy="265176"/>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200" b="0">
                <a:solidFill>
                  <a:srgbClr val="444444"/>
                </a:solidFill>
                <a:latin typeface="Arial" panose="020B0604020202020204"/>
              </a:defRPr>
            </a:pPr>
            <a:r>
              <a:t>Kết quả / metadata</a:t>
            </a:r>
          </a:p>
        </p:txBody>
      </p:sp>
      <p:sp>
        <p:nvSpPr>
          <p:cNvPr id="33" name="TextBox 32"/>
          <p:cNvSpPr txBox="1"/>
          <p:nvPr/>
        </p:nvSpPr>
        <p:spPr>
          <a:xfrm>
            <a:off x="758952" y="5349240"/>
            <a:ext cx="10607040" cy="365760"/>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500" b="0">
                <a:solidFill>
                  <a:srgbClr val="137F85"/>
                </a:solidFill>
                <a:latin typeface="Arial" panose="020B0604020202020204"/>
              </a:defRPr>
            </a:pPr>
            <a:r>
              <a:t>Không mở URL, không chạy tệp đính kèm · Nội dung ML không đưa vào JSON xuất</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 · CÔNG NGHỆ, GIAO DIỆN VÀ DEMO EML</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Công nghệ triển khai</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25312"/>
            <a:ext cx="10744200" cy="356616"/>
          </a:xfrm>
          <a:prstGeom prst="rect">
            <a:avLst/>
          </a:prstGeom>
          <a:noFill/>
        </p:spPr>
        <p:txBody>
          <a:bodyPr wrap="square" lIns="22860" tIns="22860" rIns="22860" bIns="22860" anchor="t">
            <a:spAutoFit/>
          </a:bodyPr>
          <a:lstStyle/>
          <a:p>
            <a:pPr algn="l">
              <a:lnSpc>
                <a:spcPct val="108000"/>
              </a:lnSpc>
              <a:spcBef>
                <a:spcPts val="0"/>
              </a:spcBef>
              <a:spcAft>
                <a:spcPts val="0"/>
              </a:spcAft>
              <a:defRPr sz="820" b="0">
                <a:solidFill>
                  <a:srgbClr val="69757A"/>
                </a:solidFill>
                <a:latin typeface="Arial" panose="020B0604020202020204"/>
              </a:defRPr>
            </a:pPr>
            <a:r>
              <a:t>Nguồn: mã nguồn DT124 và giao diện ứng dụng chạy cục bộ</a:t>
            </a: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11 / 30</a:t>
            </a:r>
          </a:p>
        </p:txBody>
      </p:sp>
      <p:graphicFrame>
        <p:nvGraphicFramePr>
          <p:cNvPr id="13" name="Table 12"/>
          <p:cNvGraphicFramePr>
            <a:graphicFrameLocks noGrp="1"/>
          </p:cNvGraphicFramePr>
          <p:nvPr/>
        </p:nvGraphicFramePr>
        <p:xfrm>
          <a:off x="722376" y="1819656"/>
          <a:ext cx="10725912" cy="3584448"/>
        </p:xfrm>
        <a:graphic>
          <a:graphicData uri="http://schemas.openxmlformats.org/drawingml/2006/table">
            <a:tbl>
              <a:tblPr firstRow="1" bandRow="1">
                <a:tableStyleId>{5C22544A-7EE6-4342-B048-85BDC9FD1C3A}</a:tableStyleId>
              </a:tblPr>
              <a:tblGrid>
                <a:gridCol w="3337560"/>
                <a:gridCol w="7388352"/>
              </a:tblGrid>
              <a:tr h="597408">
                <a:tc>
                  <a:txBody>
                    <a:bodyPr/>
                    <a:lstStyle/>
                    <a:p>
                      <a:pPr>
                        <a:lnSpc>
                          <a:spcPct val="100000"/>
                        </a:lnSpc>
                        <a:spcAft>
                          <a:spcPts val="0"/>
                        </a:spcAft>
                        <a:defRPr sz="1700" b="1">
                          <a:solidFill>
                            <a:srgbClr val="FFFFFF"/>
                          </a:solidFill>
                          <a:latin typeface="Arial" panose="020B0604020202020204"/>
                        </a:defRPr>
                      </a:pPr>
                      <a:r>
                        <a:t>Lớp triển khai</a:t>
                      </a:r>
                    </a:p>
                  </a:txBody>
                  <a:tcPr marL="118872" marR="118872" marT="64008" marB="64008" anchor="ctr">
                    <a:solidFill>
                      <a:srgbClr val="F47700"/>
                    </a:solidFill>
                  </a:tcPr>
                </a:tc>
                <a:tc>
                  <a:txBody>
                    <a:bodyPr/>
                    <a:lstStyle/>
                    <a:p>
                      <a:pPr>
                        <a:lnSpc>
                          <a:spcPct val="100000"/>
                        </a:lnSpc>
                        <a:spcAft>
                          <a:spcPts val="0"/>
                        </a:spcAft>
                        <a:defRPr sz="1700" b="1">
                          <a:solidFill>
                            <a:srgbClr val="FFFFFF"/>
                          </a:solidFill>
                          <a:latin typeface="Arial" panose="020B0604020202020204"/>
                        </a:defRPr>
                      </a:pPr>
                      <a:r>
                        <a:t>Công nghệ / vai trò</a:t>
                      </a:r>
                    </a:p>
                  </a:txBody>
                  <a:tcPr marL="118872" marR="118872" marT="64008" marB="64008" anchor="ctr">
                    <a:solidFill>
                      <a:srgbClr val="F47700"/>
                    </a:solidFill>
                  </a:tcPr>
                </a:tc>
              </a:tr>
              <a:tr h="597408">
                <a:tc>
                  <a:txBody>
                    <a:bodyPr/>
                    <a:lstStyle/>
                    <a:p>
                      <a:pPr>
                        <a:lnSpc>
                          <a:spcPct val="100000"/>
                        </a:lnSpc>
                        <a:spcAft>
                          <a:spcPts val="0"/>
                        </a:spcAft>
                        <a:defRPr sz="1700" b="0">
                          <a:solidFill>
                            <a:srgbClr val="444444"/>
                          </a:solidFill>
                          <a:latin typeface="Arial" panose="020B0604020202020204"/>
                        </a:defRPr>
                      </a:pPr>
                      <a:r>
                        <a:t>Đọc và phân tích EML</a:t>
                      </a:r>
                    </a:p>
                  </a:txBody>
                  <a:tcPr marL="118872" marR="118872" marT="64008" marB="64008" anchor="ctr">
                    <a:solidFill>
                      <a:srgbClr val="FFFFFF"/>
                    </a:solidFill>
                  </a:tcPr>
                </a:tc>
                <a:tc>
                  <a:txBody>
                    <a:bodyPr/>
                    <a:lstStyle/>
                    <a:p>
                      <a:pPr>
                        <a:lnSpc>
                          <a:spcPct val="100000"/>
                        </a:lnSpc>
                        <a:spcAft>
                          <a:spcPts val="0"/>
                        </a:spcAft>
                        <a:defRPr sz="1700" b="0">
                          <a:solidFill>
                            <a:srgbClr val="444444"/>
                          </a:solidFill>
                          <a:latin typeface="Arial" panose="020B0604020202020204"/>
                        </a:defRPr>
                      </a:pPr>
                      <a:r>
                        <a:t>Python email, HTMLParser, hashlib</a:t>
                      </a:r>
                    </a:p>
                  </a:txBody>
                  <a:tcPr marL="118872" marR="118872" marT="64008" marB="64008" anchor="ctr">
                    <a:solidFill>
                      <a:srgbClr val="FFFFFF"/>
                    </a:solidFill>
                  </a:tcPr>
                </a:tc>
              </a:tr>
              <a:tr h="597408">
                <a:tc>
                  <a:txBody>
                    <a:bodyPr/>
                    <a:lstStyle/>
                    <a:p>
                      <a:pPr>
                        <a:lnSpc>
                          <a:spcPct val="100000"/>
                        </a:lnSpc>
                        <a:spcAft>
                          <a:spcPts val="0"/>
                        </a:spcAft>
                        <a:defRPr sz="1700" b="0">
                          <a:solidFill>
                            <a:srgbClr val="444444"/>
                          </a:solidFill>
                          <a:latin typeface="Arial" panose="020B0604020202020204"/>
                        </a:defRPr>
                      </a:pPr>
                      <a:r>
                        <a:t>Đặc trưng và mô hình</a:t>
                      </a:r>
                    </a:p>
                  </a:txBody>
                  <a:tcPr marL="118872" marR="118872" marT="64008" marB="64008" anchor="ctr">
                    <a:solidFill>
                      <a:srgbClr val="F2F8F8"/>
                    </a:solidFill>
                  </a:tcPr>
                </a:tc>
                <a:tc>
                  <a:txBody>
                    <a:bodyPr/>
                    <a:lstStyle/>
                    <a:p>
                      <a:pPr>
                        <a:lnSpc>
                          <a:spcPct val="100000"/>
                        </a:lnSpc>
                        <a:spcAft>
                          <a:spcPts val="0"/>
                        </a:spcAft>
                        <a:defRPr sz="1700" b="0">
                          <a:solidFill>
                            <a:srgbClr val="444444"/>
                          </a:solidFill>
                          <a:latin typeface="Arial" panose="020B0604020202020204"/>
                        </a:defRPr>
                      </a:pPr>
                      <a:r>
                        <a:t>scikit-learn, NumPy, SciPy</a:t>
                      </a:r>
                    </a:p>
                  </a:txBody>
                  <a:tcPr marL="118872" marR="118872" marT="64008" marB="64008" anchor="ctr">
                    <a:solidFill>
                      <a:srgbClr val="F2F8F8"/>
                    </a:solidFill>
                  </a:tcPr>
                </a:tc>
              </a:tr>
              <a:tr h="597408">
                <a:tc>
                  <a:txBody>
                    <a:bodyPr/>
                    <a:lstStyle/>
                    <a:p>
                      <a:pPr>
                        <a:lnSpc>
                          <a:spcPct val="100000"/>
                        </a:lnSpc>
                        <a:spcAft>
                          <a:spcPts val="0"/>
                        </a:spcAft>
                        <a:defRPr sz="1700" b="0">
                          <a:solidFill>
                            <a:srgbClr val="444444"/>
                          </a:solidFill>
                          <a:latin typeface="Arial" panose="020B0604020202020204"/>
                        </a:defRPr>
                      </a:pPr>
                      <a:r>
                        <a:t>Giao diện</a:t>
                      </a:r>
                    </a:p>
                  </a:txBody>
                  <a:tcPr marL="118872" marR="118872" marT="64008" marB="64008" anchor="ctr">
                    <a:solidFill>
                      <a:srgbClr val="FFFFFF"/>
                    </a:solidFill>
                  </a:tcPr>
                </a:tc>
                <a:tc>
                  <a:txBody>
                    <a:bodyPr/>
                    <a:lstStyle/>
                    <a:p>
                      <a:pPr>
                        <a:lnSpc>
                          <a:spcPct val="100000"/>
                        </a:lnSpc>
                        <a:spcAft>
                          <a:spcPts val="0"/>
                        </a:spcAft>
                        <a:defRPr sz="1700" b="0">
                          <a:solidFill>
                            <a:srgbClr val="444444"/>
                          </a:solidFill>
                          <a:latin typeface="Arial" panose="020B0604020202020204"/>
                        </a:defRPr>
                      </a:pPr>
                      <a:r>
                        <a:t>Streamlit chạy cục bộ</a:t>
                      </a:r>
                    </a:p>
                  </a:txBody>
                  <a:tcPr marL="118872" marR="118872" marT="64008" marB="64008" anchor="ctr">
                    <a:solidFill>
                      <a:srgbClr val="FFFFFF"/>
                    </a:solidFill>
                  </a:tcPr>
                </a:tc>
              </a:tr>
              <a:tr h="597408">
                <a:tc>
                  <a:txBody>
                    <a:bodyPr/>
                    <a:lstStyle/>
                    <a:p>
                      <a:pPr>
                        <a:lnSpc>
                          <a:spcPct val="100000"/>
                        </a:lnSpc>
                        <a:spcAft>
                          <a:spcPts val="0"/>
                        </a:spcAft>
                        <a:defRPr sz="1700" b="0">
                          <a:solidFill>
                            <a:srgbClr val="444444"/>
                          </a:solidFill>
                          <a:latin typeface="Arial" panose="020B0604020202020204"/>
                        </a:defRPr>
                      </a:pPr>
                      <a:r>
                        <a:t>Lưu mô hình / kết quả</a:t>
                      </a:r>
                    </a:p>
                  </a:txBody>
                  <a:tcPr marL="118872" marR="118872" marT="64008" marB="64008" anchor="ctr">
                    <a:solidFill>
                      <a:srgbClr val="F2F8F8"/>
                    </a:solidFill>
                  </a:tcPr>
                </a:tc>
                <a:tc>
                  <a:txBody>
                    <a:bodyPr/>
                    <a:lstStyle/>
                    <a:p>
                      <a:pPr>
                        <a:lnSpc>
                          <a:spcPct val="100000"/>
                        </a:lnSpc>
                        <a:spcAft>
                          <a:spcPts val="0"/>
                        </a:spcAft>
                        <a:defRPr sz="1700" b="0">
                          <a:solidFill>
                            <a:srgbClr val="444444"/>
                          </a:solidFill>
                          <a:latin typeface="Arial" panose="020B0604020202020204"/>
                        </a:defRPr>
                      </a:pPr>
                      <a:r>
                        <a:t>joblib / JSON, CSV</a:t>
                      </a:r>
                    </a:p>
                  </a:txBody>
                  <a:tcPr marL="118872" marR="118872" marT="64008" marB="64008" anchor="ctr">
                    <a:solidFill>
                      <a:srgbClr val="F2F8F8"/>
                    </a:solidFill>
                  </a:tcPr>
                </a:tc>
              </a:tr>
              <a:tr h="597408">
                <a:tc>
                  <a:txBody>
                    <a:bodyPr/>
                    <a:lstStyle/>
                    <a:p>
                      <a:pPr>
                        <a:lnSpc>
                          <a:spcPct val="100000"/>
                        </a:lnSpc>
                        <a:spcAft>
                          <a:spcPts val="0"/>
                        </a:spcAft>
                        <a:defRPr sz="1700" b="0">
                          <a:solidFill>
                            <a:srgbClr val="444444"/>
                          </a:solidFill>
                          <a:latin typeface="Arial" panose="020B0604020202020204"/>
                        </a:defRPr>
                      </a:pPr>
                      <a:r>
                        <a:t>Kiểm tra / trình chiếu</a:t>
                      </a:r>
                    </a:p>
                  </a:txBody>
                  <a:tcPr marL="118872" marR="118872" marT="64008" marB="64008" anchor="ctr">
                    <a:solidFill>
                      <a:srgbClr val="FFFFFF"/>
                    </a:solidFill>
                  </a:tcPr>
                </a:tc>
                <a:tc>
                  <a:txBody>
                    <a:bodyPr/>
                    <a:lstStyle/>
                    <a:p>
                      <a:pPr>
                        <a:lnSpc>
                          <a:spcPct val="100000"/>
                        </a:lnSpc>
                        <a:spcAft>
                          <a:spcPts val="0"/>
                        </a:spcAft>
                        <a:defRPr sz="1700" b="0">
                          <a:solidFill>
                            <a:srgbClr val="444444"/>
                          </a:solidFill>
                          <a:latin typeface="Arial" panose="020B0604020202020204"/>
                        </a:defRPr>
                      </a:pPr>
                      <a:r>
                        <a:t>pytest / python-pptx, PowerPoint</a:t>
                      </a:r>
                    </a:p>
                  </a:txBody>
                  <a:tcPr marL="118872" marR="118872" marT="64008" marB="64008" anchor="ctr">
                    <a:solidFill>
                      <a:srgbClr val="FFFFFF"/>
                    </a:solidFill>
                  </a:tcPr>
                </a:tc>
              </a:tr>
            </a:tbl>
          </a:graphicData>
        </a:graphic>
      </p:graphicFrame>
      <p:sp>
        <p:nvSpPr>
          <p:cNvPr id="14" name="TextBox 13"/>
          <p:cNvSpPr txBox="1"/>
          <p:nvPr/>
        </p:nvSpPr>
        <p:spPr>
          <a:xfrm>
            <a:off x="749808" y="5641848"/>
            <a:ext cx="10607040" cy="265176"/>
          </a:xfrm>
          <a:prstGeom prst="rect">
            <a:avLst/>
          </a:prstGeom>
          <a:noFill/>
        </p:spPr>
        <p:txBody>
          <a:bodyPr wrap="square" lIns="22860" tIns="22860" rIns="22860" bIns="22860" anchor="t">
            <a:spAutoFit/>
          </a:bodyPr>
          <a:lstStyle/>
          <a:p>
            <a:pPr algn="l">
              <a:lnSpc>
                <a:spcPct val="108000"/>
              </a:lnSpc>
              <a:spcBef>
                <a:spcPts val="0"/>
              </a:spcBef>
              <a:spcAft>
                <a:spcPts val="0"/>
              </a:spcAft>
              <a:defRPr sz="1050" b="0">
                <a:solidFill>
                  <a:srgbClr val="69757A"/>
                </a:solidFill>
                <a:latin typeface="Arial" panose="020B0604020202020204"/>
              </a:defRPr>
            </a:pPr>
            <a:r>
              <a:t>Ứng dụng chạy trên máy cục bộ, sử dụng mô hình đã huấn luyện và artifacts có sẵn.</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 · CÔNG NGHỆ, GIAO DIỆN VÀ DEMO EML</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Các mô-đun phân tích EML</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25312"/>
            <a:ext cx="10744200" cy="356616"/>
          </a:xfrm>
          <a:prstGeom prst="rect">
            <a:avLst/>
          </a:prstGeom>
          <a:noFill/>
        </p:spPr>
        <p:txBody>
          <a:bodyPr wrap="square" lIns="22860" tIns="22860" rIns="22860" bIns="22860" anchor="t">
            <a:spAutoFit/>
          </a:bodyPr>
          <a:lstStyle/>
          <a:p>
            <a:pPr algn="l">
              <a:lnSpc>
                <a:spcPct val="108000"/>
              </a:lnSpc>
              <a:spcBef>
                <a:spcPts val="0"/>
              </a:spcBef>
              <a:spcAft>
                <a:spcPts val="0"/>
              </a:spcAft>
              <a:defRPr sz="820" b="0">
                <a:solidFill>
                  <a:srgbClr val="69757A"/>
                </a:solidFill>
                <a:latin typeface="Arial" panose="020B0604020202020204"/>
              </a:defRPr>
            </a:pPr>
            <a:r>
              <a:t>Nguồn: mã nguồn DT124 và giao diện ứng dụng chạy cục bộ</a:t>
            </a: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12 / 30</a:t>
            </a:r>
          </a:p>
        </p:txBody>
      </p:sp>
      <p:sp>
        <p:nvSpPr>
          <p:cNvPr id="13" name="Rounded Rectangle 12"/>
          <p:cNvSpPr/>
          <p:nvPr/>
        </p:nvSpPr>
        <p:spPr>
          <a:xfrm>
            <a:off x="713232" y="185623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77824" y="2066543"/>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01</a:t>
            </a:r>
          </a:p>
        </p:txBody>
      </p:sp>
      <p:sp>
        <p:nvSpPr>
          <p:cNvPr id="16" name="TextBox 15"/>
          <p:cNvSpPr txBox="1"/>
          <p:nvPr/>
        </p:nvSpPr>
        <p:spPr>
          <a:xfrm>
            <a:off x="1554480" y="2066543"/>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Header: From, Reply-To, Subject và khai báo Authentication-Results</a:t>
            </a:r>
          </a:p>
        </p:txBody>
      </p:sp>
      <p:sp>
        <p:nvSpPr>
          <p:cNvPr id="17" name="Rounded Rectangle 16"/>
          <p:cNvSpPr/>
          <p:nvPr/>
        </p:nvSpPr>
        <p:spPr>
          <a:xfrm>
            <a:off x="6153912" y="185623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18504" y="2066543"/>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93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02</a:t>
            </a:r>
          </a:p>
        </p:txBody>
      </p:sp>
      <p:sp>
        <p:nvSpPr>
          <p:cNvPr id="20" name="TextBox 19"/>
          <p:cNvSpPr txBox="1"/>
          <p:nvPr/>
        </p:nvSpPr>
        <p:spPr>
          <a:xfrm>
            <a:off x="6995160" y="2066543"/>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MIME: loại nội dung, lỗi cấu trúc và metadata tệp đính kèm</a:t>
            </a:r>
          </a:p>
        </p:txBody>
      </p:sp>
      <p:sp>
        <p:nvSpPr>
          <p:cNvPr id="21" name="Rounded Rectangle 20"/>
          <p:cNvSpPr/>
          <p:nvPr/>
        </p:nvSpPr>
        <p:spPr>
          <a:xfrm>
            <a:off x="713232" y="382219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77824" y="4032504"/>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525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03</a:t>
            </a:r>
          </a:p>
        </p:txBody>
      </p:sp>
      <p:sp>
        <p:nvSpPr>
          <p:cNvPr id="24" name="TextBox 23"/>
          <p:cNvSpPr txBox="1"/>
          <p:nvPr/>
        </p:nvSpPr>
        <p:spPr>
          <a:xfrm>
            <a:off x="155448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URL: tên miền hiển thị/đích, hostname IP và userinfo bất thường</a:t>
            </a:r>
          </a:p>
        </p:txBody>
      </p:sp>
      <p:sp>
        <p:nvSpPr>
          <p:cNvPr id="25" name="Rounded Rectangle 24"/>
          <p:cNvSpPr/>
          <p:nvPr/>
        </p:nvSpPr>
        <p:spPr>
          <a:xfrm>
            <a:off x="6153912" y="382219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18504" y="4032504"/>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04</a:t>
            </a:r>
          </a:p>
        </p:txBody>
      </p:sp>
      <p:sp>
        <p:nvSpPr>
          <p:cNvPr id="28" name="TextBox 27"/>
          <p:cNvSpPr txBox="1"/>
          <p:nvPr/>
        </p:nvSpPr>
        <p:spPr>
          <a:xfrm>
            <a:off x="699516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Nội dung: văn bản hiển thị có giới hạn → dự đoán ba mô hình</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 · CÔNG NGHỆ, GIAO DIỆN VÀ DEMO EML</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Giao diện hệ thống: phân tích EML</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25312"/>
            <a:ext cx="10744200" cy="356616"/>
          </a:xfrm>
          <a:prstGeom prst="rect">
            <a:avLst/>
          </a:prstGeom>
          <a:noFill/>
        </p:spPr>
        <p:txBody>
          <a:bodyPr wrap="square" lIns="22860" tIns="22860" rIns="22860" bIns="22860" anchor="t">
            <a:spAutoFit/>
          </a:bodyPr>
          <a:lstStyle/>
          <a:p>
            <a:pPr algn="l">
              <a:lnSpc>
                <a:spcPct val="108000"/>
              </a:lnSpc>
              <a:spcBef>
                <a:spcPts val="0"/>
              </a:spcBef>
              <a:spcAft>
                <a:spcPts val="0"/>
              </a:spcAft>
              <a:defRPr sz="820" b="0">
                <a:solidFill>
                  <a:srgbClr val="69757A"/>
                </a:solidFill>
                <a:latin typeface="Arial" panose="020B0604020202020204"/>
              </a:defRPr>
            </a:pPr>
            <a:r>
              <a:t>Nguồn: ảnh chụp ứng dụng Streamlit DT124 chạy thật · 18/10/2026</a:t>
            </a: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13 / 30</a:t>
            </a:r>
          </a:p>
        </p:txBody>
      </p:sp>
      <p:pic>
        <p:nvPicPr>
          <p:cNvPr id="13" name="Picture 12" descr="01_giao_dien_phan_tich.png"/>
          <p:cNvPicPr>
            <a:picLocks noChangeAspect="1"/>
          </p:cNvPicPr>
          <p:nvPr/>
        </p:nvPicPr>
        <p:blipFill>
          <a:blip r:embed="rId2"/>
          <a:stretch>
            <a:fillRect/>
          </a:stretch>
        </p:blipFill>
        <p:spPr>
          <a:xfrm>
            <a:off x="1509482" y="1728216"/>
            <a:ext cx="9160844" cy="3867912"/>
          </a:xfrm>
          <a:prstGeom prst="rect">
            <a:avLst/>
          </a:prstGeom>
        </p:spPr>
      </p:pic>
      <p:sp>
        <p:nvSpPr>
          <p:cNvPr id="14" name="TextBox 13"/>
          <p:cNvSpPr txBox="1"/>
          <p:nvPr/>
        </p:nvSpPr>
        <p:spPr>
          <a:xfrm>
            <a:off x="731520" y="5632704"/>
            <a:ext cx="10698480" cy="265176"/>
          </a:xfrm>
          <a:prstGeom prst="rect">
            <a:avLst/>
          </a:prstGeom>
          <a:noFill/>
        </p:spPr>
        <p:txBody>
          <a:bodyPr wrap="square" lIns="22860" tIns="22860" rIns="22860" bIns="22860" anchor="t">
            <a:spAutoFit/>
          </a:bodyPr>
          <a:lstStyle/>
          <a:p>
            <a:pPr algn="l">
              <a:lnSpc>
                <a:spcPct val="108000"/>
              </a:lnSpc>
              <a:spcBef>
                <a:spcPts val="0"/>
              </a:spcBef>
              <a:spcAft>
                <a:spcPts val="0"/>
              </a:spcAft>
              <a:defRPr sz="1030" b="0">
                <a:solidFill>
                  <a:srgbClr val="444444"/>
                </a:solidFill>
                <a:latin typeface="Arial" panose="020B0604020202020204"/>
              </a:defRPr>
            </a:pPr>
            <a:r>
              <a:t>Chọn mẫu/tải EML; xem tổng quan, dự đoán và chỉ báo · Tải báo cáo JSON ngay trong phiên phân tích</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 · CÔNG NGHỆ, GIAO DIỆN VÀ DEMO EML</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Giao diện hệ thống: bảng so sánh mô hình</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25312"/>
            <a:ext cx="10744200" cy="356616"/>
          </a:xfrm>
          <a:prstGeom prst="rect">
            <a:avLst/>
          </a:prstGeom>
          <a:noFill/>
        </p:spPr>
        <p:txBody>
          <a:bodyPr wrap="square" lIns="22860" tIns="22860" rIns="22860" bIns="22860" anchor="t">
            <a:spAutoFit/>
          </a:bodyPr>
          <a:lstStyle/>
          <a:p>
            <a:pPr algn="l">
              <a:lnSpc>
                <a:spcPct val="108000"/>
              </a:lnSpc>
              <a:spcBef>
                <a:spcPts val="0"/>
              </a:spcBef>
              <a:spcAft>
                <a:spcPts val="0"/>
              </a:spcAft>
              <a:defRPr sz="820" b="0">
                <a:solidFill>
                  <a:srgbClr val="69757A"/>
                </a:solidFill>
                <a:latin typeface="Arial" panose="020B0604020202020204"/>
              </a:defRPr>
            </a:pPr>
            <a:r>
              <a:t>Nguồn: ảnh chụp ứng dụng Streamlit DT124 chạy thật · 18/10/2026</a:t>
            </a: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14 / 30</a:t>
            </a:r>
          </a:p>
        </p:txBody>
      </p:sp>
      <p:pic>
        <p:nvPicPr>
          <p:cNvPr id="13" name="Picture 12" descr="08_so_sanh_m0_m1.png"/>
          <p:cNvPicPr>
            <a:picLocks noChangeAspect="1"/>
          </p:cNvPicPr>
          <p:nvPr/>
        </p:nvPicPr>
        <p:blipFill>
          <a:blip r:embed="rId2"/>
          <a:stretch>
            <a:fillRect/>
          </a:stretch>
        </p:blipFill>
        <p:spPr>
          <a:xfrm>
            <a:off x="1720049" y="1728216"/>
            <a:ext cx="8739709" cy="3867912"/>
          </a:xfrm>
          <a:prstGeom prst="rect">
            <a:avLst/>
          </a:prstGeom>
        </p:spPr>
      </p:pic>
      <p:sp>
        <p:nvSpPr>
          <p:cNvPr id="14" name="TextBox 13"/>
          <p:cNvSpPr txBox="1"/>
          <p:nvPr/>
        </p:nvSpPr>
        <p:spPr>
          <a:xfrm>
            <a:off x="731520" y="5632704"/>
            <a:ext cx="10698480" cy="265176"/>
          </a:xfrm>
          <a:prstGeom prst="rect">
            <a:avLst/>
          </a:prstGeom>
          <a:noFill/>
        </p:spPr>
        <p:txBody>
          <a:bodyPr wrap="square" lIns="22860" tIns="22860" rIns="22860" bIns="22860" anchor="t">
            <a:spAutoFit/>
          </a:bodyPr>
          <a:lstStyle/>
          <a:p>
            <a:pPr algn="l">
              <a:lnSpc>
                <a:spcPct val="108000"/>
              </a:lnSpc>
              <a:spcBef>
                <a:spcPts val="0"/>
              </a:spcBef>
              <a:spcAft>
                <a:spcPts val="0"/>
              </a:spcAft>
              <a:defRPr sz="1030" b="0">
                <a:solidFill>
                  <a:srgbClr val="444444"/>
                </a:solidFill>
                <a:latin typeface="Arial" panose="020B0604020202020204"/>
              </a:defRPr>
            </a:pPr>
            <a:r>
              <a:t>Trang so sánh đọc kết quả đã lưu, không nhập điểm thủ công · M0/M1 là đối chứng; có phần M2 và kiểm tra ngoài nguồn</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 · CÔNG NGHỆ, GIAO DIỆN VÀ DEMO EML</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Demo phân tích EML theo bốn bước</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25312"/>
            <a:ext cx="10744200" cy="356616"/>
          </a:xfrm>
          <a:prstGeom prst="rect">
            <a:avLst/>
          </a:prstGeom>
          <a:noFill/>
        </p:spPr>
        <p:txBody>
          <a:bodyPr wrap="square" lIns="22860" tIns="22860" rIns="22860" bIns="22860" anchor="t">
            <a:spAutoFit/>
          </a:bodyPr>
          <a:lstStyle/>
          <a:p>
            <a:pPr algn="l">
              <a:lnSpc>
                <a:spcPct val="108000"/>
              </a:lnSpc>
              <a:spcBef>
                <a:spcPts val="0"/>
              </a:spcBef>
              <a:spcAft>
                <a:spcPts val="0"/>
              </a:spcAft>
              <a:defRPr sz="820" b="0">
                <a:solidFill>
                  <a:srgbClr val="69757A"/>
                </a:solidFill>
                <a:latin typeface="Arial" panose="020B0604020202020204"/>
              </a:defRPr>
            </a:pPr>
            <a:r>
              <a:t>Nguồn: mã nguồn DT124 và giao diện ứng dụng chạy cục bộ</a:t>
            </a: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15 / 30</a:t>
            </a:r>
          </a:p>
        </p:txBody>
      </p:sp>
      <p:sp>
        <p:nvSpPr>
          <p:cNvPr id="13" name="Rounded Rectangle 12"/>
          <p:cNvSpPr/>
          <p:nvPr/>
        </p:nvSpPr>
        <p:spPr>
          <a:xfrm>
            <a:off x="731520" y="2212848"/>
            <a:ext cx="2462022" cy="2944368"/>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2212848"/>
            <a:ext cx="2462022" cy="566928"/>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 y="2331720"/>
            <a:ext cx="2242565" cy="356616"/>
          </a:xfrm>
          <a:prstGeom prst="rect">
            <a:avLst/>
          </a:prstGeom>
          <a:noFill/>
        </p:spPr>
        <p:txBody>
          <a:bodyPr wrap="square" lIns="22860" tIns="22860" rIns="22860" bIns="22860" anchor="t">
            <a:spAutoFit/>
          </a:bodyPr>
          <a:lstStyle/>
          <a:p>
            <a:pPr algn="ctr">
              <a:lnSpc>
                <a:spcPct val="108000"/>
              </a:lnSpc>
              <a:spcBef>
                <a:spcPts val="0"/>
              </a:spcBef>
              <a:spcAft>
                <a:spcPts val="800"/>
              </a:spcAft>
              <a:defRPr sz="2200" b="1">
                <a:solidFill>
                  <a:srgbClr val="FFFFFF"/>
                </a:solidFill>
                <a:latin typeface="Arial" panose="020B0604020202020204"/>
              </a:defRPr>
            </a:pPr>
            <a:r>
              <a:t>01</a:t>
            </a:r>
          </a:p>
        </p:txBody>
      </p:sp>
      <p:sp>
        <p:nvSpPr>
          <p:cNvPr id="16" name="TextBox 15"/>
          <p:cNvSpPr txBox="1"/>
          <p:nvPr/>
        </p:nvSpPr>
        <p:spPr>
          <a:xfrm>
            <a:off x="905256" y="3081528"/>
            <a:ext cx="2114550" cy="17647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000" b="0">
                <a:solidFill>
                  <a:srgbClr val="444444"/>
                </a:solidFill>
                <a:latin typeface="Arial" panose="020B0604020202020204"/>
              </a:defRPr>
            </a:pPr>
            <a:r>
              <a:t>1. Chọn mẫu EML tổng hợp hoặc tải tệp cục bộ</a:t>
            </a:r>
          </a:p>
        </p:txBody>
      </p:sp>
      <p:sp>
        <p:nvSpPr>
          <p:cNvPr id="17" name="TextBox 16"/>
          <p:cNvSpPr txBox="1"/>
          <p:nvPr/>
        </p:nvSpPr>
        <p:spPr>
          <a:xfrm>
            <a:off x="3225546" y="3374136"/>
            <a:ext cx="228600" cy="493776"/>
          </a:xfrm>
          <a:prstGeom prst="rect">
            <a:avLst/>
          </a:prstGeom>
          <a:noFill/>
        </p:spPr>
        <p:txBody>
          <a:bodyPr wrap="square" lIns="22860" tIns="22860" rIns="22860" bIns="22860" anchor="t">
            <a:spAutoFit/>
          </a:bodyPr>
          <a:lstStyle/>
          <a:p>
            <a:pPr algn="l">
              <a:lnSpc>
                <a:spcPct val="108000"/>
              </a:lnSpc>
              <a:spcBef>
                <a:spcPts val="0"/>
              </a:spcBef>
              <a:spcAft>
                <a:spcPts val="800"/>
              </a:spcAft>
              <a:defRPr sz="2900" b="1">
                <a:solidFill>
                  <a:srgbClr val="F47700"/>
                </a:solidFill>
                <a:latin typeface="Arial" panose="020B0604020202020204"/>
              </a:defRPr>
            </a:pPr>
            <a:r>
              <a:t>›</a:t>
            </a:r>
          </a:p>
        </p:txBody>
      </p:sp>
      <p:sp>
        <p:nvSpPr>
          <p:cNvPr id="18" name="Rounded Rectangle 17"/>
          <p:cNvSpPr/>
          <p:nvPr/>
        </p:nvSpPr>
        <p:spPr>
          <a:xfrm>
            <a:off x="3477006" y="2212848"/>
            <a:ext cx="2462022" cy="2944368"/>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477006" y="2212848"/>
            <a:ext cx="2462022" cy="566928"/>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86734" y="2331720"/>
            <a:ext cx="2242565" cy="356616"/>
          </a:xfrm>
          <a:prstGeom prst="rect">
            <a:avLst/>
          </a:prstGeom>
          <a:noFill/>
        </p:spPr>
        <p:txBody>
          <a:bodyPr wrap="square" lIns="22860" tIns="22860" rIns="22860" bIns="22860" anchor="t">
            <a:spAutoFit/>
          </a:bodyPr>
          <a:lstStyle/>
          <a:p>
            <a:pPr algn="ctr">
              <a:lnSpc>
                <a:spcPct val="108000"/>
              </a:lnSpc>
              <a:spcBef>
                <a:spcPts val="0"/>
              </a:spcBef>
              <a:spcAft>
                <a:spcPts val="800"/>
              </a:spcAft>
              <a:defRPr sz="2200" b="1">
                <a:solidFill>
                  <a:srgbClr val="444444"/>
                </a:solidFill>
                <a:latin typeface="Arial" panose="020B0604020202020204"/>
              </a:defRPr>
            </a:pPr>
            <a:r>
              <a:t>02</a:t>
            </a:r>
          </a:p>
        </p:txBody>
      </p:sp>
      <p:sp>
        <p:nvSpPr>
          <p:cNvPr id="21" name="TextBox 20"/>
          <p:cNvSpPr txBox="1"/>
          <p:nvPr/>
        </p:nvSpPr>
        <p:spPr>
          <a:xfrm>
            <a:off x="3650742" y="3081528"/>
            <a:ext cx="2114550" cy="17647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000" b="0">
                <a:solidFill>
                  <a:srgbClr val="444444"/>
                </a:solidFill>
                <a:latin typeface="Arial" panose="020B0604020202020204"/>
              </a:defRPr>
            </a:pPr>
            <a:r>
              <a:t>2. Chạy phân tích; xem metadata và giới hạn parser</a:t>
            </a:r>
          </a:p>
        </p:txBody>
      </p:sp>
      <p:sp>
        <p:nvSpPr>
          <p:cNvPr id="22" name="TextBox 21"/>
          <p:cNvSpPr txBox="1"/>
          <p:nvPr/>
        </p:nvSpPr>
        <p:spPr>
          <a:xfrm>
            <a:off x="5971032" y="3374136"/>
            <a:ext cx="228600" cy="493776"/>
          </a:xfrm>
          <a:prstGeom prst="rect">
            <a:avLst/>
          </a:prstGeom>
          <a:noFill/>
        </p:spPr>
        <p:txBody>
          <a:bodyPr wrap="square" lIns="22860" tIns="22860" rIns="22860" bIns="22860" anchor="t">
            <a:spAutoFit/>
          </a:bodyPr>
          <a:lstStyle/>
          <a:p>
            <a:pPr algn="l">
              <a:lnSpc>
                <a:spcPct val="108000"/>
              </a:lnSpc>
              <a:spcBef>
                <a:spcPts val="0"/>
              </a:spcBef>
              <a:spcAft>
                <a:spcPts val="800"/>
              </a:spcAft>
              <a:defRPr sz="2900" b="1">
                <a:solidFill>
                  <a:srgbClr val="F47700"/>
                </a:solidFill>
                <a:latin typeface="Arial" panose="020B0604020202020204"/>
              </a:defRPr>
            </a:pPr>
            <a:r>
              <a:t>›</a:t>
            </a:r>
          </a:p>
        </p:txBody>
      </p:sp>
      <p:sp>
        <p:nvSpPr>
          <p:cNvPr id="23" name="Rounded Rectangle 22"/>
          <p:cNvSpPr/>
          <p:nvPr/>
        </p:nvSpPr>
        <p:spPr>
          <a:xfrm>
            <a:off x="6222492" y="2212848"/>
            <a:ext cx="2462022" cy="2944368"/>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222492" y="2212848"/>
            <a:ext cx="2462022" cy="566928"/>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32220" y="2331720"/>
            <a:ext cx="2242565" cy="356616"/>
          </a:xfrm>
          <a:prstGeom prst="rect">
            <a:avLst/>
          </a:prstGeom>
          <a:noFill/>
        </p:spPr>
        <p:txBody>
          <a:bodyPr wrap="square" lIns="22860" tIns="22860" rIns="22860" bIns="22860" anchor="t">
            <a:spAutoFit/>
          </a:bodyPr>
          <a:lstStyle/>
          <a:p>
            <a:pPr algn="ctr">
              <a:lnSpc>
                <a:spcPct val="108000"/>
              </a:lnSpc>
              <a:spcBef>
                <a:spcPts val="0"/>
              </a:spcBef>
              <a:spcAft>
                <a:spcPts val="800"/>
              </a:spcAft>
              <a:defRPr sz="2200" b="1">
                <a:solidFill>
                  <a:srgbClr val="FFFFFF"/>
                </a:solidFill>
                <a:latin typeface="Arial" panose="020B0604020202020204"/>
              </a:defRPr>
            </a:pPr>
            <a:r>
              <a:t>03</a:t>
            </a:r>
          </a:p>
        </p:txBody>
      </p:sp>
      <p:sp>
        <p:nvSpPr>
          <p:cNvPr id="26" name="TextBox 25"/>
          <p:cNvSpPr txBox="1"/>
          <p:nvPr/>
        </p:nvSpPr>
        <p:spPr>
          <a:xfrm>
            <a:off x="6396228" y="3081528"/>
            <a:ext cx="2114550" cy="17647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000" b="0">
                <a:solidFill>
                  <a:srgbClr val="444444"/>
                </a:solidFill>
                <a:latin typeface="Arial" panose="020B0604020202020204"/>
              </a:defRPr>
            </a:pPr>
            <a:r>
              <a:t>3. Đối chiếu URL, attachment và dự đoán M0/M1/M2</a:t>
            </a:r>
          </a:p>
        </p:txBody>
      </p:sp>
      <p:sp>
        <p:nvSpPr>
          <p:cNvPr id="27" name="TextBox 26"/>
          <p:cNvSpPr txBox="1"/>
          <p:nvPr/>
        </p:nvSpPr>
        <p:spPr>
          <a:xfrm>
            <a:off x="8716517" y="3374136"/>
            <a:ext cx="228600" cy="493776"/>
          </a:xfrm>
          <a:prstGeom prst="rect">
            <a:avLst/>
          </a:prstGeom>
          <a:noFill/>
        </p:spPr>
        <p:txBody>
          <a:bodyPr wrap="square" lIns="22860" tIns="22860" rIns="22860" bIns="22860" anchor="t">
            <a:spAutoFit/>
          </a:bodyPr>
          <a:lstStyle/>
          <a:p>
            <a:pPr algn="l">
              <a:lnSpc>
                <a:spcPct val="108000"/>
              </a:lnSpc>
              <a:spcBef>
                <a:spcPts val="0"/>
              </a:spcBef>
              <a:spcAft>
                <a:spcPts val="800"/>
              </a:spcAft>
              <a:defRPr sz="2900" b="1">
                <a:solidFill>
                  <a:srgbClr val="F47700"/>
                </a:solidFill>
                <a:latin typeface="Arial" panose="020B0604020202020204"/>
              </a:defRPr>
            </a:pPr>
            <a:r>
              <a:t>›</a:t>
            </a:r>
          </a:p>
        </p:txBody>
      </p:sp>
      <p:sp>
        <p:nvSpPr>
          <p:cNvPr id="28" name="Rounded Rectangle 27"/>
          <p:cNvSpPr/>
          <p:nvPr/>
        </p:nvSpPr>
        <p:spPr>
          <a:xfrm>
            <a:off x="8967978" y="2212848"/>
            <a:ext cx="2462022" cy="2944368"/>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967978" y="2212848"/>
            <a:ext cx="2462022" cy="566928"/>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77706" y="2331720"/>
            <a:ext cx="2242565" cy="356616"/>
          </a:xfrm>
          <a:prstGeom prst="rect">
            <a:avLst/>
          </a:prstGeom>
          <a:noFill/>
        </p:spPr>
        <p:txBody>
          <a:bodyPr wrap="square" lIns="22860" tIns="22860" rIns="22860" bIns="22860" anchor="t">
            <a:spAutoFit/>
          </a:bodyPr>
          <a:lstStyle/>
          <a:p>
            <a:pPr algn="ctr">
              <a:lnSpc>
                <a:spcPct val="108000"/>
              </a:lnSpc>
              <a:spcBef>
                <a:spcPts val="0"/>
              </a:spcBef>
              <a:spcAft>
                <a:spcPts val="800"/>
              </a:spcAft>
              <a:defRPr sz="2200" b="1">
                <a:solidFill>
                  <a:srgbClr val="444444"/>
                </a:solidFill>
                <a:latin typeface="Arial" panose="020B0604020202020204"/>
              </a:defRPr>
            </a:pPr>
            <a:r>
              <a:t>04</a:t>
            </a:r>
          </a:p>
        </p:txBody>
      </p:sp>
      <p:sp>
        <p:nvSpPr>
          <p:cNvPr id="31" name="TextBox 30"/>
          <p:cNvSpPr txBox="1"/>
          <p:nvPr/>
        </p:nvSpPr>
        <p:spPr>
          <a:xfrm>
            <a:off x="9141714" y="3081528"/>
            <a:ext cx="2114550" cy="17647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000" b="0">
                <a:solidFill>
                  <a:srgbClr val="444444"/>
                </a:solidFill>
                <a:latin typeface="Arial" panose="020B0604020202020204"/>
              </a:defRPr>
            </a:pPr>
            <a:r>
              <a:t>4. Tải JSON; đối chiếu hash và các chỉ báo đã hiển thị</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 · CÔNG NGHỆ, GIAO DIỆN VÀ DEMO EML</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Demo 1: email trao đổi thông thường</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25312"/>
            <a:ext cx="10744200" cy="356616"/>
          </a:xfrm>
          <a:prstGeom prst="rect">
            <a:avLst/>
          </a:prstGeom>
          <a:noFill/>
        </p:spPr>
        <p:txBody>
          <a:bodyPr wrap="square" lIns="22860" tIns="22860" rIns="22860" bIns="22860" anchor="t">
            <a:spAutoFit/>
          </a:bodyPr>
          <a:lstStyle/>
          <a:p>
            <a:pPr algn="l">
              <a:lnSpc>
                <a:spcPct val="108000"/>
              </a:lnSpc>
              <a:spcBef>
                <a:spcPts val="0"/>
              </a:spcBef>
              <a:spcAft>
                <a:spcPts val="0"/>
              </a:spcAft>
              <a:defRPr sz="820" b="0">
                <a:solidFill>
                  <a:srgbClr val="69757A"/>
                </a:solidFill>
                <a:latin typeface="Arial" panose="020B0604020202020204"/>
              </a:defRPr>
            </a:pPr>
            <a:r>
              <a:t>Nguồn: ảnh chụp ứng dụng Streamlit DT124 chạy thật · 18/10/2026</a:t>
            </a: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16 / 30</a:t>
            </a:r>
          </a:p>
        </p:txBody>
      </p:sp>
      <p:pic>
        <p:nvPicPr>
          <p:cNvPr id="13" name="Picture 12" descr="02_ket_qua_mau_binh_thuong.png"/>
          <p:cNvPicPr>
            <a:picLocks noChangeAspect="1"/>
          </p:cNvPicPr>
          <p:nvPr/>
        </p:nvPicPr>
        <p:blipFill>
          <a:blip r:embed="rId2"/>
          <a:stretch>
            <a:fillRect/>
          </a:stretch>
        </p:blipFill>
        <p:spPr>
          <a:xfrm>
            <a:off x="1617631" y="1728216"/>
            <a:ext cx="8944546" cy="3867912"/>
          </a:xfrm>
          <a:prstGeom prst="rect">
            <a:avLst/>
          </a:prstGeom>
        </p:spPr>
      </p:pic>
      <p:sp>
        <p:nvSpPr>
          <p:cNvPr id="14" name="TextBox 13"/>
          <p:cNvSpPr txBox="1"/>
          <p:nvPr/>
        </p:nvSpPr>
        <p:spPr>
          <a:xfrm>
            <a:off x="731520" y="5632704"/>
            <a:ext cx="10698480" cy="265176"/>
          </a:xfrm>
          <a:prstGeom prst="rect">
            <a:avLst/>
          </a:prstGeom>
          <a:noFill/>
        </p:spPr>
        <p:txBody>
          <a:bodyPr wrap="square" lIns="22860" tIns="22860" rIns="22860" bIns="22860" anchor="t">
            <a:spAutoFit/>
          </a:bodyPr>
          <a:lstStyle/>
          <a:p>
            <a:pPr algn="l">
              <a:lnSpc>
                <a:spcPct val="108000"/>
              </a:lnSpc>
              <a:spcBef>
                <a:spcPts val="0"/>
              </a:spcBef>
              <a:spcAft>
                <a:spcPts val="0"/>
              </a:spcAft>
              <a:defRPr sz="1030" b="0">
                <a:solidFill>
                  <a:srgbClr val="444444"/>
                </a:solidFill>
                <a:latin typeface="Arial" panose="020B0604020202020204"/>
              </a:defRPr>
            </a:pPr>
            <a:r>
              <a:t>Mẫu tổng hợp: 0 chỉ báo · 1 URL · 0 attachment · Cả M0/M1/M2 dự đoán lớp 0; kết quả demo, không phải accuracy</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 · CÔNG NGHỆ, GIAO DIỆN VÀ DEMO EML</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Demo 2: email có dấu hiệu đáng ngờ</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25312"/>
            <a:ext cx="10744200" cy="356616"/>
          </a:xfrm>
          <a:prstGeom prst="rect">
            <a:avLst/>
          </a:prstGeom>
          <a:noFill/>
        </p:spPr>
        <p:txBody>
          <a:bodyPr wrap="square" lIns="22860" tIns="22860" rIns="22860" bIns="22860" anchor="t">
            <a:spAutoFit/>
          </a:bodyPr>
          <a:lstStyle/>
          <a:p>
            <a:pPr algn="l">
              <a:lnSpc>
                <a:spcPct val="108000"/>
              </a:lnSpc>
              <a:spcBef>
                <a:spcPts val="0"/>
              </a:spcBef>
              <a:spcAft>
                <a:spcPts val="0"/>
              </a:spcAft>
              <a:defRPr sz="820" b="0">
                <a:solidFill>
                  <a:srgbClr val="69757A"/>
                </a:solidFill>
                <a:latin typeface="Arial" panose="020B0604020202020204"/>
              </a:defRPr>
            </a:pPr>
            <a:r>
              <a:t>Nguồn: ảnh chụp ứng dụng Streamlit DT124 chạy thật · 18/10/2026</a:t>
            </a: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17 / 30</a:t>
            </a:r>
          </a:p>
        </p:txBody>
      </p:sp>
      <p:pic>
        <p:nvPicPr>
          <p:cNvPr id="13" name="Picture 12" descr="03_ket_qua_mau_dang_ngo.png"/>
          <p:cNvPicPr>
            <a:picLocks noChangeAspect="1"/>
          </p:cNvPicPr>
          <p:nvPr/>
        </p:nvPicPr>
        <p:blipFill>
          <a:blip r:embed="rId2"/>
          <a:stretch>
            <a:fillRect/>
          </a:stretch>
        </p:blipFill>
        <p:spPr>
          <a:xfrm>
            <a:off x="1617631" y="1728216"/>
            <a:ext cx="8944546" cy="3867912"/>
          </a:xfrm>
          <a:prstGeom prst="rect">
            <a:avLst/>
          </a:prstGeom>
        </p:spPr>
      </p:pic>
      <p:sp>
        <p:nvSpPr>
          <p:cNvPr id="14" name="TextBox 13"/>
          <p:cNvSpPr txBox="1"/>
          <p:nvPr/>
        </p:nvSpPr>
        <p:spPr>
          <a:xfrm>
            <a:off x="731520" y="5632704"/>
            <a:ext cx="10698480" cy="265176"/>
          </a:xfrm>
          <a:prstGeom prst="rect">
            <a:avLst/>
          </a:prstGeom>
          <a:noFill/>
        </p:spPr>
        <p:txBody>
          <a:bodyPr wrap="square" lIns="22860" tIns="22860" rIns="22860" bIns="22860" anchor="t">
            <a:spAutoFit/>
          </a:bodyPr>
          <a:lstStyle/>
          <a:p>
            <a:pPr algn="l">
              <a:lnSpc>
                <a:spcPct val="108000"/>
              </a:lnSpc>
              <a:spcBef>
                <a:spcPts val="0"/>
              </a:spcBef>
              <a:spcAft>
                <a:spcPts val="0"/>
              </a:spcAft>
              <a:defRPr sz="1030" b="0">
                <a:solidFill>
                  <a:srgbClr val="444444"/>
                </a:solidFill>
                <a:latin typeface="Arial" panose="020B0604020202020204"/>
              </a:defRPr>
            </a:pPr>
            <a:r>
              <a:t>Mẫu tổng hợp: 5 chỉ báo · 2 URL · 1 attachment · Cả M0/M1/M2 dự đoán lớp 1; đối chiếu từng dấu hiệu EML</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 · CÔNG NGHỆ, GIAO DIỆN VÀ DEMO EML</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Kết quả trên web: giải thích từng chỉ báo</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25312"/>
            <a:ext cx="10744200" cy="356616"/>
          </a:xfrm>
          <a:prstGeom prst="rect">
            <a:avLst/>
          </a:prstGeom>
          <a:noFill/>
        </p:spPr>
        <p:txBody>
          <a:bodyPr wrap="square" lIns="22860" tIns="22860" rIns="22860" bIns="22860" anchor="t">
            <a:spAutoFit/>
          </a:bodyPr>
          <a:lstStyle/>
          <a:p>
            <a:pPr algn="l">
              <a:lnSpc>
                <a:spcPct val="108000"/>
              </a:lnSpc>
              <a:spcBef>
                <a:spcPts val="0"/>
              </a:spcBef>
              <a:spcAft>
                <a:spcPts val="0"/>
              </a:spcAft>
              <a:defRPr sz="820" b="0">
                <a:solidFill>
                  <a:srgbClr val="69757A"/>
                </a:solidFill>
                <a:latin typeface="Arial" panose="020B0604020202020204"/>
              </a:defRPr>
            </a:pPr>
            <a:r>
              <a:t>Nguồn: ứng dụng Streamlit DT124 · suspicious_synthetic.eml · 18/10/2026</a:t>
            </a: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18 / 30</a:t>
            </a:r>
          </a:p>
        </p:txBody>
      </p:sp>
      <p:pic>
        <p:nvPicPr>
          <p:cNvPr id="13" name="Picture 12" descr="04_chi_bao_dang_ngo.png"/>
          <p:cNvPicPr>
            <a:picLocks noChangeAspect="1"/>
          </p:cNvPicPr>
          <p:nvPr/>
        </p:nvPicPr>
        <p:blipFill>
          <a:blip r:embed="rId2"/>
          <a:stretch>
            <a:fillRect/>
          </a:stretch>
        </p:blipFill>
        <p:spPr>
          <a:xfrm>
            <a:off x="1397683" y="1728216"/>
            <a:ext cx="9384442" cy="3867912"/>
          </a:xfrm>
          <a:prstGeom prst="rect">
            <a:avLst/>
          </a:prstGeom>
        </p:spPr>
      </p:pic>
      <p:sp>
        <p:nvSpPr>
          <p:cNvPr id="14" name="TextBox 13"/>
          <p:cNvSpPr txBox="1"/>
          <p:nvPr/>
        </p:nvSpPr>
        <p:spPr>
          <a:xfrm>
            <a:off x="731520" y="5632704"/>
            <a:ext cx="10698480" cy="265176"/>
          </a:xfrm>
          <a:prstGeom prst="rect">
            <a:avLst/>
          </a:prstGeom>
          <a:noFill/>
        </p:spPr>
        <p:txBody>
          <a:bodyPr wrap="square" lIns="22860" tIns="22860" rIns="22860" bIns="22860" anchor="t">
            <a:spAutoFit/>
          </a:bodyPr>
          <a:lstStyle/>
          <a:p>
            <a:pPr algn="l">
              <a:lnSpc>
                <a:spcPct val="108000"/>
              </a:lnSpc>
              <a:spcBef>
                <a:spcPts val="0"/>
              </a:spcBef>
              <a:spcAft>
                <a:spcPts val="0"/>
              </a:spcAft>
              <a:defRPr sz="1030" b="0">
                <a:solidFill>
                  <a:srgbClr val="444444"/>
                </a:solidFill>
                <a:latin typeface="Arial" panose="020B0604020202020204"/>
              </a:defRPr>
            </a:pPr>
            <a:r>
              <a:t>Từ 5 chỉ báo đến bằng chứng cụ thể trong tệp EML · Đối chiếu From/Reply-To, liên kết và tệp đính kèm</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 · CÔNG NGHỆ, GIAO DIỆN VÀ DEMO EML</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Xuất báo cáo và kiểm tra lại kết quả</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25312"/>
            <a:ext cx="10744200" cy="356616"/>
          </a:xfrm>
          <a:prstGeom prst="rect">
            <a:avLst/>
          </a:prstGeom>
          <a:noFill/>
        </p:spPr>
        <p:txBody>
          <a:bodyPr wrap="square" lIns="22860" tIns="22860" rIns="22860" bIns="22860" anchor="t">
            <a:spAutoFit/>
          </a:bodyPr>
          <a:lstStyle/>
          <a:p>
            <a:pPr algn="l">
              <a:lnSpc>
                <a:spcPct val="108000"/>
              </a:lnSpc>
              <a:spcBef>
                <a:spcPts val="0"/>
              </a:spcBef>
              <a:spcAft>
                <a:spcPts val="0"/>
              </a:spcAft>
              <a:defRPr sz="820" b="0">
                <a:solidFill>
                  <a:srgbClr val="69757A"/>
                </a:solidFill>
                <a:latin typeface="Arial" panose="020B0604020202020204"/>
              </a:defRPr>
            </a:pPr>
            <a:r>
              <a:t>Nguồn: ứng dụng DT124 · scripts/verify_comparison.py, verify_improvement.py · tests/</a:t>
            </a: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19 / 30</a:t>
            </a:r>
          </a:p>
        </p:txBody>
      </p:sp>
      <p:sp>
        <p:nvSpPr>
          <p:cNvPr id="13" name="Rounded Rectangle 12"/>
          <p:cNvSpPr/>
          <p:nvPr/>
        </p:nvSpPr>
        <p:spPr>
          <a:xfrm>
            <a:off x="713232" y="185623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77824" y="2066543"/>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01</a:t>
            </a:r>
          </a:p>
        </p:txBody>
      </p:sp>
      <p:sp>
        <p:nvSpPr>
          <p:cNvPr id="16" name="TextBox 15"/>
          <p:cNvSpPr txBox="1"/>
          <p:nvPr/>
        </p:nvSpPr>
        <p:spPr>
          <a:xfrm>
            <a:off x="1554480" y="2066543"/>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JSON lưu hash, metadata, chỉ báo và giới hạn xử lý</a:t>
            </a:r>
          </a:p>
        </p:txBody>
      </p:sp>
      <p:sp>
        <p:nvSpPr>
          <p:cNvPr id="17" name="Rounded Rectangle 16"/>
          <p:cNvSpPr/>
          <p:nvPr/>
        </p:nvSpPr>
        <p:spPr>
          <a:xfrm>
            <a:off x="6153912" y="185623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18504" y="2066543"/>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93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02</a:t>
            </a:r>
          </a:p>
        </p:txBody>
      </p:sp>
      <p:sp>
        <p:nvSpPr>
          <p:cNvPr id="20" name="TextBox 19"/>
          <p:cNvSpPr txBox="1"/>
          <p:nvPr/>
        </p:nvSpPr>
        <p:spPr>
          <a:xfrm>
            <a:off x="6995160" y="2066543"/>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Subject/Body dùng suy luận được giữ riêng khỏi JSON xuất</a:t>
            </a:r>
          </a:p>
        </p:txBody>
      </p:sp>
      <p:sp>
        <p:nvSpPr>
          <p:cNvPr id="21" name="Rounded Rectangle 20"/>
          <p:cNvSpPr/>
          <p:nvPr/>
        </p:nvSpPr>
        <p:spPr>
          <a:xfrm>
            <a:off x="713232" y="382219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77824" y="4032504"/>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525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03</a:t>
            </a:r>
          </a:p>
        </p:txBody>
      </p:sp>
      <p:sp>
        <p:nvSpPr>
          <p:cNvPr id="24" name="TextBox 23"/>
          <p:cNvSpPr txBox="1"/>
          <p:nvPr/>
        </p:nvSpPr>
        <p:spPr>
          <a:xfrm>
            <a:off x="155448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Kiểm tra thông tin cá nhân trước khi chia sẻ báo cáo</a:t>
            </a:r>
          </a:p>
        </p:txBody>
      </p:sp>
      <p:sp>
        <p:nvSpPr>
          <p:cNvPr id="25" name="Rounded Rectangle 24"/>
          <p:cNvSpPr/>
          <p:nvPr/>
        </p:nvSpPr>
        <p:spPr>
          <a:xfrm>
            <a:off x="6153912" y="382219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18504" y="4032504"/>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04</a:t>
            </a:r>
          </a:p>
        </p:txBody>
      </p:sp>
      <p:sp>
        <p:nvSpPr>
          <p:cNvPr id="28" name="TextBox 27"/>
          <p:cNvSpPr txBox="1"/>
          <p:nvPr/>
        </p:nvSpPr>
        <p:spPr>
          <a:xfrm>
            <a:off x="699516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Artifacts, verifier và kiểm thử giúp kiểm tra lại kết quả</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III · KẾT QUẢ VÀ ĐÁNH GIÁ BA MÔ HÌNH</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M0 — mô hình cơ sở để đối chiếu</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25312"/>
            <a:ext cx="10744200" cy="356616"/>
          </a:xfrm>
          <a:prstGeom prst="rect">
            <a:avLst/>
          </a:prstGeom>
          <a:noFill/>
        </p:spPr>
        <p:txBody>
          <a:bodyPr wrap="square" lIns="22860" tIns="22860" rIns="22860" bIns="22860" anchor="t">
            <a:spAutoFit/>
          </a:bodyPr>
          <a:lstStyle/>
          <a:p>
            <a:pPr algn="l">
              <a:lnSpc>
                <a:spcPct val="108000"/>
              </a:lnSpc>
              <a:spcBef>
                <a:spcPts val="0"/>
              </a:spcBef>
              <a:spcAft>
                <a:spcPts val="0"/>
              </a:spcAft>
              <a:defRPr sz="820" b="0">
                <a:solidFill>
                  <a:srgbClr val="69757A"/>
                </a:solidFill>
                <a:latin typeface="Arial" panose="020B0604020202020204"/>
              </a:defRPr>
            </a:pPr>
            <a:r>
              <a:t>Nguồn: artifacts/model_improvement_v2/results.json · 18/10/2026</a:t>
            </a: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20 / 30</a:t>
            </a:r>
          </a:p>
        </p:txBody>
      </p:sp>
      <p:sp>
        <p:nvSpPr>
          <p:cNvPr id="13" name="Rounded Rectangle 12"/>
          <p:cNvSpPr/>
          <p:nvPr/>
        </p:nvSpPr>
        <p:spPr>
          <a:xfrm>
            <a:off x="713232" y="185623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77824" y="2066543"/>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01</a:t>
            </a:r>
          </a:p>
        </p:txBody>
      </p:sp>
      <p:sp>
        <p:nvSpPr>
          <p:cNvPr id="16" name="TextBox 15"/>
          <p:cNvSpPr txBox="1"/>
          <p:nvPr/>
        </p:nvSpPr>
        <p:spPr>
          <a:xfrm>
            <a:off x="1554480" y="2066543"/>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TF-IDF từ đơn; bỏ stop words tiếng Anh</a:t>
            </a:r>
          </a:p>
        </p:txBody>
      </p:sp>
      <p:sp>
        <p:nvSpPr>
          <p:cNvPr id="17" name="Rounded Rectangle 16"/>
          <p:cNvSpPr/>
          <p:nvPr/>
        </p:nvSpPr>
        <p:spPr>
          <a:xfrm>
            <a:off x="6153912" y="185623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18504" y="2066543"/>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93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02</a:t>
            </a:r>
          </a:p>
        </p:txBody>
      </p:sp>
      <p:sp>
        <p:nvSpPr>
          <p:cNvPr id="20" name="TextBox 19"/>
          <p:cNvSpPr txBox="1"/>
          <p:nvPr/>
        </p:nvSpPr>
        <p:spPr>
          <a:xfrm>
            <a:off x="6995160" y="2066543"/>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Tối đa 60.000 đặc trưng; min_df = 3; chuẩn hóa L2</a:t>
            </a:r>
          </a:p>
        </p:txBody>
      </p:sp>
      <p:sp>
        <p:nvSpPr>
          <p:cNvPr id="21" name="Rounded Rectangle 20"/>
          <p:cNvSpPr/>
          <p:nvPr/>
        </p:nvSpPr>
        <p:spPr>
          <a:xfrm>
            <a:off x="713232" y="382219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77824" y="4032504"/>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525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03</a:t>
            </a:r>
          </a:p>
        </p:txBody>
      </p:sp>
      <p:sp>
        <p:nvSpPr>
          <p:cNvPr id="24" name="TextBox 23"/>
          <p:cNvSpPr txBox="1"/>
          <p:nvPr/>
        </p:nvSpPr>
        <p:spPr>
          <a:xfrm>
            <a:off x="155448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LinearSVC cân bằng lớp; C chọn trong {0,25; 1; 4}</a:t>
            </a:r>
          </a:p>
        </p:txBody>
      </p:sp>
      <p:sp>
        <p:nvSpPr>
          <p:cNvPr id="25" name="Rounded Rectangle 24"/>
          <p:cNvSpPr/>
          <p:nvPr/>
        </p:nvSpPr>
        <p:spPr>
          <a:xfrm>
            <a:off x="6153912" y="382219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18504" y="4032504"/>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04</a:t>
            </a:r>
          </a:p>
        </p:txBody>
      </p:sp>
      <p:sp>
        <p:nvSpPr>
          <p:cNvPr id="28" name="TextBox 27"/>
          <p:cNvSpPr txBox="1"/>
          <p:nvPr/>
        </p:nvSpPr>
        <p:spPr>
          <a:xfrm>
            <a:off x="699516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Macro-F1 Enron: 99,1211% · 258 lỗi</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III · KẾT QUẢ VÀ ĐÁNH GIÁ BA MÔ HÌNH</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M1 — kết hợp đặc trưng từ và ký tự</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25312"/>
            <a:ext cx="10744200" cy="356616"/>
          </a:xfrm>
          <a:prstGeom prst="rect">
            <a:avLst/>
          </a:prstGeom>
          <a:noFill/>
        </p:spPr>
        <p:txBody>
          <a:bodyPr wrap="square" lIns="22860" tIns="22860" rIns="22860" bIns="22860" anchor="t">
            <a:spAutoFit/>
          </a:bodyPr>
          <a:lstStyle/>
          <a:p>
            <a:pPr algn="l">
              <a:lnSpc>
                <a:spcPct val="108000"/>
              </a:lnSpc>
              <a:spcBef>
                <a:spcPts val="0"/>
              </a:spcBef>
              <a:spcAft>
                <a:spcPts val="0"/>
              </a:spcAft>
              <a:defRPr sz="820" b="0">
                <a:solidFill>
                  <a:srgbClr val="69757A"/>
                </a:solidFill>
                <a:latin typeface="Arial" panose="020B0604020202020204"/>
              </a:defRPr>
            </a:pPr>
            <a:r>
              <a:t>Nguồn: artifacts/model_improvement_v2/results.json · 18/10/2026</a:t>
            </a: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21 / 30</a:t>
            </a:r>
          </a:p>
        </p:txBody>
      </p:sp>
      <p:sp>
        <p:nvSpPr>
          <p:cNvPr id="13" name="Rounded Rectangle 12"/>
          <p:cNvSpPr/>
          <p:nvPr/>
        </p:nvSpPr>
        <p:spPr>
          <a:xfrm>
            <a:off x="713232" y="185623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77824" y="2066543"/>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01</a:t>
            </a:r>
          </a:p>
        </p:txBody>
      </p:sp>
      <p:sp>
        <p:nvSpPr>
          <p:cNvPr id="16" name="TextBox 15"/>
          <p:cNvSpPr txBox="1"/>
          <p:nvPr/>
        </p:nvSpPr>
        <p:spPr>
          <a:xfrm>
            <a:off x="1554480" y="2066543"/>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Thêm cụm từ 1–2 gram và char_wb 3–5 gram</a:t>
            </a:r>
          </a:p>
        </p:txBody>
      </p:sp>
      <p:sp>
        <p:nvSpPr>
          <p:cNvPr id="17" name="Rounded Rectangle 16"/>
          <p:cNvSpPr/>
          <p:nvPr/>
        </p:nvSpPr>
        <p:spPr>
          <a:xfrm>
            <a:off x="6153912" y="185623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18504" y="2066543"/>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93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02</a:t>
            </a:r>
          </a:p>
        </p:txBody>
      </p:sp>
      <p:sp>
        <p:nvSpPr>
          <p:cNvPr id="20" name="TextBox 19"/>
          <p:cNvSpPr txBox="1"/>
          <p:nvPr/>
        </p:nvSpPr>
        <p:spPr>
          <a:xfrm>
            <a:off x="6995160" y="2066543"/>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100.000 đặc trưng từ + 100.000 ký tự; min_df = 3</a:t>
            </a:r>
          </a:p>
        </p:txBody>
      </p:sp>
      <p:sp>
        <p:nvSpPr>
          <p:cNvPr id="21" name="Rounded Rectangle 20"/>
          <p:cNvSpPr/>
          <p:nvPr/>
        </p:nvSpPr>
        <p:spPr>
          <a:xfrm>
            <a:off x="713232" y="382219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77824" y="4032504"/>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525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03</a:t>
            </a:r>
          </a:p>
        </p:txBody>
      </p:sp>
      <p:sp>
        <p:nvSpPr>
          <p:cNvPr id="24" name="TextBox 23"/>
          <p:cNvSpPr txBox="1"/>
          <p:nvPr/>
        </p:nvSpPr>
        <p:spPr>
          <a:xfrm>
            <a:off x="155448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Trọng số nhánh ký tự 0,75; LinearSVC; chọn bằng inner CV</a:t>
            </a:r>
          </a:p>
        </p:txBody>
      </p:sp>
      <p:sp>
        <p:nvSpPr>
          <p:cNvPr id="25" name="Rounded Rectangle 24"/>
          <p:cNvSpPr/>
          <p:nvPr/>
        </p:nvSpPr>
        <p:spPr>
          <a:xfrm>
            <a:off x="6153912" y="382219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18504" y="4032504"/>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04</a:t>
            </a:r>
          </a:p>
        </p:txBody>
      </p:sp>
      <p:sp>
        <p:nvSpPr>
          <p:cNvPr id="28" name="TextBox 27"/>
          <p:cNvSpPr txBox="1"/>
          <p:nvPr/>
        </p:nvSpPr>
        <p:spPr>
          <a:xfrm>
            <a:off x="699516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Macro-F1 Enron: 99,3459% · 192 lỗi</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III · KẾT QUẢ VÀ ĐÁNH GIÁ BA MÔ HÌNH</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M2 — mở rộng tìm kiếm và thử trọng số NB</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25312"/>
            <a:ext cx="10744200" cy="356616"/>
          </a:xfrm>
          <a:prstGeom prst="rect">
            <a:avLst/>
          </a:prstGeom>
          <a:noFill/>
        </p:spPr>
        <p:txBody>
          <a:bodyPr wrap="square" lIns="22860" tIns="22860" rIns="22860" bIns="22860" anchor="t">
            <a:spAutoFit/>
          </a:bodyPr>
          <a:lstStyle/>
          <a:p>
            <a:pPr algn="l">
              <a:lnSpc>
                <a:spcPct val="108000"/>
              </a:lnSpc>
              <a:spcBef>
                <a:spcPts val="0"/>
              </a:spcBef>
              <a:spcAft>
                <a:spcPts val="0"/>
              </a:spcAft>
              <a:defRPr sz="820" b="0">
                <a:solidFill>
                  <a:srgbClr val="69757A"/>
                </a:solidFill>
                <a:latin typeface="Arial" panose="020B0604020202020204"/>
              </a:defRPr>
            </a:pPr>
            <a:r>
              <a:t>Nguồn: advanced_text_models.py · config.json/results.json · Wang &amp; Manning 2012</a:t>
            </a: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22 / 30</a:t>
            </a:r>
          </a:p>
        </p:txBody>
      </p:sp>
      <p:sp>
        <p:nvSpPr>
          <p:cNvPr id="13" name="Rounded Rectangle 12"/>
          <p:cNvSpPr/>
          <p:nvPr/>
        </p:nvSpPr>
        <p:spPr>
          <a:xfrm>
            <a:off x="713232" y="185623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77824" y="2066543"/>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01</a:t>
            </a:r>
          </a:p>
        </p:txBody>
      </p:sp>
      <p:sp>
        <p:nvSpPr>
          <p:cNvPr id="16" name="TextBox 15"/>
          <p:cNvSpPr txBox="1"/>
          <p:nvPr/>
        </p:nvSpPr>
        <p:spPr>
          <a:xfrm>
            <a:off x="1554480" y="2066543"/>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Thử giữ stop words, ký tự qua ranh giới từ và tăng từ vựng</a:t>
            </a:r>
          </a:p>
        </p:txBody>
      </p:sp>
      <p:sp>
        <p:nvSpPr>
          <p:cNvPr id="17" name="Rounded Rectangle 16"/>
          <p:cNvSpPr/>
          <p:nvPr/>
        </p:nvSpPr>
        <p:spPr>
          <a:xfrm>
            <a:off x="6153912" y="185623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18504" y="2066543"/>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93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02</a:t>
            </a:r>
          </a:p>
        </p:txBody>
      </p:sp>
      <p:sp>
        <p:nvSpPr>
          <p:cNvPr id="20" name="TextBox 19"/>
          <p:cNvSpPr txBox="1"/>
          <p:nvPr/>
        </p:nvSpPr>
        <p:spPr>
          <a:xfrm>
            <a:off x="6995160" y="2066543"/>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Thử SVM/Logistic Regression, có hoặc không có trọng số NB</a:t>
            </a:r>
          </a:p>
        </p:txBody>
      </p:sp>
      <p:sp>
        <p:nvSpPr>
          <p:cNvPr id="21" name="Rounded Rectangle 20"/>
          <p:cNvSpPr/>
          <p:nvPr/>
        </p:nvSpPr>
        <p:spPr>
          <a:xfrm>
            <a:off x="713232" y="382219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77824" y="4032504"/>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525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03</a:t>
            </a:r>
          </a:p>
        </p:txBody>
      </p:sp>
      <p:sp>
        <p:nvSpPr>
          <p:cNvPr id="24" name="TextBox 23"/>
          <p:cNvSpPr txBox="1"/>
          <p:nvPr/>
        </p:nvSpPr>
        <p:spPr>
          <a:xfrm>
            <a:off x="155448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36 cấu hình; từ tối đa 100.000, ký tự 150.000; min_df = 2</a:t>
            </a:r>
          </a:p>
        </p:txBody>
      </p:sp>
      <p:sp>
        <p:nvSpPr>
          <p:cNvPr id="25" name="Rounded Rectangle 24"/>
          <p:cNvSpPr/>
          <p:nvPr/>
        </p:nvSpPr>
        <p:spPr>
          <a:xfrm>
            <a:off x="6153912" y="382219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18504" y="4032504"/>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04</a:t>
            </a:r>
          </a:p>
        </p:txBody>
      </p:sp>
      <p:sp>
        <p:nvSpPr>
          <p:cNvPr id="28" name="TextBox 27"/>
          <p:cNvSpPr txBox="1"/>
          <p:nvPr/>
        </p:nvSpPr>
        <p:spPr>
          <a:xfrm>
            <a:off x="699516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Model demo: giữ stop words + NB-weighted SVM, C=4, char=1,5</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III · KẾT QUẢ VÀ ĐÁNH GIÁ BA MÔ HÌNH</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Giao thức so sánh ba mô hình</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25312"/>
            <a:ext cx="10744200" cy="356616"/>
          </a:xfrm>
          <a:prstGeom prst="rect">
            <a:avLst/>
          </a:prstGeom>
          <a:noFill/>
        </p:spPr>
        <p:txBody>
          <a:bodyPr wrap="square" lIns="22860" tIns="22860" rIns="22860" bIns="22860" anchor="t">
            <a:spAutoFit/>
          </a:bodyPr>
          <a:lstStyle/>
          <a:p>
            <a:pPr algn="l">
              <a:lnSpc>
                <a:spcPct val="108000"/>
              </a:lnSpc>
              <a:spcBef>
                <a:spcPts val="0"/>
              </a:spcBef>
              <a:spcAft>
                <a:spcPts val="0"/>
              </a:spcAft>
              <a:defRPr sz="820" b="0">
                <a:solidFill>
                  <a:srgbClr val="69757A"/>
                </a:solidFill>
                <a:latin typeface="Arial" panose="020B0604020202020204"/>
              </a:defRPr>
            </a:pPr>
            <a:r>
              <a:t>Nguồn: artifacts/model_improvement_v2/results.json · 18/10/2026</a:t>
            </a: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23 / 30</a:t>
            </a:r>
          </a:p>
        </p:txBody>
      </p:sp>
      <p:sp>
        <p:nvSpPr>
          <p:cNvPr id="13" name="Rounded Rectangle 12"/>
          <p:cNvSpPr/>
          <p:nvPr/>
        </p:nvSpPr>
        <p:spPr>
          <a:xfrm>
            <a:off x="731520" y="2212848"/>
            <a:ext cx="2462022" cy="2944368"/>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2212848"/>
            <a:ext cx="2462022" cy="566928"/>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 y="2331720"/>
            <a:ext cx="2242565" cy="356616"/>
          </a:xfrm>
          <a:prstGeom prst="rect">
            <a:avLst/>
          </a:prstGeom>
          <a:noFill/>
        </p:spPr>
        <p:txBody>
          <a:bodyPr wrap="square" lIns="22860" tIns="22860" rIns="22860" bIns="22860" anchor="t">
            <a:spAutoFit/>
          </a:bodyPr>
          <a:lstStyle/>
          <a:p>
            <a:pPr algn="ctr">
              <a:lnSpc>
                <a:spcPct val="108000"/>
              </a:lnSpc>
              <a:spcBef>
                <a:spcPts val="0"/>
              </a:spcBef>
              <a:spcAft>
                <a:spcPts val="800"/>
              </a:spcAft>
              <a:defRPr sz="2200" b="1">
                <a:solidFill>
                  <a:srgbClr val="FFFFFF"/>
                </a:solidFill>
                <a:latin typeface="Arial" panose="020B0604020202020204"/>
              </a:defRPr>
            </a:pPr>
            <a:r>
              <a:t>01</a:t>
            </a:r>
          </a:p>
        </p:txBody>
      </p:sp>
      <p:sp>
        <p:nvSpPr>
          <p:cNvPr id="16" name="TextBox 15"/>
          <p:cNvSpPr txBox="1"/>
          <p:nvPr/>
        </p:nvSpPr>
        <p:spPr>
          <a:xfrm>
            <a:off x="905256" y="3081528"/>
            <a:ext cx="2114550" cy="17647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000" b="0">
                <a:solidFill>
                  <a:srgbClr val="444444"/>
                </a:solidFill>
                <a:latin typeface="Arial" panose="020B0604020202020204"/>
              </a:defRPr>
            </a:pPr>
            <a:r>
              <a:t>Cùng 29.423 ID/nhãn; 3 outer folds theo nhóm, mỗi thư test một lần</a:t>
            </a:r>
          </a:p>
        </p:txBody>
      </p:sp>
      <p:sp>
        <p:nvSpPr>
          <p:cNvPr id="17" name="TextBox 16"/>
          <p:cNvSpPr txBox="1"/>
          <p:nvPr/>
        </p:nvSpPr>
        <p:spPr>
          <a:xfrm>
            <a:off x="3225546" y="3374136"/>
            <a:ext cx="228600" cy="493776"/>
          </a:xfrm>
          <a:prstGeom prst="rect">
            <a:avLst/>
          </a:prstGeom>
          <a:noFill/>
        </p:spPr>
        <p:txBody>
          <a:bodyPr wrap="square" lIns="22860" tIns="22860" rIns="22860" bIns="22860" anchor="t">
            <a:spAutoFit/>
          </a:bodyPr>
          <a:lstStyle/>
          <a:p>
            <a:pPr algn="l">
              <a:lnSpc>
                <a:spcPct val="108000"/>
              </a:lnSpc>
              <a:spcBef>
                <a:spcPts val="0"/>
              </a:spcBef>
              <a:spcAft>
                <a:spcPts val="800"/>
              </a:spcAft>
              <a:defRPr sz="2900" b="1">
                <a:solidFill>
                  <a:srgbClr val="F47700"/>
                </a:solidFill>
                <a:latin typeface="Arial" panose="020B0604020202020204"/>
              </a:defRPr>
            </a:pPr>
            <a:r>
              <a:t>›</a:t>
            </a:r>
          </a:p>
        </p:txBody>
      </p:sp>
      <p:sp>
        <p:nvSpPr>
          <p:cNvPr id="18" name="Rounded Rectangle 17"/>
          <p:cNvSpPr/>
          <p:nvPr/>
        </p:nvSpPr>
        <p:spPr>
          <a:xfrm>
            <a:off x="3477006" y="2212848"/>
            <a:ext cx="2462022" cy="2944368"/>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477006" y="2212848"/>
            <a:ext cx="2462022" cy="566928"/>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86734" y="2331720"/>
            <a:ext cx="2242565" cy="356616"/>
          </a:xfrm>
          <a:prstGeom prst="rect">
            <a:avLst/>
          </a:prstGeom>
          <a:noFill/>
        </p:spPr>
        <p:txBody>
          <a:bodyPr wrap="square" lIns="22860" tIns="22860" rIns="22860" bIns="22860" anchor="t">
            <a:spAutoFit/>
          </a:bodyPr>
          <a:lstStyle/>
          <a:p>
            <a:pPr algn="ctr">
              <a:lnSpc>
                <a:spcPct val="108000"/>
              </a:lnSpc>
              <a:spcBef>
                <a:spcPts val="0"/>
              </a:spcBef>
              <a:spcAft>
                <a:spcPts val="800"/>
              </a:spcAft>
              <a:defRPr sz="2200" b="1">
                <a:solidFill>
                  <a:srgbClr val="444444"/>
                </a:solidFill>
                <a:latin typeface="Arial" panose="020B0604020202020204"/>
              </a:defRPr>
            </a:pPr>
            <a:r>
              <a:t>02</a:t>
            </a:r>
          </a:p>
        </p:txBody>
      </p:sp>
      <p:sp>
        <p:nvSpPr>
          <p:cNvPr id="21" name="TextBox 20"/>
          <p:cNvSpPr txBox="1"/>
          <p:nvPr/>
        </p:nvSpPr>
        <p:spPr>
          <a:xfrm>
            <a:off x="3650742" y="3081528"/>
            <a:ext cx="2114550" cy="17647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000" b="0">
                <a:solidFill>
                  <a:srgbClr val="444444"/>
                </a:solidFill>
                <a:latin typeface="Arial" panose="020B0604020202020204"/>
              </a:defRPr>
            </a:pPr>
            <a:r>
              <a:t>Mỗi outer-train dùng 3 inner folds để chọn cấu hình và C</a:t>
            </a:r>
          </a:p>
        </p:txBody>
      </p:sp>
      <p:sp>
        <p:nvSpPr>
          <p:cNvPr id="22" name="TextBox 21"/>
          <p:cNvSpPr txBox="1"/>
          <p:nvPr/>
        </p:nvSpPr>
        <p:spPr>
          <a:xfrm>
            <a:off x="5971032" y="3374136"/>
            <a:ext cx="228600" cy="493776"/>
          </a:xfrm>
          <a:prstGeom prst="rect">
            <a:avLst/>
          </a:prstGeom>
          <a:noFill/>
        </p:spPr>
        <p:txBody>
          <a:bodyPr wrap="square" lIns="22860" tIns="22860" rIns="22860" bIns="22860" anchor="t">
            <a:spAutoFit/>
          </a:bodyPr>
          <a:lstStyle/>
          <a:p>
            <a:pPr algn="l">
              <a:lnSpc>
                <a:spcPct val="108000"/>
              </a:lnSpc>
              <a:spcBef>
                <a:spcPts val="0"/>
              </a:spcBef>
              <a:spcAft>
                <a:spcPts val="800"/>
              </a:spcAft>
              <a:defRPr sz="2900" b="1">
                <a:solidFill>
                  <a:srgbClr val="F47700"/>
                </a:solidFill>
                <a:latin typeface="Arial" panose="020B0604020202020204"/>
              </a:defRPr>
            </a:pPr>
            <a:r>
              <a:t>›</a:t>
            </a:r>
          </a:p>
        </p:txBody>
      </p:sp>
      <p:sp>
        <p:nvSpPr>
          <p:cNvPr id="23" name="Rounded Rectangle 22"/>
          <p:cNvSpPr/>
          <p:nvPr/>
        </p:nvSpPr>
        <p:spPr>
          <a:xfrm>
            <a:off x="6222492" y="2212848"/>
            <a:ext cx="2462022" cy="2944368"/>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222492" y="2212848"/>
            <a:ext cx="2462022" cy="566928"/>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32220" y="2331720"/>
            <a:ext cx="2242565" cy="356616"/>
          </a:xfrm>
          <a:prstGeom prst="rect">
            <a:avLst/>
          </a:prstGeom>
          <a:noFill/>
        </p:spPr>
        <p:txBody>
          <a:bodyPr wrap="square" lIns="22860" tIns="22860" rIns="22860" bIns="22860" anchor="t">
            <a:spAutoFit/>
          </a:bodyPr>
          <a:lstStyle/>
          <a:p>
            <a:pPr algn="ctr">
              <a:lnSpc>
                <a:spcPct val="108000"/>
              </a:lnSpc>
              <a:spcBef>
                <a:spcPts val="0"/>
              </a:spcBef>
              <a:spcAft>
                <a:spcPts val="800"/>
              </a:spcAft>
              <a:defRPr sz="2200" b="1">
                <a:solidFill>
                  <a:srgbClr val="FFFFFF"/>
                </a:solidFill>
                <a:latin typeface="Arial" panose="020B0604020202020204"/>
              </a:defRPr>
            </a:pPr>
            <a:r>
              <a:t>03</a:t>
            </a:r>
          </a:p>
        </p:txBody>
      </p:sp>
      <p:sp>
        <p:nvSpPr>
          <p:cNvPr id="26" name="TextBox 25"/>
          <p:cNvSpPr txBox="1"/>
          <p:nvPr/>
        </p:nvSpPr>
        <p:spPr>
          <a:xfrm>
            <a:off x="6396228" y="3081528"/>
            <a:ext cx="2114550" cy="17647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000" b="0">
                <a:solidFill>
                  <a:srgbClr val="444444"/>
                </a:solidFill>
                <a:latin typeface="Arial" panose="020B0604020202020204"/>
              </a:defRPr>
            </a:pPr>
            <a:r>
              <a:t>M2 là vòng thăm dò tiếp sau M0/M1; cần thừa nhận tính thích nghi</a:t>
            </a:r>
          </a:p>
        </p:txBody>
      </p:sp>
      <p:sp>
        <p:nvSpPr>
          <p:cNvPr id="27" name="TextBox 26"/>
          <p:cNvSpPr txBox="1"/>
          <p:nvPr/>
        </p:nvSpPr>
        <p:spPr>
          <a:xfrm>
            <a:off x="8716517" y="3374136"/>
            <a:ext cx="228600" cy="493776"/>
          </a:xfrm>
          <a:prstGeom prst="rect">
            <a:avLst/>
          </a:prstGeom>
          <a:noFill/>
        </p:spPr>
        <p:txBody>
          <a:bodyPr wrap="square" lIns="22860" tIns="22860" rIns="22860" bIns="22860" anchor="t">
            <a:spAutoFit/>
          </a:bodyPr>
          <a:lstStyle/>
          <a:p>
            <a:pPr algn="l">
              <a:lnSpc>
                <a:spcPct val="108000"/>
              </a:lnSpc>
              <a:spcBef>
                <a:spcPts val="0"/>
              </a:spcBef>
              <a:spcAft>
                <a:spcPts val="800"/>
              </a:spcAft>
              <a:defRPr sz="2900" b="1">
                <a:solidFill>
                  <a:srgbClr val="F47700"/>
                </a:solidFill>
                <a:latin typeface="Arial" panose="020B0604020202020204"/>
              </a:defRPr>
            </a:pPr>
            <a:r>
              <a:t>›</a:t>
            </a:r>
          </a:p>
        </p:txBody>
      </p:sp>
      <p:sp>
        <p:nvSpPr>
          <p:cNvPr id="28" name="Rounded Rectangle 27"/>
          <p:cNvSpPr/>
          <p:nvPr/>
        </p:nvSpPr>
        <p:spPr>
          <a:xfrm>
            <a:off x="8967978" y="2212848"/>
            <a:ext cx="2462022" cy="2944368"/>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967978" y="2212848"/>
            <a:ext cx="2462022" cy="566928"/>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77706" y="2331720"/>
            <a:ext cx="2242565" cy="356616"/>
          </a:xfrm>
          <a:prstGeom prst="rect">
            <a:avLst/>
          </a:prstGeom>
          <a:noFill/>
        </p:spPr>
        <p:txBody>
          <a:bodyPr wrap="square" lIns="22860" tIns="22860" rIns="22860" bIns="22860" anchor="t">
            <a:spAutoFit/>
          </a:bodyPr>
          <a:lstStyle/>
          <a:p>
            <a:pPr algn="ctr">
              <a:lnSpc>
                <a:spcPct val="108000"/>
              </a:lnSpc>
              <a:spcBef>
                <a:spcPts val="0"/>
              </a:spcBef>
              <a:spcAft>
                <a:spcPts val="800"/>
              </a:spcAft>
              <a:defRPr sz="2200" b="1">
                <a:solidFill>
                  <a:srgbClr val="444444"/>
                </a:solidFill>
                <a:latin typeface="Arial" panose="020B0604020202020204"/>
              </a:defRPr>
            </a:pPr>
            <a:r>
              <a:t>04</a:t>
            </a:r>
          </a:p>
        </p:txBody>
      </p:sp>
      <p:sp>
        <p:nvSpPr>
          <p:cNvPr id="31" name="TextBox 30"/>
          <p:cNvSpPr txBox="1"/>
          <p:nvPr/>
        </p:nvSpPr>
        <p:spPr>
          <a:xfrm>
            <a:off x="9141714" y="3081528"/>
            <a:ext cx="2114550" cy="17647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000" b="0">
                <a:solidFill>
                  <a:srgbClr val="444444"/>
                </a:solidFill>
                <a:latin typeface="Arial" panose="020B0604020202020204"/>
              </a:defRPr>
            </a:pPr>
            <a:r>
              <a:t>Khóa lựa chọn trước external; không chỉnh model/ngưỡng theo test</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III · KẾT QUẢ VÀ ĐÁNH GIÁ BA MÔ HÌNH</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Kết quả Enron: M2 tăng thêm trong cùng nguồn</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25312"/>
            <a:ext cx="10744200" cy="356616"/>
          </a:xfrm>
          <a:prstGeom prst="rect">
            <a:avLst/>
          </a:prstGeom>
          <a:noFill/>
        </p:spPr>
        <p:txBody>
          <a:bodyPr wrap="square" lIns="22860" tIns="22860" rIns="22860" bIns="22860" anchor="t">
            <a:spAutoFit/>
          </a:bodyPr>
          <a:lstStyle/>
          <a:p>
            <a:pPr algn="l">
              <a:lnSpc>
                <a:spcPct val="108000"/>
              </a:lnSpc>
              <a:spcBef>
                <a:spcPts val="0"/>
              </a:spcBef>
              <a:spcAft>
                <a:spcPts val="0"/>
              </a:spcAft>
              <a:defRPr sz="820" b="0">
                <a:solidFill>
                  <a:srgbClr val="69757A"/>
                </a:solidFill>
                <a:latin typeface="Arial" panose="020B0604020202020204"/>
              </a:defRPr>
            </a:pPr>
            <a:r>
              <a:t>Nguồn: artifacts/model_improvement_v2/results.json · 18/10/2026</a:t>
            </a: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24 / 30</a:t>
            </a:r>
          </a:p>
        </p:txBody>
      </p:sp>
      <p:graphicFrame>
        <p:nvGraphicFramePr>
          <p:cNvPr id="13" name="Table 12"/>
          <p:cNvGraphicFramePr>
            <a:graphicFrameLocks noGrp="1"/>
          </p:cNvGraphicFramePr>
          <p:nvPr/>
        </p:nvGraphicFramePr>
        <p:xfrm>
          <a:off x="722376" y="1819656"/>
          <a:ext cx="10725910" cy="3584448"/>
        </p:xfrm>
        <a:graphic>
          <a:graphicData uri="http://schemas.openxmlformats.org/drawingml/2006/table">
            <a:tbl>
              <a:tblPr firstRow="1" bandRow="1">
                <a:tableStyleId>{5C22544A-7EE6-4342-B048-85BDC9FD1C3A}</a:tableStyleId>
              </a:tblPr>
              <a:tblGrid>
                <a:gridCol w="2926080"/>
                <a:gridCol w="1559966"/>
                <a:gridCol w="1559966"/>
                <a:gridCol w="1559966"/>
                <a:gridCol w="1559966"/>
                <a:gridCol w="1559966"/>
              </a:tblGrid>
              <a:tr h="896112">
                <a:tc>
                  <a:txBody>
                    <a:bodyPr/>
                    <a:lstStyle/>
                    <a:p>
                      <a:pPr>
                        <a:lnSpc>
                          <a:spcPct val="100000"/>
                        </a:lnSpc>
                        <a:spcAft>
                          <a:spcPts val="0"/>
                        </a:spcAft>
                        <a:defRPr sz="1430" b="1">
                          <a:solidFill>
                            <a:srgbClr val="FFFFFF"/>
                          </a:solidFill>
                          <a:latin typeface="Arial" panose="020B0604020202020204"/>
                        </a:defRPr>
                      </a:pPr>
                      <a:r>
                        <a:t>Mô hình</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Macro-F1</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Precision (+)</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Recall (+)</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F1 (+)</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Accuracy</a:t>
                      </a:r>
                    </a:p>
                  </a:txBody>
                  <a:tcPr marL="118872" marR="118872" marT="64008" marB="64008" anchor="ctr">
                    <a:solidFill>
                      <a:srgbClr val="F47700"/>
                    </a:solidFill>
                  </a:tcPr>
                </a:tc>
              </a:tr>
              <a:tr h="896112">
                <a:tc>
                  <a:txBody>
                    <a:bodyPr/>
                    <a:lstStyle/>
                    <a:p>
                      <a:pPr>
                        <a:lnSpc>
                          <a:spcPct val="100000"/>
                        </a:lnSpc>
                        <a:spcAft>
                          <a:spcPts val="0"/>
                        </a:spcAft>
                        <a:defRPr sz="1430" b="0">
                          <a:solidFill>
                            <a:srgbClr val="444444"/>
                          </a:solidFill>
                          <a:latin typeface="Arial" panose="020B0604020202020204"/>
                        </a:defRPr>
                      </a:pPr>
                      <a:r>
                        <a:t>M0</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99,1211%</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98,6774%</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99,4838%</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99,0790%</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99,1231%</a:t>
                      </a:r>
                    </a:p>
                  </a:txBody>
                  <a:tcPr marL="118872" marR="118872" marT="64008" marB="64008" anchor="ctr">
                    <a:solidFill>
                      <a:srgbClr val="FFFFFF"/>
                    </a:solidFill>
                  </a:tcPr>
                </a:tc>
              </a:tr>
              <a:tr h="896112">
                <a:tc>
                  <a:txBody>
                    <a:bodyPr/>
                    <a:lstStyle/>
                    <a:p>
                      <a:pPr>
                        <a:lnSpc>
                          <a:spcPct val="100000"/>
                        </a:lnSpc>
                        <a:spcAft>
                          <a:spcPts val="0"/>
                        </a:spcAft>
                        <a:defRPr sz="1430" b="0">
                          <a:solidFill>
                            <a:srgbClr val="444444"/>
                          </a:solidFill>
                          <a:latin typeface="Arial" panose="020B0604020202020204"/>
                        </a:defRPr>
                      </a:pPr>
                      <a:r>
                        <a:t>M1</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99,3459%</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99,0306%</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99,5985%</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99,3137%</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99,3474%</a:t>
                      </a:r>
                    </a:p>
                  </a:txBody>
                  <a:tcPr marL="118872" marR="118872" marT="64008" marB="64008" anchor="ctr">
                    <a:solidFill>
                      <a:srgbClr val="F2F8F8"/>
                    </a:solidFill>
                  </a:tcPr>
                </a:tc>
              </a:tr>
              <a:tr h="896112">
                <a:tc>
                  <a:txBody>
                    <a:bodyPr/>
                    <a:lstStyle/>
                    <a:p>
                      <a:pPr>
                        <a:lnSpc>
                          <a:spcPct val="100000"/>
                        </a:lnSpc>
                        <a:spcAft>
                          <a:spcPts val="0"/>
                        </a:spcAft>
                        <a:defRPr sz="1430" b="0">
                          <a:solidFill>
                            <a:srgbClr val="444444"/>
                          </a:solidFill>
                          <a:latin typeface="Arial" panose="020B0604020202020204"/>
                        </a:defRPr>
                      </a:pPr>
                      <a:r>
                        <a:t>M2</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99,4276%</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99,1933%</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99,6057%</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99,3991%</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99,4290%</a:t>
                      </a:r>
                    </a:p>
                  </a:txBody>
                  <a:tcPr marL="118872" marR="118872" marT="64008" marB="64008" anchor="ctr">
                    <a:solidFill>
                      <a:srgbClr val="FFFFFF"/>
                    </a:solidFill>
                  </a:tcPr>
                </a:tc>
              </a:tr>
            </a:tbl>
          </a:graphicData>
        </a:graphic>
      </p:graphicFrame>
      <p:sp>
        <p:nvSpPr>
          <p:cNvPr id="14" name="TextBox 13"/>
          <p:cNvSpPr txBox="1"/>
          <p:nvPr/>
        </p:nvSpPr>
        <p:spPr>
          <a:xfrm>
            <a:off x="749808" y="5641848"/>
            <a:ext cx="10607040" cy="265176"/>
          </a:xfrm>
          <a:prstGeom prst="rect">
            <a:avLst/>
          </a:prstGeom>
          <a:noFill/>
        </p:spPr>
        <p:txBody>
          <a:bodyPr wrap="square" lIns="22860" tIns="22860" rIns="22860" bIns="22860" anchor="t">
            <a:spAutoFit/>
          </a:bodyPr>
          <a:lstStyle/>
          <a:p>
            <a:pPr algn="l">
              <a:lnSpc>
                <a:spcPct val="108000"/>
              </a:lnSpc>
              <a:spcBef>
                <a:spcPts val="0"/>
              </a:spcBef>
              <a:spcAft>
                <a:spcPts val="0"/>
              </a:spcAft>
              <a:defRPr sz="1050" b="0">
                <a:solidFill>
                  <a:srgbClr val="69757A"/>
                </a:solidFill>
                <a:latin typeface="Arial" panose="020B0604020202020204"/>
              </a:defRPr>
            </a:pPr>
            <a:r>
              <a:t>P/R/F1 (+): lớp spam/phishing theo nhãn nguồn · Pooled OOF trên cùng 29.423 email.</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III · KẾT QUẢ VÀ ĐÁNH GIÁ BA MÔ HÌNH</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Lỗi Enron: giảm báo động nhầm và bỏ sót</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25312"/>
            <a:ext cx="10744200" cy="356616"/>
          </a:xfrm>
          <a:prstGeom prst="rect">
            <a:avLst/>
          </a:prstGeom>
          <a:noFill/>
        </p:spPr>
        <p:txBody>
          <a:bodyPr wrap="square" lIns="22860" tIns="22860" rIns="22860" bIns="22860" anchor="t">
            <a:spAutoFit/>
          </a:bodyPr>
          <a:lstStyle/>
          <a:p>
            <a:pPr algn="l">
              <a:lnSpc>
                <a:spcPct val="108000"/>
              </a:lnSpc>
              <a:spcBef>
                <a:spcPts val="0"/>
              </a:spcBef>
              <a:spcAft>
                <a:spcPts val="0"/>
              </a:spcAft>
              <a:defRPr sz="820" b="0">
                <a:solidFill>
                  <a:srgbClr val="69757A"/>
                </a:solidFill>
                <a:latin typeface="Arial" panose="020B0604020202020204"/>
              </a:defRPr>
            </a:pPr>
            <a:r>
              <a:t>Nguồn: artifacts/model_improvement_v2/results.json · 18/10/2026</a:t>
            </a: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25 / 30</a:t>
            </a:r>
          </a:p>
        </p:txBody>
      </p:sp>
      <p:graphicFrame>
        <p:nvGraphicFramePr>
          <p:cNvPr id="13" name="Table 12"/>
          <p:cNvGraphicFramePr>
            <a:graphicFrameLocks noGrp="1"/>
          </p:cNvGraphicFramePr>
          <p:nvPr/>
        </p:nvGraphicFramePr>
        <p:xfrm>
          <a:off x="722376" y="1819656"/>
          <a:ext cx="10725912" cy="3584448"/>
        </p:xfrm>
        <a:graphic>
          <a:graphicData uri="http://schemas.openxmlformats.org/drawingml/2006/table">
            <a:tbl>
              <a:tblPr firstRow="1" bandRow="1">
                <a:tableStyleId>{5C22544A-7EE6-4342-B048-85BDC9FD1C3A}</a:tableStyleId>
              </a:tblPr>
              <a:tblGrid>
                <a:gridCol w="2926080"/>
                <a:gridCol w="1299972"/>
                <a:gridCol w="1299972"/>
                <a:gridCol w="1299972"/>
                <a:gridCol w="1299972"/>
                <a:gridCol w="1299972"/>
                <a:gridCol w="1299972"/>
              </a:tblGrid>
              <a:tr h="896112">
                <a:tc>
                  <a:txBody>
                    <a:bodyPr/>
                    <a:lstStyle/>
                    <a:p>
                      <a:pPr>
                        <a:lnSpc>
                          <a:spcPct val="100000"/>
                        </a:lnSpc>
                        <a:spcAft>
                          <a:spcPts val="0"/>
                        </a:spcAft>
                        <a:defRPr sz="1430" b="1">
                          <a:solidFill>
                            <a:srgbClr val="FFFFFF"/>
                          </a:solidFill>
                          <a:latin typeface="Arial" panose="020B0604020202020204"/>
                        </a:defRPr>
                      </a:pPr>
                      <a:r>
                        <a:t>Mô hình</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TN</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FP ↓</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FN ↓</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TP</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Tổng lỗi ↓</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FPR ↓</a:t>
                      </a:r>
                    </a:p>
                  </a:txBody>
                  <a:tcPr marL="118872" marR="118872" marT="64008" marB="64008" anchor="ctr">
                    <a:solidFill>
                      <a:srgbClr val="F47700"/>
                    </a:solidFill>
                  </a:tcPr>
                </a:tc>
              </a:tr>
              <a:tr h="896112">
                <a:tc>
                  <a:txBody>
                    <a:bodyPr/>
                    <a:lstStyle/>
                    <a:p>
                      <a:pPr>
                        <a:lnSpc>
                          <a:spcPct val="100000"/>
                        </a:lnSpc>
                        <a:spcAft>
                          <a:spcPts val="0"/>
                        </a:spcAft>
                        <a:defRPr sz="1430" b="0">
                          <a:solidFill>
                            <a:srgbClr val="444444"/>
                          </a:solidFill>
                          <a:latin typeface="Arial" panose="020B0604020202020204"/>
                        </a:defRPr>
                      </a:pPr>
                      <a:r>
                        <a:t>M0</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15.288</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186</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72</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13.877</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258</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1,20%</a:t>
                      </a:r>
                    </a:p>
                  </a:txBody>
                  <a:tcPr marL="118872" marR="118872" marT="64008" marB="64008" anchor="ctr">
                    <a:solidFill>
                      <a:srgbClr val="FFFFFF"/>
                    </a:solidFill>
                  </a:tcPr>
                </a:tc>
              </a:tr>
              <a:tr h="896112">
                <a:tc>
                  <a:txBody>
                    <a:bodyPr/>
                    <a:lstStyle/>
                    <a:p>
                      <a:pPr>
                        <a:lnSpc>
                          <a:spcPct val="100000"/>
                        </a:lnSpc>
                        <a:spcAft>
                          <a:spcPts val="0"/>
                        </a:spcAft>
                        <a:defRPr sz="1430" b="0">
                          <a:solidFill>
                            <a:srgbClr val="444444"/>
                          </a:solidFill>
                          <a:latin typeface="Arial" panose="020B0604020202020204"/>
                        </a:defRPr>
                      </a:pPr>
                      <a:r>
                        <a:t>M1</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15.338</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136</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56</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13.893</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192</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0,88%</a:t>
                      </a:r>
                    </a:p>
                  </a:txBody>
                  <a:tcPr marL="118872" marR="118872" marT="64008" marB="64008" anchor="ctr">
                    <a:solidFill>
                      <a:srgbClr val="F2F8F8"/>
                    </a:solidFill>
                  </a:tcPr>
                </a:tc>
              </a:tr>
              <a:tr h="896112">
                <a:tc>
                  <a:txBody>
                    <a:bodyPr/>
                    <a:lstStyle/>
                    <a:p>
                      <a:pPr>
                        <a:lnSpc>
                          <a:spcPct val="100000"/>
                        </a:lnSpc>
                        <a:spcAft>
                          <a:spcPts val="0"/>
                        </a:spcAft>
                        <a:defRPr sz="1430" b="0">
                          <a:solidFill>
                            <a:srgbClr val="444444"/>
                          </a:solidFill>
                          <a:latin typeface="Arial" panose="020B0604020202020204"/>
                        </a:defRPr>
                      </a:pPr>
                      <a:r>
                        <a:t>M2</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15.361</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113</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55</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13.894</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168</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0,73%</a:t>
                      </a:r>
                    </a:p>
                  </a:txBody>
                  <a:tcPr marL="118872" marR="118872" marT="64008" marB="64008" anchor="ctr">
                    <a:solidFill>
                      <a:srgbClr val="FFFFFF"/>
                    </a:solidFill>
                  </a:tcPr>
                </a:tc>
              </a:tr>
            </a:tbl>
          </a:graphicData>
        </a:graphic>
      </p:graphicFrame>
      <p:sp>
        <p:nvSpPr>
          <p:cNvPr id="14" name="TextBox 13"/>
          <p:cNvSpPr txBox="1"/>
          <p:nvPr/>
        </p:nvSpPr>
        <p:spPr>
          <a:xfrm>
            <a:off x="749808" y="5641848"/>
            <a:ext cx="10607040" cy="265176"/>
          </a:xfrm>
          <a:prstGeom prst="rect">
            <a:avLst/>
          </a:prstGeom>
          <a:noFill/>
        </p:spPr>
        <p:txBody>
          <a:bodyPr wrap="square" lIns="22860" tIns="22860" rIns="22860" bIns="22860" anchor="t">
            <a:spAutoFit/>
          </a:bodyPr>
          <a:lstStyle/>
          <a:p>
            <a:pPr algn="l">
              <a:lnSpc>
                <a:spcPct val="108000"/>
              </a:lnSpc>
              <a:spcBef>
                <a:spcPts val="0"/>
              </a:spcBef>
              <a:spcAft>
                <a:spcPts val="0"/>
              </a:spcAft>
              <a:defRPr sz="1050" b="0">
                <a:solidFill>
                  <a:srgbClr val="69757A"/>
                </a:solidFill>
                <a:latin typeface="Arial" panose="020B0604020202020204"/>
              </a:defRPr>
            </a:pPr>
            <a:r>
              <a:t>M2 − M1: giảm ròng 24 lỗi · CI95% Δmacro-F1: [+0,0169; +0,1523] điểm phần trăm.</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III · KẾT QUẢ VÀ ĐÁNH GIÁ BA MÔ HÌNH</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Kết quả Enron hiển thị trực tiếp trên web</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25312"/>
            <a:ext cx="10744200" cy="356616"/>
          </a:xfrm>
          <a:prstGeom prst="rect">
            <a:avLst/>
          </a:prstGeom>
          <a:noFill/>
        </p:spPr>
        <p:txBody>
          <a:bodyPr wrap="square" lIns="22860" tIns="22860" rIns="22860" bIns="22860" anchor="t">
            <a:spAutoFit/>
          </a:bodyPr>
          <a:lstStyle/>
          <a:p>
            <a:pPr algn="l">
              <a:lnSpc>
                <a:spcPct val="108000"/>
              </a:lnSpc>
              <a:spcBef>
                <a:spcPts val="0"/>
              </a:spcBef>
              <a:spcAft>
                <a:spcPts val="0"/>
              </a:spcAft>
              <a:defRPr sz="820" b="0">
                <a:solidFill>
                  <a:srgbClr val="69757A"/>
                </a:solidFill>
                <a:latin typeface="Arial" panose="020B0604020202020204"/>
              </a:defRPr>
            </a:pPr>
            <a:r>
              <a:t>Nguồn: web DT124 đọc artifacts/model_improvement_v2/results.json · 18/10/2026</a:t>
            </a: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26 / 30</a:t>
            </a:r>
          </a:p>
        </p:txBody>
      </p:sp>
      <p:pic>
        <p:nvPicPr>
          <p:cNvPr id="13" name="Picture 12" descr="09_so_sanh_ba_mo_hinh_enron.png"/>
          <p:cNvPicPr>
            <a:picLocks noChangeAspect="1"/>
          </p:cNvPicPr>
          <p:nvPr/>
        </p:nvPicPr>
        <p:blipFill>
          <a:blip r:embed="rId2"/>
          <a:stretch>
            <a:fillRect/>
          </a:stretch>
        </p:blipFill>
        <p:spPr>
          <a:xfrm>
            <a:off x="2722545" y="1728216"/>
            <a:ext cx="6734717" cy="3867912"/>
          </a:xfrm>
          <a:prstGeom prst="rect">
            <a:avLst/>
          </a:prstGeom>
        </p:spPr>
      </p:pic>
      <p:sp>
        <p:nvSpPr>
          <p:cNvPr id="14" name="TextBox 13"/>
          <p:cNvSpPr txBox="1"/>
          <p:nvPr/>
        </p:nvSpPr>
        <p:spPr>
          <a:xfrm>
            <a:off x="731520" y="5632704"/>
            <a:ext cx="10698480" cy="265176"/>
          </a:xfrm>
          <a:prstGeom prst="rect">
            <a:avLst/>
          </a:prstGeom>
          <a:noFill/>
        </p:spPr>
        <p:txBody>
          <a:bodyPr wrap="square" lIns="22860" tIns="22860" rIns="22860" bIns="22860" anchor="t">
            <a:spAutoFit/>
          </a:bodyPr>
          <a:lstStyle/>
          <a:p>
            <a:pPr algn="l">
              <a:lnSpc>
                <a:spcPct val="108000"/>
              </a:lnSpc>
              <a:spcBef>
                <a:spcPts val="0"/>
              </a:spcBef>
              <a:spcAft>
                <a:spcPts val="0"/>
              </a:spcAft>
              <a:defRPr sz="1030" b="0">
                <a:solidFill>
                  <a:srgbClr val="444444"/>
                </a:solidFill>
                <a:latin typeface="Arial" panose="020B0604020202020204"/>
              </a:defRPr>
            </a:pPr>
            <a:r>
              <a:t>Macro-F1 M0/M1/M2: 99,1211% / 99,3459% / 99,4276% · M2 là kết quả thăm dò thích nghi trong cùng nguồn</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III · KẾT QUẢ VÀ ĐÁNH GIÁ BA MÔ HÌNH</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Khác nguồn: chất lượng giảm mạnh</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25312"/>
            <a:ext cx="10744200" cy="356616"/>
          </a:xfrm>
          <a:prstGeom prst="rect">
            <a:avLst/>
          </a:prstGeom>
          <a:noFill/>
        </p:spPr>
        <p:txBody>
          <a:bodyPr wrap="square" lIns="22860" tIns="22860" rIns="22860" bIns="22860" anchor="t">
            <a:spAutoFit/>
          </a:bodyPr>
          <a:lstStyle/>
          <a:p>
            <a:pPr algn="l">
              <a:lnSpc>
                <a:spcPct val="108000"/>
              </a:lnSpc>
              <a:spcBef>
                <a:spcPts val="0"/>
              </a:spcBef>
              <a:spcAft>
                <a:spcPts val="0"/>
              </a:spcAft>
              <a:defRPr sz="820" b="0">
                <a:solidFill>
                  <a:srgbClr val="69757A"/>
                </a:solidFill>
                <a:latin typeface="Arial" panose="020B0604020202020204"/>
              </a:defRPr>
            </a:pPr>
            <a:r>
              <a:t>Nguồn: artifacts/model_improvement_v2/results.json · 18/10/2026</a:t>
            </a: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27 / 30</a:t>
            </a:r>
          </a:p>
        </p:txBody>
      </p:sp>
      <p:graphicFrame>
        <p:nvGraphicFramePr>
          <p:cNvPr id="13" name="Table 12"/>
          <p:cNvGraphicFramePr>
            <a:graphicFrameLocks noGrp="1"/>
          </p:cNvGraphicFramePr>
          <p:nvPr/>
        </p:nvGraphicFramePr>
        <p:xfrm>
          <a:off x="722376" y="1819656"/>
          <a:ext cx="10725910" cy="3584448"/>
        </p:xfrm>
        <a:graphic>
          <a:graphicData uri="http://schemas.openxmlformats.org/drawingml/2006/table">
            <a:tbl>
              <a:tblPr firstRow="1" bandRow="1">
                <a:tableStyleId>{5C22544A-7EE6-4342-B048-85BDC9FD1C3A}</a:tableStyleId>
              </a:tblPr>
              <a:tblGrid>
                <a:gridCol w="2926080"/>
                <a:gridCol w="1559966"/>
                <a:gridCol w="1559966"/>
                <a:gridCol w="1559966"/>
                <a:gridCol w="1559966"/>
                <a:gridCol w="1559966"/>
              </a:tblGrid>
              <a:tr h="896112">
                <a:tc>
                  <a:txBody>
                    <a:bodyPr/>
                    <a:lstStyle/>
                    <a:p>
                      <a:pPr>
                        <a:lnSpc>
                          <a:spcPct val="100000"/>
                        </a:lnSpc>
                        <a:spcAft>
                          <a:spcPts val="0"/>
                        </a:spcAft>
                        <a:defRPr sz="1430" b="1">
                          <a:solidFill>
                            <a:srgbClr val="FFFFFF"/>
                          </a:solidFill>
                          <a:latin typeface="Arial" panose="020B0604020202020204"/>
                        </a:defRPr>
                      </a:pPr>
                      <a:r>
                        <a:t>Mô hình</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Macro-F1</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Precision (+)</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Recall (+)</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F1 (+)</a:t>
                      </a:r>
                    </a:p>
                  </a:txBody>
                  <a:tcPr marL="118872" marR="118872" marT="64008" marB="64008" anchor="ctr">
                    <a:solidFill>
                      <a:srgbClr val="F47700"/>
                    </a:solidFill>
                  </a:tcPr>
                </a:tc>
                <a:tc>
                  <a:txBody>
                    <a:bodyPr/>
                    <a:lstStyle/>
                    <a:p>
                      <a:pPr>
                        <a:lnSpc>
                          <a:spcPct val="100000"/>
                        </a:lnSpc>
                        <a:spcAft>
                          <a:spcPts val="0"/>
                        </a:spcAft>
                        <a:defRPr sz="1430" b="1">
                          <a:solidFill>
                            <a:srgbClr val="FFFFFF"/>
                          </a:solidFill>
                          <a:latin typeface="Arial" panose="020B0604020202020204"/>
                        </a:defRPr>
                      </a:pPr>
                      <a:r>
                        <a:t>ROC-AUC</a:t>
                      </a:r>
                    </a:p>
                  </a:txBody>
                  <a:tcPr marL="118872" marR="118872" marT="64008" marB="64008" anchor="ctr">
                    <a:solidFill>
                      <a:srgbClr val="F47700"/>
                    </a:solidFill>
                  </a:tcPr>
                </a:tc>
              </a:tr>
              <a:tr h="896112">
                <a:tc>
                  <a:txBody>
                    <a:bodyPr/>
                    <a:lstStyle/>
                    <a:p>
                      <a:pPr>
                        <a:lnSpc>
                          <a:spcPct val="100000"/>
                        </a:lnSpc>
                        <a:spcAft>
                          <a:spcPts val="0"/>
                        </a:spcAft>
                        <a:defRPr sz="1430" b="0">
                          <a:solidFill>
                            <a:srgbClr val="444444"/>
                          </a:solidFill>
                          <a:latin typeface="Arial" panose="020B0604020202020204"/>
                        </a:defRPr>
                      </a:pPr>
                      <a:r>
                        <a:t>M0</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39,5809%</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33,4575%</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99,8830%</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50,1248%</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94,3843%</a:t>
                      </a:r>
                    </a:p>
                  </a:txBody>
                  <a:tcPr marL="118872" marR="118872" marT="64008" marB="64008" anchor="ctr">
                    <a:solidFill>
                      <a:srgbClr val="FFFFFF"/>
                    </a:solidFill>
                  </a:tcPr>
                </a:tc>
              </a:tr>
              <a:tr h="896112">
                <a:tc>
                  <a:txBody>
                    <a:bodyPr/>
                    <a:lstStyle/>
                    <a:p>
                      <a:pPr>
                        <a:lnSpc>
                          <a:spcPct val="100000"/>
                        </a:lnSpc>
                        <a:spcAft>
                          <a:spcPts val="0"/>
                        </a:spcAft>
                        <a:defRPr sz="1430" b="0">
                          <a:solidFill>
                            <a:srgbClr val="444444"/>
                          </a:solidFill>
                          <a:latin typeface="Arial" panose="020B0604020202020204"/>
                        </a:defRPr>
                      </a:pPr>
                      <a:r>
                        <a:t>M1</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42,2102%</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34,2846%</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99,8245%</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51,0396%</a:t>
                      </a:r>
                    </a:p>
                  </a:txBody>
                  <a:tcPr marL="118872" marR="118872" marT="64008" marB="64008" anchor="ctr">
                    <a:solidFill>
                      <a:srgbClr val="F2F8F8"/>
                    </a:solidFill>
                  </a:tcPr>
                </a:tc>
                <a:tc>
                  <a:txBody>
                    <a:bodyPr/>
                    <a:lstStyle/>
                    <a:p>
                      <a:pPr>
                        <a:lnSpc>
                          <a:spcPct val="100000"/>
                        </a:lnSpc>
                        <a:spcAft>
                          <a:spcPts val="0"/>
                        </a:spcAft>
                        <a:defRPr sz="1430" b="0">
                          <a:solidFill>
                            <a:srgbClr val="444444"/>
                          </a:solidFill>
                          <a:latin typeface="Arial" panose="020B0604020202020204"/>
                        </a:defRPr>
                      </a:pPr>
                      <a:r>
                        <a:t>95,3142%</a:t>
                      </a:r>
                    </a:p>
                  </a:txBody>
                  <a:tcPr marL="118872" marR="118872" marT="64008" marB="64008" anchor="ctr">
                    <a:solidFill>
                      <a:srgbClr val="F2F8F8"/>
                    </a:solidFill>
                  </a:tcPr>
                </a:tc>
              </a:tr>
              <a:tr h="896112">
                <a:tc>
                  <a:txBody>
                    <a:bodyPr/>
                    <a:lstStyle/>
                    <a:p>
                      <a:pPr>
                        <a:lnSpc>
                          <a:spcPct val="100000"/>
                        </a:lnSpc>
                        <a:spcAft>
                          <a:spcPts val="0"/>
                        </a:spcAft>
                        <a:defRPr sz="1430" b="0">
                          <a:solidFill>
                            <a:srgbClr val="444444"/>
                          </a:solidFill>
                          <a:latin typeface="Arial" panose="020B0604020202020204"/>
                        </a:defRPr>
                      </a:pPr>
                      <a:r>
                        <a:t>M2</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33,1610%</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31,6679%</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99,7659%</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48,0756%</a:t>
                      </a:r>
                    </a:p>
                  </a:txBody>
                  <a:tcPr marL="118872" marR="118872" marT="64008" marB="64008" anchor="ctr">
                    <a:solidFill>
                      <a:srgbClr val="FFFFFF"/>
                    </a:solidFill>
                  </a:tcPr>
                </a:tc>
                <a:tc>
                  <a:txBody>
                    <a:bodyPr/>
                    <a:lstStyle/>
                    <a:p>
                      <a:pPr>
                        <a:lnSpc>
                          <a:spcPct val="100000"/>
                        </a:lnSpc>
                        <a:spcAft>
                          <a:spcPts val="0"/>
                        </a:spcAft>
                        <a:defRPr sz="1430" b="0">
                          <a:solidFill>
                            <a:srgbClr val="444444"/>
                          </a:solidFill>
                          <a:latin typeface="Arial" panose="020B0604020202020204"/>
                        </a:defRPr>
                      </a:pPr>
                      <a:r>
                        <a:t>90,2737%</a:t>
                      </a:r>
                    </a:p>
                  </a:txBody>
                  <a:tcPr marL="118872" marR="118872" marT="64008" marB="64008" anchor="ctr">
                    <a:solidFill>
                      <a:srgbClr val="FFFFFF"/>
                    </a:solidFill>
                  </a:tcPr>
                </a:tc>
              </a:tr>
            </a:tbl>
          </a:graphicData>
        </a:graphic>
      </p:graphicFrame>
      <p:sp>
        <p:nvSpPr>
          <p:cNvPr id="14" name="TextBox 13"/>
          <p:cNvSpPr txBox="1"/>
          <p:nvPr/>
        </p:nvSpPr>
        <p:spPr>
          <a:xfrm>
            <a:off x="749808" y="5641848"/>
            <a:ext cx="10607040" cy="265176"/>
          </a:xfrm>
          <a:prstGeom prst="rect">
            <a:avLst/>
          </a:prstGeom>
          <a:noFill/>
        </p:spPr>
        <p:txBody>
          <a:bodyPr wrap="square" lIns="22860" tIns="22860" rIns="22860" bIns="22860" anchor="t">
            <a:spAutoFit/>
          </a:bodyPr>
          <a:lstStyle/>
          <a:p>
            <a:pPr algn="l">
              <a:lnSpc>
                <a:spcPct val="108000"/>
              </a:lnSpc>
              <a:spcBef>
                <a:spcPts val="0"/>
              </a:spcBef>
              <a:spcAft>
                <a:spcPts val="0"/>
              </a:spcAft>
              <a:defRPr sz="1050" b="0">
                <a:solidFill>
                  <a:srgbClr val="69757A"/>
                </a:solidFill>
                <a:latin typeface="Arial" panose="020B0604020202020204"/>
              </a:defRPr>
            </a:pPr>
            <a:r>
              <a:t>Macro-F1 M2 − M1: −9,0493 điểm phần trăm · Nhiều thư hợp lệ bị gắn nhầm lớp dương.</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III · KẾT QUẢ VÀ ĐÁNH GIÁ BA MÔ HÌNH</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Kết quả khác nguồn hiển thị trên web</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25312"/>
            <a:ext cx="10744200" cy="356616"/>
          </a:xfrm>
          <a:prstGeom prst="rect">
            <a:avLst/>
          </a:prstGeom>
          <a:noFill/>
        </p:spPr>
        <p:txBody>
          <a:bodyPr wrap="square" lIns="22860" tIns="22860" rIns="22860" bIns="22860" anchor="t">
            <a:spAutoFit/>
          </a:bodyPr>
          <a:lstStyle/>
          <a:p>
            <a:pPr algn="l">
              <a:lnSpc>
                <a:spcPct val="108000"/>
              </a:lnSpc>
              <a:spcBef>
                <a:spcPts val="0"/>
              </a:spcBef>
              <a:spcAft>
                <a:spcPts val="0"/>
              </a:spcAft>
              <a:defRPr sz="820" b="0">
                <a:solidFill>
                  <a:srgbClr val="69757A"/>
                </a:solidFill>
                <a:latin typeface="Arial" panose="020B0604020202020204"/>
              </a:defRPr>
            </a:pPr>
            <a:r>
              <a:t>Nguồn: web DT124 đọc kết quả kiểm tra SpamAssassin đã khóa · 18/10/2026</a:t>
            </a: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28 / 30</a:t>
            </a:r>
          </a:p>
        </p:txBody>
      </p:sp>
      <p:pic>
        <p:nvPicPr>
          <p:cNvPr id="13" name="Picture 12" descr="10_so_sanh_ngoai_nguon.png"/>
          <p:cNvPicPr>
            <a:picLocks noChangeAspect="1"/>
          </p:cNvPicPr>
          <p:nvPr/>
        </p:nvPicPr>
        <p:blipFill>
          <a:blip r:embed="rId2"/>
          <a:stretch>
            <a:fillRect/>
          </a:stretch>
        </p:blipFill>
        <p:spPr>
          <a:xfrm>
            <a:off x="2169007" y="1728216"/>
            <a:ext cx="7841794" cy="3867912"/>
          </a:xfrm>
          <a:prstGeom prst="rect">
            <a:avLst/>
          </a:prstGeom>
        </p:spPr>
      </p:pic>
      <p:sp>
        <p:nvSpPr>
          <p:cNvPr id="14" name="TextBox 13"/>
          <p:cNvSpPr txBox="1"/>
          <p:nvPr/>
        </p:nvSpPr>
        <p:spPr>
          <a:xfrm>
            <a:off x="731520" y="5632704"/>
            <a:ext cx="10698480" cy="265176"/>
          </a:xfrm>
          <a:prstGeom prst="rect">
            <a:avLst/>
          </a:prstGeom>
          <a:noFill/>
        </p:spPr>
        <p:txBody>
          <a:bodyPr wrap="square" lIns="22860" tIns="22860" rIns="22860" bIns="22860" anchor="t">
            <a:spAutoFit/>
          </a:bodyPr>
          <a:lstStyle/>
          <a:p>
            <a:pPr algn="l">
              <a:lnSpc>
                <a:spcPct val="108000"/>
              </a:lnSpc>
              <a:spcBef>
                <a:spcPts val="0"/>
              </a:spcBef>
              <a:spcAft>
                <a:spcPts val="0"/>
              </a:spcAft>
              <a:defRPr sz="1030" b="0">
                <a:solidFill>
                  <a:srgbClr val="444444"/>
                </a:solidFill>
                <a:latin typeface="Arial" panose="020B0604020202020204"/>
              </a:defRPr>
            </a:pPr>
            <a:r>
              <a:t>Macro-F1 M0/M1/M2: 39,5809% / 42,2102% / 33,1610% · M2 báo nhầm 3.679/4.090 thư hợp lệ; chưa phù hợp tự động hóa</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III · KẾT QUẢ VÀ ĐÁNH GIÁ BA MÔ HÌNH</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So sánh tổng hợp: chất lượng và chi phí</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25312"/>
            <a:ext cx="10744200" cy="356616"/>
          </a:xfrm>
          <a:prstGeom prst="rect">
            <a:avLst/>
          </a:prstGeom>
          <a:noFill/>
        </p:spPr>
        <p:txBody>
          <a:bodyPr wrap="square" lIns="22860" tIns="22860" rIns="22860" bIns="22860" anchor="t">
            <a:spAutoFit/>
          </a:bodyPr>
          <a:lstStyle/>
          <a:p>
            <a:pPr algn="l">
              <a:lnSpc>
                <a:spcPct val="108000"/>
              </a:lnSpc>
              <a:spcBef>
                <a:spcPts val="0"/>
              </a:spcBef>
              <a:spcAft>
                <a:spcPts val="0"/>
              </a:spcAft>
              <a:defRPr sz="820" b="0">
                <a:solidFill>
                  <a:srgbClr val="69757A"/>
                </a:solidFill>
                <a:latin typeface="Arial" panose="020B0604020202020204"/>
              </a:defRPr>
            </a:pPr>
            <a:r>
              <a:t>Nguồn: artifacts/model_improvement_v2/results.json · 18/10/2026</a:t>
            </a: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29 / 30</a:t>
            </a:r>
          </a:p>
        </p:txBody>
      </p:sp>
      <p:graphicFrame>
        <p:nvGraphicFramePr>
          <p:cNvPr id="13" name="Table 12"/>
          <p:cNvGraphicFramePr>
            <a:graphicFrameLocks noGrp="1"/>
          </p:cNvGraphicFramePr>
          <p:nvPr/>
        </p:nvGraphicFramePr>
        <p:xfrm>
          <a:off x="722376" y="1819656"/>
          <a:ext cx="10725912" cy="3584448"/>
        </p:xfrm>
        <a:graphic>
          <a:graphicData uri="http://schemas.openxmlformats.org/drawingml/2006/table">
            <a:tbl>
              <a:tblPr firstRow="1" bandRow="1">
                <a:tableStyleId>{5C22544A-7EE6-4342-B048-85BDC9FD1C3A}</a:tableStyleId>
              </a:tblPr>
              <a:tblGrid>
                <a:gridCol w="2926080"/>
                <a:gridCol w="2599944"/>
                <a:gridCol w="2599944"/>
                <a:gridCol w="2599944"/>
              </a:tblGrid>
              <a:tr h="716889">
                <a:tc>
                  <a:txBody>
                    <a:bodyPr/>
                    <a:lstStyle/>
                    <a:p>
                      <a:pPr>
                        <a:lnSpc>
                          <a:spcPct val="100000"/>
                        </a:lnSpc>
                        <a:spcAft>
                          <a:spcPts val="0"/>
                        </a:spcAft>
                        <a:defRPr sz="1700" b="1">
                          <a:solidFill>
                            <a:srgbClr val="FFFFFF"/>
                          </a:solidFill>
                          <a:latin typeface="Arial" panose="020B0604020202020204"/>
                        </a:defRPr>
                      </a:pPr>
                      <a:r>
                        <a:t>Tiêu chí</a:t>
                      </a:r>
                    </a:p>
                  </a:txBody>
                  <a:tcPr marL="118872" marR="118872" marT="64008" marB="64008" anchor="ctr">
                    <a:solidFill>
                      <a:srgbClr val="F47700"/>
                    </a:solidFill>
                  </a:tcPr>
                </a:tc>
                <a:tc>
                  <a:txBody>
                    <a:bodyPr/>
                    <a:lstStyle/>
                    <a:p>
                      <a:pPr>
                        <a:lnSpc>
                          <a:spcPct val="100000"/>
                        </a:lnSpc>
                        <a:spcAft>
                          <a:spcPts val="0"/>
                        </a:spcAft>
                        <a:defRPr sz="1700" b="1">
                          <a:solidFill>
                            <a:srgbClr val="FFFFFF"/>
                          </a:solidFill>
                          <a:latin typeface="Arial" panose="020B0604020202020204"/>
                        </a:defRPr>
                      </a:pPr>
                      <a:r>
                        <a:t>M0</a:t>
                      </a:r>
                    </a:p>
                  </a:txBody>
                  <a:tcPr marL="118872" marR="118872" marT="64008" marB="64008" anchor="ctr">
                    <a:solidFill>
                      <a:srgbClr val="F47700"/>
                    </a:solidFill>
                  </a:tcPr>
                </a:tc>
                <a:tc>
                  <a:txBody>
                    <a:bodyPr/>
                    <a:lstStyle/>
                    <a:p>
                      <a:pPr>
                        <a:lnSpc>
                          <a:spcPct val="100000"/>
                        </a:lnSpc>
                        <a:spcAft>
                          <a:spcPts val="0"/>
                        </a:spcAft>
                        <a:defRPr sz="1700" b="1">
                          <a:solidFill>
                            <a:srgbClr val="FFFFFF"/>
                          </a:solidFill>
                          <a:latin typeface="Arial" panose="020B0604020202020204"/>
                        </a:defRPr>
                      </a:pPr>
                      <a:r>
                        <a:t>M1</a:t>
                      </a:r>
                    </a:p>
                  </a:txBody>
                  <a:tcPr marL="118872" marR="118872" marT="64008" marB="64008" anchor="ctr">
                    <a:solidFill>
                      <a:srgbClr val="F47700"/>
                    </a:solidFill>
                  </a:tcPr>
                </a:tc>
                <a:tc>
                  <a:txBody>
                    <a:bodyPr/>
                    <a:lstStyle/>
                    <a:p>
                      <a:pPr>
                        <a:lnSpc>
                          <a:spcPct val="100000"/>
                        </a:lnSpc>
                        <a:spcAft>
                          <a:spcPts val="0"/>
                        </a:spcAft>
                        <a:defRPr sz="1700" b="1">
                          <a:solidFill>
                            <a:srgbClr val="FFFFFF"/>
                          </a:solidFill>
                          <a:latin typeface="Arial" panose="020B0604020202020204"/>
                        </a:defRPr>
                      </a:pPr>
                      <a:r>
                        <a:t>M2</a:t>
                      </a:r>
                    </a:p>
                  </a:txBody>
                  <a:tcPr marL="118872" marR="118872" marT="64008" marB="64008" anchor="ctr">
                    <a:solidFill>
                      <a:srgbClr val="F47700"/>
                    </a:solidFill>
                  </a:tcPr>
                </a:tc>
              </a:tr>
              <a:tr h="716889">
                <a:tc>
                  <a:txBody>
                    <a:bodyPr/>
                    <a:lstStyle/>
                    <a:p>
                      <a:pPr>
                        <a:lnSpc>
                          <a:spcPct val="100000"/>
                        </a:lnSpc>
                        <a:spcAft>
                          <a:spcPts val="0"/>
                        </a:spcAft>
                        <a:defRPr sz="1700" b="0">
                          <a:solidFill>
                            <a:srgbClr val="444444"/>
                          </a:solidFill>
                          <a:latin typeface="Arial" panose="020B0604020202020204"/>
                        </a:defRPr>
                      </a:pPr>
                      <a:r>
                        <a:t>Macro-F1 Enron</a:t>
                      </a:r>
                    </a:p>
                  </a:txBody>
                  <a:tcPr marL="118872" marR="118872" marT="64008" marB="64008" anchor="ctr">
                    <a:solidFill>
                      <a:srgbClr val="FFFFFF"/>
                    </a:solidFill>
                  </a:tcPr>
                </a:tc>
                <a:tc>
                  <a:txBody>
                    <a:bodyPr/>
                    <a:lstStyle/>
                    <a:p>
                      <a:pPr>
                        <a:lnSpc>
                          <a:spcPct val="100000"/>
                        </a:lnSpc>
                        <a:spcAft>
                          <a:spcPts val="0"/>
                        </a:spcAft>
                        <a:defRPr sz="1700" b="0">
                          <a:solidFill>
                            <a:srgbClr val="444444"/>
                          </a:solidFill>
                          <a:latin typeface="Arial" panose="020B0604020202020204"/>
                        </a:defRPr>
                      </a:pPr>
                      <a:r>
                        <a:t>99,12%</a:t>
                      </a:r>
                    </a:p>
                  </a:txBody>
                  <a:tcPr marL="118872" marR="118872" marT="64008" marB="64008" anchor="ctr">
                    <a:solidFill>
                      <a:srgbClr val="FFFFFF"/>
                    </a:solidFill>
                  </a:tcPr>
                </a:tc>
                <a:tc>
                  <a:txBody>
                    <a:bodyPr/>
                    <a:lstStyle/>
                    <a:p>
                      <a:pPr>
                        <a:lnSpc>
                          <a:spcPct val="100000"/>
                        </a:lnSpc>
                        <a:spcAft>
                          <a:spcPts val="0"/>
                        </a:spcAft>
                        <a:defRPr sz="1700" b="0">
                          <a:solidFill>
                            <a:srgbClr val="444444"/>
                          </a:solidFill>
                          <a:latin typeface="Arial" panose="020B0604020202020204"/>
                        </a:defRPr>
                      </a:pPr>
                      <a:r>
                        <a:t>99,35%</a:t>
                      </a:r>
                    </a:p>
                  </a:txBody>
                  <a:tcPr marL="118872" marR="118872" marT="64008" marB="64008" anchor="ctr">
                    <a:solidFill>
                      <a:srgbClr val="FFFFFF"/>
                    </a:solidFill>
                  </a:tcPr>
                </a:tc>
                <a:tc>
                  <a:txBody>
                    <a:bodyPr/>
                    <a:lstStyle/>
                    <a:p>
                      <a:pPr>
                        <a:lnSpc>
                          <a:spcPct val="100000"/>
                        </a:lnSpc>
                        <a:spcAft>
                          <a:spcPts val="0"/>
                        </a:spcAft>
                        <a:defRPr sz="1700" b="0">
                          <a:solidFill>
                            <a:srgbClr val="444444"/>
                          </a:solidFill>
                          <a:latin typeface="Arial" panose="020B0604020202020204"/>
                        </a:defRPr>
                      </a:pPr>
                      <a:r>
                        <a:t>99,43%</a:t>
                      </a:r>
                    </a:p>
                  </a:txBody>
                  <a:tcPr marL="118872" marR="118872" marT="64008" marB="64008" anchor="ctr">
                    <a:solidFill>
                      <a:srgbClr val="FFFFFF"/>
                    </a:solidFill>
                  </a:tcPr>
                </a:tc>
              </a:tr>
              <a:tr h="716889">
                <a:tc>
                  <a:txBody>
                    <a:bodyPr/>
                    <a:lstStyle/>
                    <a:p>
                      <a:pPr>
                        <a:lnSpc>
                          <a:spcPct val="100000"/>
                        </a:lnSpc>
                        <a:spcAft>
                          <a:spcPts val="0"/>
                        </a:spcAft>
                        <a:defRPr sz="1700" b="0">
                          <a:solidFill>
                            <a:srgbClr val="444444"/>
                          </a:solidFill>
                          <a:latin typeface="Arial" panose="020B0604020202020204"/>
                        </a:defRPr>
                      </a:pPr>
                      <a:r>
                        <a:t>Macro-F1 ngoài nguồn</a:t>
                      </a:r>
                    </a:p>
                  </a:txBody>
                  <a:tcPr marL="118872" marR="118872" marT="64008" marB="64008" anchor="ctr">
                    <a:solidFill>
                      <a:srgbClr val="F2F8F8"/>
                    </a:solidFill>
                  </a:tcPr>
                </a:tc>
                <a:tc>
                  <a:txBody>
                    <a:bodyPr/>
                    <a:lstStyle/>
                    <a:p>
                      <a:pPr>
                        <a:lnSpc>
                          <a:spcPct val="100000"/>
                        </a:lnSpc>
                        <a:spcAft>
                          <a:spcPts val="0"/>
                        </a:spcAft>
                        <a:defRPr sz="1700" b="0">
                          <a:solidFill>
                            <a:srgbClr val="444444"/>
                          </a:solidFill>
                          <a:latin typeface="Arial" panose="020B0604020202020204"/>
                        </a:defRPr>
                      </a:pPr>
                      <a:r>
                        <a:t>39,58%</a:t>
                      </a:r>
                    </a:p>
                  </a:txBody>
                  <a:tcPr marL="118872" marR="118872" marT="64008" marB="64008" anchor="ctr">
                    <a:solidFill>
                      <a:srgbClr val="F2F8F8"/>
                    </a:solidFill>
                  </a:tcPr>
                </a:tc>
                <a:tc>
                  <a:txBody>
                    <a:bodyPr/>
                    <a:lstStyle/>
                    <a:p>
                      <a:pPr>
                        <a:lnSpc>
                          <a:spcPct val="100000"/>
                        </a:lnSpc>
                        <a:spcAft>
                          <a:spcPts val="0"/>
                        </a:spcAft>
                        <a:defRPr sz="1700" b="0">
                          <a:solidFill>
                            <a:srgbClr val="444444"/>
                          </a:solidFill>
                          <a:latin typeface="Arial" panose="020B0604020202020204"/>
                        </a:defRPr>
                      </a:pPr>
                      <a:r>
                        <a:t>42,21%</a:t>
                      </a:r>
                    </a:p>
                  </a:txBody>
                  <a:tcPr marL="118872" marR="118872" marT="64008" marB="64008" anchor="ctr">
                    <a:solidFill>
                      <a:srgbClr val="F2F8F8"/>
                    </a:solidFill>
                  </a:tcPr>
                </a:tc>
                <a:tc>
                  <a:txBody>
                    <a:bodyPr/>
                    <a:lstStyle/>
                    <a:p>
                      <a:pPr>
                        <a:lnSpc>
                          <a:spcPct val="100000"/>
                        </a:lnSpc>
                        <a:spcAft>
                          <a:spcPts val="0"/>
                        </a:spcAft>
                        <a:defRPr sz="1700" b="0">
                          <a:solidFill>
                            <a:srgbClr val="444444"/>
                          </a:solidFill>
                          <a:latin typeface="Arial" panose="020B0604020202020204"/>
                        </a:defRPr>
                      </a:pPr>
                      <a:r>
                        <a:t>33,16%</a:t>
                      </a:r>
                    </a:p>
                  </a:txBody>
                  <a:tcPr marL="118872" marR="118872" marT="64008" marB="64008" anchor="ctr">
                    <a:solidFill>
                      <a:srgbClr val="F2F8F8"/>
                    </a:solidFill>
                  </a:tcPr>
                </a:tc>
              </a:tr>
              <a:tr h="716889">
                <a:tc>
                  <a:txBody>
                    <a:bodyPr/>
                    <a:lstStyle/>
                    <a:p>
                      <a:pPr>
                        <a:lnSpc>
                          <a:spcPct val="100000"/>
                        </a:lnSpc>
                        <a:spcAft>
                          <a:spcPts val="0"/>
                        </a:spcAft>
                        <a:defRPr sz="1700" b="0">
                          <a:solidFill>
                            <a:srgbClr val="444444"/>
                          </a:solidFill>
                          <a:latin typeface="Arial" panose="020B0604020202020204"/>
                        </a:defRPr>
                      </a:pPr>
                      <a:r>
                        <a:t>Model cuối (MB)</a:t>
                      </a:r>
                    </a:p>
                  </a:txBody>
                  <a:tcPr marL="118872" marR="118872" marT="64008" marB="64008" anchor="ctr">
                    <a:solidFill>
                      <a:srgbClr val="FFFFFF"/>
                    </a:solidFill>
                  </a:tcPr>
                </a:tc>
                <a:tc>
                  <a:txBody>
                    <a:bodyPr/>
                    <a:lstStyle/>
                    <a:p>
                      <a:pPr>
                        <a:lnSpc>
                          <a:spcPct val="100000"/>
                        </a:lnSpc>
                        <a:spcAft>
                          <a:spcPts val="0"/>
                        </a:spcAft>
                        <a:defRPr sz="1700" b="0">
                          <a:solidFill>
                            <a:srgbClr val="444444"/>
                          </a:solidFill>
                          <a:latin typeface="Arial" panose="020B0604020202020204"/>
                        </a:defRPr>
                      </a:pPr>
                      <a:r>
                        <a:t>0,97</a:t>
                      </a:r>
                    </a:p>
                  </a:txBody>
                  <a:tcPr marL="118872" marR="118872" marT="64008" marB="64008" anchor="ctr">
                    <a:solidFill>
                      <a:srgbClr val="FFFFFF"/>
                    </a:solidFill>
                  </a:tcPr>
                </a:tc>
                <a:tc>
                  <a:txBody>
                    <a:bodyPr/>
                    <a:lstStyle/>
                    <a:p>
                      <a:pPr>
                        <a:lnSpc>
                          <a:spcPct val="100000"/>
                        </a:lnSpc>
                        <a:spcAft>
                          <a:spcPts val="0"/>
                        </a:spcAft>
                        <a:defRPr sz="1700" b="0">
                          <a:solidFill>
                            <a:srgbClr val="444444"/>
                          </a:solidFill>
                          <a:latin typeface="Arial" panose="020B0604020202020204"/>
                        </a:defRPr>
                      </a:pPr>
                      <a:r>
                        <a:t>3,36</a:t>
                      </a:r>
                    </a:p>
                  </a:txBody>
                  <a:tcPr marL="118872" marR="118872" marT="64008" marB="64008" anchor="ctr">
                    <a:solidFill>
                      <a:srgbClr val="FFFFFF"/>
                    </a:solidFill>
                  </a:tcPr>
                </a:tc>
                <a:tc>
                  <a:txBody>
                    <a:bodyPr/>
                    <a:lstStyle/>
                    <a:p>
                      <a:pPr>
                        <a:lnSpc>
                          <a:spcPct val="100000"/>
                        </a:lnSpc>
                        <a:spcAft>
                          <a:spcPts val="0"/>
                        </a:spcAft>
                        <a:defRPr sz="1700" b="0">
                          <a:solidFill>
                            <a:srgbClr val="444444"/>
                          </a:solidFill>
                          <a:latin typeface="Arial" panose="020B0604020202020204"/>
                        </a:defRPr>
                      </a:pPr>
                      <a:r>
                        <a:t>4,56</a:t>
                      </a:r>
                    </a:p>
                  </a:txBody>
                  <a:tcPr marL="118872" marR="118872" marT="64008" marB="64008" anchor="ctr">
                    <a:solidFill>
                      <a:srgbClr val="FFFFFF"/>
                    </a:solidFill>
                  </a:tcPr>
                </a:tc>
              </a:tr>
              <a:tr h="716892">
                <a:tc>
                  <a:txBody>
                    <a:bodyPr/>
                    <a:lstStyle/>
                    <a:p>
                      <a:pPr>
                        <a:lnSpc>
                          <a:spcPct val="100000"/>
                        </a:lnSpc>
                        <a:spcAft>
                          <a:spcPts val="0"/>
                        </a:spcAft>
                        <a:defRPr sz="1700" b="0">
                          <a:solidFill>
                            <a:srgbClr val="444444"/>
                          </a:solidFill>
                          <a:latin typeface="Arial" panose="020B0604020202020204"/>
                        </a:defRPr>
                      </a:pPr>
                      <a:r>
                        <a:t>Suy luận (ms/email)</a:t>
                      </a:r>
                    </a:p>
                  </a:txBody>
                  <a:tcPr marL="118872" marR="118872" marT="64008" marB="64008" anchor="ctr">
                    <a:solidFill>
                      <a:srgbClr val="F2F8F8"/>
                    </a:solidFill>
                  </a:tcPr>
                </a:tc>
                <a:tc>
                  <a:txBody>
                    <a:bodyPr/>
                    <a:lstStyle/>
                    <a:p>
                      <a:pPr>
                        <a:lnSpc>
                          <a:spcPct val="100000"/>
                        </a:lnSpc>
                        <a:spcAft>
                          <a:spcPts val="0"/>
                        </a:spcAft>
                        <a:defRPr sz="1700" b="0">
                          <a:solidFill>
                            <a:srgbClr val="444444"/>
                          </a:solidFill>
                          <a:latin typeface="Arial" panose="020B0604020202020204"/>
                        </a:defRPr>
                      </a:pPr>
                      <a:r>
                        <a:t>0,056</a:t>
                      </a:r>
                    </a:p>
                  </a:txBody>
                  <a:tcPr marL="118872" marR="118872" marT="64008" marB="64008" anchor="ctr">
                    <a:solidFill>
                      <a:srgbClr val="F2F8F8"/>
                    </a:solidFill>
                  </a:tcPr>
                </a:tc>
                <a:tc>
                  <a:txBody>
                    <a:bodyPr/>
                    <a:lstStyle/>
                    <a:p>
                      <a:pPr>
                        <a:lnSpc>
                          <a:spcPct val="100000"/>
                        </a:lnSpc>
                        <a:spcAft>
                          <a:spcPts val="0"/>
                        </a:spcAft>
                        <a:defRPr sz="1700" b="0">
                          <a:solidFill>
                            <a:srgbClr val="444444"/>
                          </a:solidFill>
                          <a:latin typeface="Arial" panose="020B0604020202020204"/>
                        </a:defRPr>
                      </a:pPr>
                      <a:r>
                        <a:t>0,636</a:t>
                      </a:r>
                    </a:p>
                  </a:txBody>
                  <a:tcPr marL="118872" marR="118872" marT="64008" marB="64008" anchor="ctr">
                    <a:solidFill>
                      <a:srgbClr val="F2F8F8"/>
                    </a:solidFill>
                  </a:tcPr>
                </a:tc>
                <a:tc>
                  <a:txBody>
                    <a:bodyPr/>
                    <a:lstStyle/>
                    <a:p>
                      <a:pPr>
                        <a:lnSpc>
                          <a:spcPct val="100000"/>
                        </a:lnSpc>
                        <a:spcAft>
                          <a:spcPts val="0"/>
                        </a:spcAft>
                        <a:defRPr sz="1700" b="0">
                          <a:solidFill>
                            <a:srgbClr val="444444"/>
                          </a:solidFill>
                          <a:latin typeface="Arial" panose="020B0604020202020204"/>
                        </a:defRPr>
                      </a:pPr>
                      <a:r>
                        <a:t>0,585</a:t>
                      </a:r>
                    </a:p>
                  </a:txBody>
                  <a:tcPr marL="118872" marR="118872" marT="64008" marB="64008" anchor="ctr">
                    <a:solidFill>
                      <a:srgbClr val="F2F8F8"/>
                    </a:solidFill>
                  </a:tcPr>
                </a:tc>
              </a:tr>
            </a:tbl>
          </a:graphicData>
        </a:graphic>
      </p:graphicFrame>
      <p:sp>
        <p:nvSpPr>
          <p:cNvPr id="14" name="TextBox 13"/>
          <p:cNvSpPr txBox="1"/>
          <p:nvPr/>
        </p:nvSpPr>
        <p:spPr>
          <a:xfrm>
            <a:off x="749808" y="5641848"/>
            <a:ext cx="10607040" cy="265176"/>
          </a:xfrm>
          <a:prstGeom prst="rect">
            <a:avLst/>
          </a:prstGeom>
          <a:noFill/>
        </p:spPr>
        <p:txBody>
          <a:bodyPr wrap="square" lIns="22860" tIns="22860" rIns="22860" bIns="22860" anchor="t">
            <a:spAutoFit/>
          </a:bodyPr>
          <a:lstStyle/>
          <a:p>
            <a:pPr algn="l">
              <a:lnSpc>
                <a:spcPct val="108000"/>
              </a:lnSpc>
              <a:spcBef>
                <a:spcPts val="0"/>
              </a:spcBef>
              <a:spcAft>
                <a:spcPts val="0"/>
              </a:spcAft>
              <a:defRPr sz="1050" b="0">
                <a:solidFill>
                  <a:srgbClr val="69757A"/>
                </a:solidFill>
                <a:latin typeface="Arial" panose="020B0604020202020204"/>
              </a:defRPr>
            </a:pPr>
            <a:r>
              <a:t>Thời gian suy luận: trung bình mỗi email trong batch 1.000 trên máy hiện tại; chưa phải benchmark phần cứng chuẩn.</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descr="1"/>
          <p:cNvPicPr>
            <a:picLocks noChangeAspect="1"/>
          </p:cNvPicPr>
          <p:nvPr/>
        </p:nvPicPr>
        <p:blipFill>
          <a:blip r:embed="rId1"/>
          <a:srcRect t="10941" b="20601"/>
          <a:stretch>
            <a:fillRect/>
          </a:stretch>
        </p:blipFill>
        <p:spPr>
          <a:xfrm>
            <a:off x="6507480" y="-1191260"/>
            <a:ext cx="9418320" cy="9239885"/>
          </a:xfrm>
          <a:prstGeom prst="rect">
            <a:avLst/>
          </a:prstGeom>
        </p:spPr>
      </p:pic>
      <p:sp>
        <p:nvSpPr>
          <p:cNvPr id="2" name="圆角矩形 1"/>
          <p:cNvSpPr/>
          <p:nvPr/>
        </p:nvSpPr>
        <p:spPr>
          <a:xfrm>
            <a:off x="161925" y="247650"/>
            <a:ext cx="11868150" cy="6285865"/>
          </a:xfrm>
          <a:prstGeom prst="roundRect">
            <a:avLst>
              <a:gd name="adj" fmla="val 10607"/>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cs typeface="G8321" panose="00000505000000000000" charset="0"/>
            </a:endParaRPr>
          </a:p>
        </p:txBody>
      </p:sp>
      <p:sp>
        <p:nvSpPr>
          <p:cNvPr id="6" name="TextBox 5"/>
          <p:cNvSpPr txBox="1"/>
          <p:nvPr/>
        </p:nvSpPr>
        <p:spPr>
          <a:xfrm>
            <a:off x="658368" y="393192"/>
            <a:ext cx="10881360" cy="256032"/>
          </a:xfrm>
          <a:prstGeom prst="rect">
            <a:avLst/>
          </a:prstGeom>
          <a:noFill/>
        </p:spPr>
        <p:txBody>
          <a:bodyPr wrap="square" lIns="22860" tIns="22860" rIns="22860" bIns="22860" anchor="t">
            <a:spAutoFit/>
          </a:bodyPr>
          <a:lstStyle/>
          <a:p>
            <a:pPr algn="l">
              <a:lnSpc>
                <a:spcPct val="108000"/>
              </a:lnSpc>
              <a:spcBef>
                <a:spcPts val="0"/>
              </a:spcBef>
              <a:spcAft>
                <a:spcPts val="800"/>
              </a:spcAft>
              <a:defRPr sz="1020" b="1">
                <a:solidFill>
                  <a:srgbClr val="137F85"/>
                </a:solidFill>
                <a:latin typeface="Arial" panose="020B0604020202020204"/>
              </a:defRPr>
            </a:pPr>
            <a:r>
              <a:t>PHẦN III · KẾT QUẢ VÀ ĐÁNH GIÁ BA MÔ HÌNH</a:t>
            </a:r>
          </a:p>
        </p:txBody>
      </p:sp>
      <p:sp>
        <p:nvSpPr>
          <p:cNvPr id="7" name="TextBox 6"/>
          <p:cNvSpPr txBox="1"/>
          <p:nvPr/>
        </p:nvSpPr>
        <p:spPr>
          <a:xfrm>
            <a:off x="658368" y="813816"/>
            <a:ext cx="10835640" cy="731520"/>
          </a:xfrm>
          <a:prstGeom prst="rect">
            <a:avLst/>
          </a:prstGeom>
          <a:noFill/>
        </p:spPr>
        <p:txBody>
          <a:bodyPr wrap="square" lIns="22860" tIns="22860" rIns="22860" bIns="22860" anchor="t">
            <a:spAutoFit/>
          </a:bodyPr>
          <a:lstStyle/>
          <a:p>
            <a:pPr algn="l">
              <a:lnSpc>
                <a:spcPct val="108000"/>
              </a:lnSpc>
              <a:spcBef>
                <a:spcPts val="0"/>
              </a:spcBef>
              <a:spcAft>
                <a:spcPts val="800"/>
              </a:spcAft>
              <a:defRPr sz="2700" b="1">
                <a:solidFill>
                  <a:srgbClr val="F47700"/>
                </a:solidFill>
                <a:latin typeface="Arial" panose="020B0604020202020204"/>
              </a:defRPr>
            </a:pPr>
            <a:r>
              <a:t>Kết luận và hướng phát triển</a:t>
            </a:r>
          </a:p>
        </p:txBody>
      </p:sp>
      <p:sp>
        <p:nvSpPr>
          <p:cNvPr id="8" name="Rectangle 7"/>
          <p:cNvSpPr/>
          <p:nvPr/>
        </p:nvSpPr>
        <p:spPr>
          <a:xfrm>
            <a:off x="685800" y="1517904"/>
            <a:ext cx="566928" cy="41148"/>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98448" y="1517904"/>
            <a:ext cx="2194560" cy="41148"/>
          </a:xfrm>
          <a:prstGeom prst="rect">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925312"/>
            <a:ext cx="10744200" cy="356616"/>
          </a:xfrm>
          <a:prstGeom prst="rect">
            <a:avLst/>
          </a:prstGeom>
          <a:noFill/>
        </p:spPr>
        <p:txBody>
          <a:bodyPr wrap="square" lIns="22860" tIns="22860" rIns="22860" bIns="22860" anchor="t">
            <a:spAutoFit/>
          </a:bodyPr>
          <a:lstStyle/>
          <a:p>
            <a:pPr algn="l">
              <a:lnSpc>
                <a:spcPct val="108000"/>
              </a:lnSpc>
              <a:spcBef>
                <a:spcPts val="0"/>
              </a:spcBef>
              <a:spcAft>
                <a:spcPts val="0"/>
              </a:spcAft>
              <a:defRPr sz="820" b="0">
                <a:solidFill>
                  <a:srgbClr val="69757A"/>
                </a:solidFill>
                <a:latin typeface="Arial" panose="020B0604020202020204"/>
              </a:defRPr>
            </a:pPr>
            <a:r>
              <a:t>Nguồn: kết quả DT124 · ICMI 2024 · Zenodo 8339691 · ACL P12-2018</a:t>
            </a:r>
          </a:p>
        </p:txBody>
      </p:sp>
      <p:sp>
        <p:nvSpPr>
          <p:cNvPr id="11" name="TextBox 10"/>
          <p:cNvSpPr txBox="1"/>
          <p:nvPr/>
        </p:nvSpPr>
        <p:spPr>
          <a:xfrm>
            <a:off x="694944" y="6556248"/>
            <a:ext cx="9784080" cy="192024"/>
          </a:xfrm>
          <a:prstGeom prst="rect">
            <a:avLst/>
          </a:prstGeom>
          <a:noFill/>
        </p:spPr>
        <p:txBody>
          <a:bodyPr wrap="square" lIns="22860" tIns="22860" rIns="22860" bIns="22860" anchor="t">
            <a:spAutoFit/>
          </a:bodyPr>
          <a:lstStyle/>
          <a:p>
            <a:pPr algn="l">
              <a:lnSpc>
                <a:spcPct val="108000"/>
              </a:lnSpc>
              <a:spcBef>
                <a:spcPts val="0"/>
              </a:spcBef>
              <a:spcAft>
                <a:spcPts val="800"/>
              </a:spcAft>
              <a:defRPr sz="850" b="0">
                <a:solidFill>
                  <a:srgbClr val="FFFFFF"/>
                </a:solidFill>
                <a:latin typeface="Arial" panose="020B0604020202020204"/>
              </a:defRPr>
            </a:pPr>
            <a:r>
              <a:t>DT124 · Phân tích EML ngoại tuyến</a:t>
            </a:r>
          </a:p>
        </p:txBody>
      </p:sp>
      <p:sp>
        <p:nvSpPr>
          <p:cNvPr id="12" name="TextBox 11"/>
          <p:cNvSpPr txBox="1"/>
          <p:nvPr/>
        </p:nvSpPr>
        <p:spPr>
          <a:xfrm>
            <a:off x="10863072" y="6556248"/>
            <a:ext cx="640080" cy="192024"/>
          </a:xfrm>
          <a:prstGeom prst="rect">
            <a:avLst/>
          </a:prstGeom>
          <a:noFill/>
        </p:spPr>
        <p:txBody>
          <a:bodyPr wrap="square" lIns="22860" tIns="22860" rIns="22860" bIns="22860" anchor="t">
            <a:spAutoFit/>
          </a:bodyPr>
          <a:lstStyle/>
          <a:p>
            <a:pPr algn="r">
              <a:lnSpc>
                <a:spcPct val="108000"/>
              </a:lnSpc>
              <a:spcBef>
                <a:spcPts val="0"/>
              </a:spcBef>
              <a:spcAft>
                <a:spcPts val="800"/>
              </a:spcAft>
              <a:defRPr sz="850" b="0">
                <a:solidFill>
                  <a:srgbClr val="FFFFFF"/>
                </a:solidFill>
                <a:latin typeface="Arial" panose="020B0604020202020204"/>
              </a:defRPr>
            </a:pPr>
            <a:r>
              <a:t>30 / 30</a:t>
            </a:r>
          </a:p>
        </p:txBody>
      </p:sp>
      <p:sp>
        <p:nvSpPr>
          <p:cNvPr id="13" name="Rounded Rectangle 12"/>
          <p:cNvSpPr/>
          <p:nvPr/>
        </p:nvSpPr>
        <p:spPr>
          <a:xfrm>
            <a:off x="713232" y="185623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77824" y="2066543"/>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01</a:t>
            </a:r>
          </a:p>
        </p:txBody>
      </p:sp>
      <p:sp>
        <p:nvSpPr>
          <p:cNvPr id="16" name="TextBox 15"/>
          <p:cNvSpPr txBox="1"/>
          <p:nvPr/>
        </p:nvSpPr>
        <p:spPr>
          <a:xfrm>
            <a:off x="1554480" y="2066543"/>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Đã có ứng dụng EML ngoại tuyến, demo và bằng chứng tái lập</a:t>
            </a:r>
          </a:p>
        </p:txBody>
      </p:sp>
      <p:sp>
        <p:nvSpPr>
          <p:cNvPr id="17" name="Rounded Rectangle 16"/>
          <p:cNvSpPr/>
          <p:nvPr/>
        </p:nvSpPr>
        <p:spPr>
          <a:xfrm>
            <a:off x="6153912" y="185623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18504" y="2066543"/>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936" y="2139696"/>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02</a:t>
            </a:r>
          </a:p>
        </p:txBody>
      </p:sp>
      <p:sp>
        <p:nvSpPr>
          <p:cNvPr id="20" name="TextBox 19"/>
          <p:cNvSpPr txBox="1"/>
          <p:nvPr/>
        </p:nvSpPr>
        <p:spPr>
          <a:xfrm>
            <a:off x="6995160" y="2066543"/>
            <a:ext cx="4078224" cy="878840"/>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Enron: M2 &gt; M1 &gt; M0; </a:t>
            </a:r>
          </a:p>
          <a:p>
            <a:pPr algn="l">
              <a:lnSpc>
                <a:spcPct val="108000"/>
              </a:lnSpc>
              <a:spcBef>
                <a:spcPts val="0"/>
              </a:spcBef>
              <a:spcAft>
                <a:spcPts val="800"/>
              </a:spcAft>
              <a:defRPr sz="2200" b="0">
                <a:solidFill>
                  <a:srgbClr val="444444"/>
                </a:solidFill>
                <a:latin typeface="Arial" panose="020B0604020202020204"/>
              </a:defRPr>
            </a:pPr>
            <a:r>
              <a:t>ngoài nguồn: M1 &gt; M0 &gt; M2</a:t>
            </a:r>
          </a:p>
        </p:txBody>
      </p:sp>
      <p:sp>
        <p:nvSpPr>
          <p:cNvPr id="21" name="Rounded Rectangle 20"/>
          <p:cNvSpPr/>
          <p:nvPr/>
        </p:nvSpPr>
        <p:spPr>
          <a:xfrm>
            <a:off x="713232" y="3822191"/>
            <a:ext cx="5202936" cy="1746504"/>
          </a:xfrm>
          <a:prstGeom prst="roundRect">
            <a:avLst>
              <a:gd name="adj" fmla="val 12000"/>
            </a:avLst>
          </a:prstGeom>
          <a:solidFill>
            <a:srgbClr val="F2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77824" y="4032504"/>
            <a:ext cx="466344" cy="457200"/>
          </a:xfrm>
          <a:prstGeom prst="roundRect">
            <a:avLst>
              <a:gd name="adj" fmla="val 12000"/>
            </a:avLst>
          </a:prstGeom>
          <a:solidFill>
            <a:srgbClr val="F47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525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FFFFFF"/>
                </a:solidFill>
                <a:latin typeface="Arial" panose="020B0604020202020204"/>
              </a:defRPr>
            </a:pPr>
            <a:r>
              <a:t>03</a:t>
            </a:r>
          </a:p>
        </p:txBody>
      </p:sp>
      <p:sp>
        <p:nvSpPr>
          <p:cNvPr id="24" name="TextBox 23"/>
          <p:cNvSpPr txBox="1"/>
          <p:nvPr/>
        </p:nvSpPr>
        <p:spPr>
          <a:xfrm>
            <a:off x="155448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Chưa có mô hình tốt nhất cho mọi nguồn; chưa đủ để dùng tự động</a:t>
            </a:r>
          </a:p>
        </p:txBody>
      </p:sp>
      <p:sp>
        <p:nvSpPr>
          <p:cNvPr id="25" name="Rounded Rectangle 24"/>
          <p:cNvSpPr/>
          <p:nvPr/>
        </p:nvSpPr>
        <p:spPr>
          <a:xfrm>
            <a:off x="6153912" y="3822191"/>
            <a:ext cx="5202936" cy="1746504"/>
          </a:xfrm>
          <a:prstGeom prst="roundRect">
            <a:avLst>
              <a:gd name="adj" fmla="val 12000"/>
            </a:avLst>
          </a:prstGeom>
          <a:solidFill>
            <a:srgbClr val="FFF4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18504" y="4032504"/>
            <a:ext cx="466344" cy="457200"/>
          </a:xfrm>
          <a:prstGeom prst="roundRect">
            <a:avLst>
              <a:gd name="adj" fmla="val 12000"/>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4105655"/>
            <a:ext cx="411480" cy="292608"/>
          </a:xfrm>
          <a:prstGeom prst="rect">
            <a:avLst/>
          </a:prstGeom>
          <a:noFill/>
        </p:spPr>
        <p:txBody>
          <a:bodyPr wrap="square" lIns="22860" tIns="22860" rIns="22860" bIns="22860" anchor="t">
            <a:spAutoFit/>
          </a:bodyPr>
          <a:lstStyle/>
          <a:p>
            <a:pPr algn="ctr">
              <a:lnSpc>
                <a:spcPct val="108000"/>
              </a:lnSpc>
              <a:spcBef>
                <a:spcPts val="0"/>
              </a:spcBef>
              <a:spcAft>
                <a:spcPts val="800"/>
              </a:spcAft>
              <a:defRPr sz="1600" b="1">
                <a:solidFill>
                  <a:srgbClr val="444444"/>
                </a:solidFill>
                <a:latin typeface="Arial" panose="020B0604020202020204"/>
              </a:defRPr>
            </a:pPr>
            <a:r>
              <a:t>04</a:t>
            </a:r>
          </a:p>
        </p:txBody>
      </p:sp>
      <p:sp>
        <p:nvSpPr>
          <p:cNvPr id="28" name="TextBox 27"/>
          <p:cNvSpPr txBox="1"/>
          <p:nvPr/>
        </p:nvSpPr>
        <p:spPr>
          <a:xfrm>
            <a:off x="6995160" y="4032504"/>
            <a:ext cx="4078224" cy="1307592"/>
          </a:xfrm>
          <a:prstGeom prst="rect">
            <a:avLst/>
          </a:prstGeom>
          <a:noFill/>
        </p:spPr>
        <p:txBody>
          <a:bodyPr wrap="square" lIns="22860" tIns="22860" rIns="22860" bIns="22860" anchor="t">
            <a:spAutoFit/>
          </a:bodyPr>
          <a:lstStyle/>
          <a:p>
            <a:pPr algn="l">
              <a:lnSpc>
                <a:spcPct val="108000"/>
              </a:lnSpc>
              <a:spcBef>
                <a:spcPts val="0"/>
              </a:spcBef>
              <a:spcAft>
                <a:spcPts val="800"/>
              </a:spcAft>
              <a:defRPr sz="2200" b="0">
                <a:solidFill>
                  <a:srgbClr val="444444"/>
                </a:solidFill>
                <a:latin typeface="Arial" panose="020B0604020202020204"/>
              </a:defRPr>
            </a:pPr>
            <a:r>
              <a:t>Tiếp theo: chuẩn hóa thống nhất, huấn luyện đa nguồn, kiểm tra tập mới</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2.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63.xml><?xml version="1.0" encoding="utf-8"?>
<p:tagLst xmlns:p="http://schemas.openxmlformats.org/presentationml/2006/main">
  <p:tag name="KSO_WPP_MARK_KEY" val="7d49844e-2d38-4537-99bc-1474c442cd04"/>
  <p:tag name="COMMONDATA" val="eyJoZGlkIjoiMmNmYmEwOWQ4Y2Q0M2IxMGZkNjI4ZjhkZDQyNzg1OTYifQ=="/>
</p:tagLst>
</file>

<file path=ppt/theme/theme1.xml><?xml version="1.0" encoding="utf-8"?>
<a:theme xmlns:a="http://schemas.openxmlformats.org/drawingml/2006/main" name="Office 主题​​">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G8321"/>
        <a:ea typeface="G8321"/>
        <a:cs typeface=""/>
      </a:majorFont>
      <a:minorFont>
        <a:latin typeface="G8321"/>
        <a:ea typeface="G8321"/>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G8321"/>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8321"/>
        <a:ea typeface=""/>
        <a:cs typeface=""/>
        <a:font script="Jpan" typeface="ＭＳ Ｐゴシック"/>
        <a:font script="Hang" typeface="맑은 고딕"/>
        <a:font script="Hans" typeface="G8321"/>
        <a:font script="Hant" typeface="新細明體"/>
        <a:font script="Arab" typeface="G8321"/>
        <a:font script="Hebr" typeface="G8321"/>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G8321"/>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G8321"/>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8321"/>
        <a:ea typeface=""/>
        <a:cs typeface=""/>
        <a:font script="Jpan" typeface="ＭＳ Ｐゴシック"/>
        <a:font script="Hang" typeface="맑은 고딕"/>
        <a:font script="Hans" typeface="G8321"/>
        <a:font script="Hant" typeface="新細明體"/>
        <a:font script="Arab" typeface="G8321"/>
        <a:font script="Hebr" typeface="G8321"/>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G8321"/>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11429</Words>
  <Application>WPS Presentation</Application>
  <PresentationFormat>宽屏</PresentationFormat>
  <Paragraphs>854</Paragraphs>
  <Slides>30</Slides>
  <Notes>4</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30</vt:i4>
      </vt:variant>
    </vt:vector>
  </HeadingPairs>
  <TitlesOfParts>
    <vt:vector size="39" baseType="lpstr">
      <vt:lpstr>Arial</vt:lpstr>
      <vt:lpstr>SimSun</vt:lpstr>
      <vt:lpstr>Wingdings</vt:lpstr>
      <vt:lpstr>G8321</vt:lpstr>
      <vt:lpstr>Wingdings</vt:lpstr>
      <vt:lpstr>Microsoft YaHei</vt:lpstr>
      <vt:lpstr>Arial</vt:lpstr>
      <vt:lpstr>Arial Unicode MS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DT124 – Báo cáo giữa kỳ và kết quả demo web</dc:title>
  <dc:creator>DT124</dc:creator>
  <dc:description>Adapted from the user-provided WPS Presentation1.pptx template.</dc:description>
  <dc:subject>Báo cáo 30 trang theo mẫu WPS, kèm ảnh giao diện và kết quả thực từ web cục bộ</dc:subject>
  <cp:lastModifiedBy>Phát Nguyễn đức</cp:lastModifiedBy>
  <cp:revision>167</cp:revision>
  <dcterms:created xsi:type="dcterms:W3CDTF">2019-06-19T02:08:00Z</dcterms:created>
  <dcterms:modified xsi:type="dcterms:W3CDTF">2026-10-18T09:29:32Z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1033-12.1.0.29162</vt:lpwstr>
  </property>
  <property fmtid="{D5CDD505-2E9C-101B-9397-08002B2CF9AE}" pid="3" name="ICV">
    <vt:lpwstr>51774011F15A4CFAB622903C403DE6BF_11</vt:lpwstr>
  </property>
</Properties>
</file>