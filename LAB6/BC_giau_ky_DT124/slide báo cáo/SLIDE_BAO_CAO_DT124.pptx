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19"/>
  </p:handoutMasterIdLst>
  <p:sldIdLst>
    <p:sldId id="438" r:id="rId3"/>
    <p:sldId id="443" r:id="rId5"/>
    <p:sldId id="447" r:id="rId6"/>
    <p:sldId id="450" r:id="rId7"/>
    <p:sldId id="451" r:id="rId8"/>
    <p:sldId id="453" r:id="rId9"/>
    <p:sldId id="454" r:id="rId10"/>
    <p:sldId id="455" r:id="rId11"/>
    <p:sldId id="461" r:id="rId12"/>
    <p:sldId id="468" r:id="rId13"/>
    <p:sldId id="462" r:id="rId14"/>
    <p:sldId id="463" r:id="rId15"/>
    <p:sldId id="464" r:id="rId16"/>
    <p:sldId id="465" r:id="rId17"/>
    <p:sldId id="466" r:id="rId18"/>
  </p:sldIdLst>
  <p:sldSz cx="12192000" cy="6858000"/>
  <p:notesSz cx="6858000" cy="9144000"/>
  <p:embeddedFontLst>
    <p:embeddedFont>
      <p:font typeface="G8321" panose="00000505000000000000" charset="0"/>
      <p:regular r:id="rId23"/>
    </p:embeddedFont>
  </p:embeddedFontLst>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7203"/>
    <a:srgbClr val="EA2F13"/>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6"/>
        <p:guide pos="382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gs" Target="tags/tag63.xml"/><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G8321" panose="00000505000000000000" charset="0"/>
              <a:ea typeface="G8321" panose="00000505000000000000" charset="0"/>
              <a:cs typeface="G8321" panose="00000505000000000000"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G8321" panose="00000505000000000000" charset="0"/>
                <a:ea typeface="G8321" panose="00000505000000000000" charset="0"/>
                <a:cs typeface="G8321" panose="00000505000000000000" charset="0"/>
              </a:rPr>
            </a:fld>
            <a:endParaRPr lang="zh-CN" altLang="en-US">
              <a:latin typeface="G8321" panose="00000505000000000000" charset="0"/>
              <a:ea typeface="G8321" panose="00000505000000000000" charset="0"/>
              <a:cs typeface="G8321" panose="00000505000000000000"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G8321" panose="00000505000000000000" charset="0"/>
              <a:ea typeface="G8321" panose="00000505000000000000" charset="0"/>
              <a:cs typeface="G8321" panose="00000505000000000000"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G8321" panose="00000505000000000000" charset="0"/>
                <a:ea typeface="G8321" panose="00000505000000000000" charset="0"/>
                <a:cs typeface="G8321" panose="00000505000000000000" charset="0"/>
              </a:rPr>
            </a:fld>
            <a:endParaRPr lang="zh-CN" altLang="en-US">
              <a:latin typeface="G8321" panose="00000505000000000000" charset="0"/>
              <a:ea typeface="G8321" panose="00000505000000000000" charset="0"/>
              <a:cs typeface="G8321" panose="00000505000000000000"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G8321" panose="00000505000000000000" charset="0"/>
                <a:ea typeface="G8321" panose="00000505000000000000" charset="0"/>
                <a:cs typeface="G8321" panose="00000505000000000000"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G8321" panose="00000505000000000000" charset="0"/>
                <a:ea typeface="G8321" panose="00000505000000000000" charset="0"/>
                <a:cs typeface="G8321" panose="00000505000000000000" charset="0"/>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G8321" panose="00000505000000000000" charset="0"/>
                <a:ea typeface="G8321" panose="00000505000000000000" charset="0"/>
                <a:cs typeface="G8321" panose="00000505000000000000"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G8321" panose="00000505000000000000" charset="0"/>
                <a:ea typeface="G8321" panose="00000505000000000000" charset="0"/>
                <a:cs typeface="G8321" panose="00000505000000000000" charset="0"/>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G8321" panose="00000505000000000000" charset="0"/>
        <a:ea typeface="G8321" panose="00000505000000000000" charset="0"/>
        <a:cs typeface="G8321" panose="00000505000000000000" charset="0"/>
      </a:defRPr>
    </a:lvl1pPr>
    <a:lvl2pPr marL="457200" algn="l" defTabSz="914400" rtl="0" eaLnBrk="1" latinLnBrk="0" hangingPunct="1">
      <a:defRPr sz="1200" kern="1200">
        <a:solidFill>
          <a:schemeClr val="tx1"/>
        </a:solidFill>
        <a:latin typeface="G8321" panose="00000505000000000000" charset="0"/>
        <a:ea typeface="G8321" panose="00000505000000000000" charset="0"/>
        <a:cs typeface="G8321" panose="00000505000000000000" charset="0"/>
      </a:defRPr>
    </a:lvl2pPr>
    <a:lvl3pPr marL="914400" algn="l" defTabSz="914400" rtl="0" eaLnBrk="1" latinLnBrk="0" hangingPunct="1">
      <a:defRPr sz="1200" kern="1200">
        <a:solidFill>
          <a:schemeClr val="tx1"/>
        </a:solidFill>
        <a:latin typeface="G8321" panose="00000505000000000000" charset="0"/>
        <a:ea typeface="G8321" panose="00000505000000000000" charset="0"/>
        <a:cs typeface="G8321" panose="00000505000000000000" charset="0"/>
      </a:defRPr>
    </a:lvl3pPr>
    <a:lvl4pPr marL="1371600" algn="l" defTabSz="914400" rtl="0" eaLnBrk="1" latinLnBrk="0" hangingPunct="1">
      <a:defRPr sz="1200" kern="1200">
        <a:solidFill>
          <a:schemeClr val="tx1"/>
        </a:solidFill>
        <a:latin typeface="G8321" panose="00000505000000000000" charset="0"/>
        <a:ea typeface="G8321" panose="00000505000000000000" charset="0"/>
        <a:cs typeface="G8321" panose="00000505000000000000" charset="0"/>
      </a:defRPr>
    </a:lvl4pPr>
    <a:lvl5pPr marL="1828800" algn="l" defTabSz="914400" rtl="0" eaLnBrk="1" latinLnBrk="0" hangingPunct="1">
      <a:defRPr sz="1200" kern="1200">
        <a:solidFill>
          <a:schemeClr val="tx1"/>
        </a:solidFill>
        <a:latin typeface="G8321" panose="00000505000000000000" charset="0"/>
        <a:ea typeface="G8321" panose="00000505000000000000" charset="0"/>
        <a:cs typeface="G8321" panose="00000505000000000000"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Giới thiệu đề tài DT124. Bài báo cáo trình bày ứng dụng phân tích EML chạy cục bộ và thực nghiệm ba phương pháp phân loại nội dung. Điền tên, MSSV, lớp và giảng viên trước khi nộp. Bộ slide có đúng 30 trang và dùng nguyên artwork, theme, master từ mẫu WPS Presentation1.pptx do sinh viên cung cấp. Các ảnh demo được chụp từ ứng dụng web chạy thật; không dùng bản vẽ giả lập giao diện.</a:t>
            </a:r>
          </a:p>
          <a:p/>
          <a:p>
            <a:r>
              <a:t>Nguồn nội dung: DT124 · Báo cáo giữa kỳ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Tệp Enron.csv từ record Zenodo 8339691 là dữ liệu gắn nhãn của nhóm tác giả, không phải archive Enron EML chưa có nhãn của CMU. Đã kiểm checksum và số hàng gốc. Sau bỏ 344 bản trùng, còn 29.423 email gồm 15.474 nhãn 0 và 13.949 nhãn 1. Nhãn dương được diễn đạt là spam/phishing theo curator để phản ánh phạm vi thực. CSV không có raw header/MIME/attachment nên các chỉ báo đó không được đưa vào metric học máy.</a:t>
            </a:r>
          </a:p>
          <a:p/>
          <a:p>
            <a:r>
              <a:t>Nguồn nội dung: Nguồn: Champa và cộng sự, ICMI 2024 · Zenodo 8339691 · CC BY 4.0</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Sơ đồ nối tệp EML tới parser có giới hạn, sau đó tách nhánh metadata/chỉ báo tĩnh và Subject/Body cho M0/M1/M2. Kết quả đi vào giao diện và JSON có hash; nội dung thư dùng suy luận không được xuất trong JSON. Nhánh nghiên cứu đọc CSV để tạo các artifacts trước khi ứng dụng chạy. Toàn bộ phân tích EML hoạt động ngoại tuyến: không truy cập URL hoặc render HTML, không giải mã nội dung tệp đính kèm.</a:t>
            </a:r>
          </a:p>
          <a:p/>
          <a:p>
            <a:r>
              <a:t>Nguồn nội dung: Nguồn: mã nguồn DT124 và giao diện ứng dụng chạy cục bộ</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Giới thiệu màn hình chạy thật. Thanh điều hướng có Phân tích EML, So sánh mô hình và Dữ liệu Enron. Chỉ dùng ảnh chụp dữ liệu mẫu tổng hợp để không đưa thông tin email cá nhân lên slide. Màn hình phân tích tách dự đoán nội dung khỏi các chỉ báo EML.</a:t>
            </a:r>
          </a:p>
          <a:p/>
          <a:p>
            <a:r>
              <a:t>Nguồn nội dung: Nguồn: ảnh chụp ứng dụng Streamlit DT124 chạy thật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Trang so sánh đọc results.json thay vì nhập điểm bằng tay. Người dùng xem macro-F1, P/R/F1, số FP/FN, khoảng tin cậy, cấu hình lựa chọn và kết quả external. Cần nói rõ M2 là vòng nghiên cứu thăm dò tiếp sau khi đã xem M0/M1; tập external được khóa trước dự đoán cho vòng M2.</a:t>
            </a:r>
          </a:p>
          <a:p/>
          <a:p>
            <a:r>
              <a:t>Nguồn nội dung: Nguồn: ảnh chụp ứng dụng Streamlit DT124 chạy thật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Mở benign_synthetic.eml. Giao diện chạy thật ghi 0 chỉ báo, 1 URL và 0 tệp đính kèm; ba model đều dự đoán lớp 0. Margin M0/M1/M2 lần lượt −0,3285/−0,2418/−0,4746. Đây là kết quả của một mẫu tổng hợp, không cộng vào benchmark. Việc không thấy chỉ báo bất thường không đồng nghĩa đã chứng minh thư an toàn. Bằng chứng ảnh và kết quả tại kết quả/demo kết quả/demo_capture.json.</a:t>
            </a:r>
          </a:p>
          <a:p/>
          <a:p>
            <a:r>
              <a:t>Nguồn nội dung: Nguồn: ảnh chụp ứng dụng Streamlit DT124 chạy thật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Mở suspicious_synthetic.eml, dùng địa chỉ giả lập và miền .test. Giao diện chạy thật ghi 5 chỉ báo, 2 URL và 1 tệp đính kèm; ba model đều dự đoán lớp 1. Margin M0/M1/M2 lần lượt +0,3139/+0,5734/+0,9163. Chỉ rõ từng dấu hiệu From/Reply-To, URL hoặc attachment trong giao diện. Không lấy số chỉ báo làm xác suất phishing. Điểm SVM có dấu là margin, không phải phần trăm rủi ro; không so trực tiếp độ lớn margin giữa ba model. Mẫu tổng hợp không đưa vào điểm thực nghiệm.</a:t>
            </a:r>
          </a:p>
          <a:p/>
          <a:p>
            <a:r>
              <a:t>Nguồn nội dung: Nguồn: ảnh chụp ứng dụng Streamlit DT124 chạy thật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Ảnh chụp thật phần chỉ báo của mẫu suspicious_synthetic.eml. Giải thích từng dấu hiệu đang hiển thị thay vì chỉ nêu tổng số. Năm chỉ báo là From/Reply-To khác miền, tên miền liên kết hiển thị khác đích, phần mở rộng tệp rủi ro, tên tệp có nhiều đuôi và khai báo lỗi xác thực trong header không đáng tin cậy. Tên miền .test, địa chỉ email và nội dung đều là dữ liệu tổng hợp. Chỉ báo tĩnh được trình bày riêng với kết luận của ba mô hình văn bản. Không coi một chỉ báo đơn lẻ là bằng chứng chắc chắn phishing; không mở URL và không chạy attachment. Bộ demo đi kèm còn có ảnh header/xác thực, URL và metadata tệp đính kèm để giảng viên xem chi tiết.</a:t>
            </a:r>
          </a:p>
          <a:p/>
          <a:p>
            <a:r>
              <a:t>Nguồn nội dung: Nguồn: ứng dụng Streamlit DT124 · suspicious_synthetic.eml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Bảng tính từ dự đoán pooled OOF trên cùng 29.423 email. Macro-F1 là trung bình F1 hai lớp; P/R/F1 (+) chỉ lớp dương. Accuracy lần lượt 99,1231%; 99,3474%; 99,4290%. Đọc đúng đơn vị: tăng điểm phần trăm F1 khác giảm tương đối số lỗi. Không lấy điểm train của model fit toàn bộ Enron thay vào bảng.</a:t>
            </a:r>
          </a:p>
          <a:p/>
          <a:p>
            <a:r>
              <a:t>Nguồn nội dung: Nguồn: artifacts/model_improvement_v2/results.json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Ma trận có thứ tự [[TN,FP],[FN,TP]]. TN/TP cũng hiển thị để kiểm tổng 29.423 mẫu. M0 có 186 FP và 72 FN, M1 136/56, M2 113/55. So M2 với M1: sửa 65, tạo 41, do đó giảm ròng 24 lỗi; không nói M2 sửa mọi lỗi cũ. M1 so M0 giảm 25,5814% lỗi; M2 so M0 giảm 34,8837%. Tỷ lệ FP có mẫu số là 15.474 thư hợp lệ, không phải toàn bộ tập. Bootstrap ghép cặp theo nhóm · 2.000 lượt · CI 95% M1 − M0: [+0,1526; +0,2997] điểm phần trăm M2 − M1: [+0,0169; +0,1523] điểm phần trăm CI có điều kiện trên dự đoán đã lưu; không huấn luyện lại từng lượt Các CI Enron loại trừ 0 theo hướng tăng điểm, hỗ trợ mức cải thiện trong corpus/cách chia này. Tuy nhiên bootstrap giữ nguyên mô hình và dự đoán OOF, không refit, không khử được thiết kế thích nghi vòng M2, nhãn sai, mẫu gần trùng chưa phát hiện hoặc lệch miền. Vì thế kết luận đúng là cải thiện Enron trong phạm vi thực nghiệm; không suy ra tốt hơn với mọi nguồn email hay vượt paper. Chênh M2−M0 có CI [+0,2194; +0,3986] điểm phần trăm.</a:t>
            </a:r>
          </a:p>
          <a:p/>
          <a:p>
            <a:r>
              <a:t>Nguồn nội dung: Nguồn: artifacts/model_improvement_v2/results.json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Ảnh được chụp từ trang so sánh ba mô hình của ứng dụng đang chạy, với số liệu do artifacts/model_improvement_v2/results.json cung cấp. Có thể đối chiếu bảng điểm ở trang 24 và bảng số lỗi ở trang 25 với màn hình này. Không lấy điểm trên dữ liệu huấn luyện để thay pooled OOF. Các CI Enron loại trừ 0 theo hướng tăng điểm, hỗ trợ mức cải thiện trong corpus/cách chia này. Tuy nhiên bootstrap giữ nguyên mô hình và dự đoán OOF, không refit, không khử được thiết kế thích nghi vòng M2, nhãn sai, mẫu gần trùng chưa phát hiện hoặc lệch miền. Vì thế kết luận đúng là cải thiện Enron trong phạm vi thực nghiệm; không suy ra tốt hơn với mọi nguồn email hay vượt paper. Chênh M2−M0 có CI [+0,2194; +0,3986] điểm phần trăm.</a:t>
            </a:r>
          </a:p>
          <a:p/>
          <a:p>
            <a:r>
              <a:t>Nguồn nội dung: Nguồn: web DT124 đọc artifacts/model_improvement_v2/results.json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Điểm ngoài nguồn thấp dù điểm Enron cao. Precision lớp dương chỉ khoảng 31–34% trong khi recall gần 100%, cho thấy model có xu hướng gắn phần lớn thư là dương. Không dùng kết quả này để đổi lựa chọn model hoặc threshold trong cùng phép xác nhận. Accuracy external M0/M1/M2 lần lượt 41,4209%; 43,5592%; 36,4890%. CI95% M2−M1 ngoài nguồn là [-9,9873; -8,0719] điểm phần trăm. Các lỗi ngoài nguồn (FP/FN/tổng): M0 3.395/2/3.397; M1 3.270/3/3.273; M2 3.679/4/3.683. Bảng FP/FN làm rõ tại sao recall cao không đồng nghĩa chất lượng tốt. Audit độc lập không phát hiện đảo nhãn hoặc sai phép tính; cả hai tệp khớp số lớp ở Table I của paper. Trên CSV gốc, Enron có 0% URL liền http(s)://, trong khi SpamAssassin có 86,75% lớp 0 và 59,55% lớp 1; dấu câu có khoảng trắng hai bên ở Enron là 98,78%/97,63%, SpamAssassin là 10,88%/16,18%. Đây là mô tả phân bố chứ chưa chứng minh nhân quả. Không đổ lỗi trực tiếp cho chữ hoa vì vectorizer chuyển chữ thường. ROC-AUC cũng giảm từ 95,31% ở M1 xuống 90,27% ở M2, nên vấn đề không chỉ là ngưỡng. Tập external là corpus lịch sử tiếng Anh; chưa đại diện phishing Việt Nam hiện nay.</a:t>
            </a:r>
          </a:p>
          <a:p/>
          <a:p>
            <a:r>
              <a:t>Nguồn nội dung: Nguồn: artifacts/model_improvement_v2/results.json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Ảnh thật phần đánh giá ngoài nguồn trên trang so sánh. Nói rõ điểm trên 5.799 email SpamAssassin khác rất xa điểm trên Enron. M1 tốt nhất trong ba mô hình ở phép kiểm tra này; M2 kém M1 và M0. Kết quả được trình bày nguyên trạng, không chỉnh ngưỡng sau khi xem tập kiểm tra. Bảng FP/FN làm rõ tại sao recall cao không đồng nghĩa chất lượng tốt. Audit độc lập không phát hiện đảo nhãn hoặc sai phép tính; cả hai tệp khớp số lớp ở Table I của paper. Trên CSV gốc, Enron có 0% URL liền http(s)://, trong khi SpamAssassin có 86,75% lớp 0 và 59,55% lớp 1; dấu câu có khoảng trắng hai bên ở Enron là 98,78%/97,63%, SpamAssassin là 10,88%/16,18%. Đây là mô tả phân bố chứ chưa chứng minh nhân quả. Không đổ lỗi trực tiếp cho chữ hoa vì vectorizer chuyển chữ thường. ROC-AUC cũng giảm từ 95,31% ở M1 xuống 90,27% ở M2, nên vấn đề không chỉ là ngưỡng. Tập external là corpus lịch sử tiếng Anh; chưa đại diện phishing Việt Nam hiện nay.</a:t>
            </a:r>
          </a:p>
          <a:p/>
          <a:p>
            <a:r>
              <a:t>Nguồn nội dung: Nguồn: web DT124 đọc kết quả kiểm tra SpamAssassin đã khóa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Dung lượng là byte/1.000.000; thời gian suy luận trung bình mỗi email trong batch 1.000 trên máy hiện tại, không phải độ trễ đơn thư hoặc benchmark phần cứng chuẩn. M0 fit 4,04 giây, M1 56,40 giây, M2 53,86 giây cho model cuối; chưa bao gồm toàn bộ tìm kiếm. M2 tổng nghiên cứu 1.649,82 giây, nested 827,13 giây với 3 jobs; không so trực tiếp thành tốc độ thuật toán với M1 vì phạm vi tìm kiếm khác. M2 tốn thêm tài nguyên và chưa cải thiện chuyển nguồn. Dù M1 cao nhất external, đây không phải lựa chọn triển khai được xác nhận bằng tập test mới.</a:t>
            </a:r>
          </a:p>
          <a:p/>
          <a:p>
            <a:r>
              <a:t>Nguồn nội dung: Nguồn: artifacts/model_improvement_v2/results.json · 18/10/2026</a:t>
            </a:r>
          </a:p>
          <a:p>
            <a:r>
              <a:t>Thiết kế: mẫu Presentation1.pptx do sinh viên cung cấp từ WPS; giữ artwork, theme và master.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G8321" panose="00000505000000000000" charset="0"/>
                <a:ea typeface="G8321" panose="00000505000000000000" charset="0"/>
                <a:cs typeface="G8321" panose="00000505000000000000" charset="0"/>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G8321" panose="00000505000000000000" charset="0"/>
                <a:ea typeface="G8321" panose="00000505000000000000" charset="0"/>
                <a:cs typeface="G8321" panose="00000505000000000000" charset="0"/>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G8321" panose="00000505000000000000" charset="0"/>
                <a:ea typeface="G8321" panose="00000505000000000000" charset="0"/>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G8321" panose="00000505000000000000" charset="0"/>
                <a:ea typeface="G8321" panose="00000505000000000000" charset="0"/>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G8321" panose="00000505000000000000" charset="0"/>
                <a:ea typeface="G8321" panose="00000505000000000000" charset="0"/>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G8321" panose="00000505000000000000" charset="0"/>
                <a:ea typeface="G8321" panose="00000505000000000000" charset="0"/>
              </a:defRPr>
            </a:lvl4pPr>
            <a:lvl5pPr eaLnBrk="1" fontAlgn="auto" latinLnBrk="0" hangingPunct="1">
              <a:lnSpc>
                <a:spcPct val="120000"/>
              </a:lnSpc>
              <a:defRPr sz="1400" u="none" strike="noStrike" kern="1200" cap="none" spc="150" normalizeH="0">
                <a:solidFill>
                  <a:schemeClr val="tx1">
                    <a:lumMod val="65000"/>
                    <a:lumOff val="35000"/>
                  </a:schemeClr>
                </a:solidFill>
                <a:latin typeface="G8321" panose="00000505000000000000"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G8321" panose="00000505000000000000" charset="0"/>
                <a:ea typeface="G8321" panose="00000505000000000000" charset="0"/>
                <a:cs typeface="G8321" panose="00000505000000000000" charset="0"/>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G8321" panose="00000505000000000000" charset="0"/>
                <a:ea typeface="G8321" panose="0000050500000000000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G8321" panose="00000505000000000000" charset="0"/>
                <a:ea typeface="G8321" panose="00000505000000000000" charset="0"/>
                <a:cs typeface="G8321" panose="00000505000000000000" charset="0"/>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G8321" panose="00000505000000000000" charset="0"/>
                <a:ea typeface="G8321" panose="00000505000000000000" charset="0"/>
                <a:cs typeface="G8321" panose="00000505000000000000" charset="0"/>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Microsoft YaHei"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Microsoft YaHei"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Microsoft YaHei"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Microsoft YaHei"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Microsoft YaHei"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G8321" panose="00000505000000000000" charset="0"/>
                <a:ea typeface="G8321" panose="00000505000000000000" charset="0"/>
                <a:cs typeface="G8321" panose="00000505000000000000" charset="0"/>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G8321" panose="00000505000000000000" charset="0"/>
                <a:ea typeface="G8321" panose="00000505000000000000" charset="0"/>
                <a:cs typeface="G8321" panose="00000505000000000000" charset="0"/>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G8321" panose="00000505000000000000" charset="0"/>
                <a:ea typeface="G8321" panose="00000505000000000000" charset="0"/>
                <a:cs typeface="G8321" panose="00000505000000000000"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G8321" panose="00000505000000000000" charset="0"/>
                <a:ea typeface="G8321" panose="00000505000000000000" charset="0"/>
                <a:cs typeface="G8321" panose="00000505000000000000" charset="0"/>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G8321" panose="00000505000000000000" charset="0"/>
                <a:ea typeface="G8321" panose="00000505000000000000" charset="0"/>
                <a:cs typeface="G8321" panose="00000505000000000000" charset="0"/>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G8321" panose="00000505000000000000" charset="0"/>
          <a:ea typeface="G8321" panose="00000505000000000000" charset="0"/>
          <a:cs typeface="G8321" panose="00000505000000000000"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G8321" panose="00000505000000000000" charset="0"/>
          <a:ea typeface="G8321" panose="00000505000000000000" charset="0"/>
          <a:cs typeface="G8321" panose="00000505000000000000"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G8321" panose="00000505000000000000" charset="0"/>
          <a:ea typeface="G8321" panose="00000505000000000000" charset="0"/>
          <a:cs typeface="G8321" panose="00000505000000000000" charset="0"/>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G8321" panose="00000505000000000000" charset="0"/>
          <a:ea typeface="G8321" panose="00000505000000000000" charset="0"/>
          <a:cs typeface="G8321" panose="00000505000000000000"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G8321" panose="00000505000000000000" charset="0"/>
          <a:ea typeface="G8321" panose="00000505000000000000" charset="0"/>
          <a:cs typeface="G8321" panose="00000505000000000000" charset="0"/>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G8321" panose="00000505000000000000" charset="0"/>
          <a:ea typeface="G8321" panose="00000505000000000000" charset="0"/>
          <a:cs typeface="G8321" panose="00000505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259830" y="-1947545"/>
            <a:ext cx="11184890" cy="10972800"/>
          </a:xfrm>
          <a:prstGeom prst="rect">
            <a:avLst/>
          </a:prstGeom>
        </p:spPr>
      </p:pic>
      <p:cxnSp>
        <p:nvCxnSpPr>
          <p:cNvPr id="9" name="直接连接符 8"/>
          <p:cNvCxnSpPr/>
          <p:nvPr/>
        </p:nvCxnSpPr>
        <p:spPr>
          <a:xfrm>
            <a:off x="0" y="4251960"/>
            <a:ext cx="3032125"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58368" y="1170432"/>
            <a:ext cx="6309360" cy="685800"/>
          </a:xfrm>
          <a:prstGeom prst="rect">
            <a:avLst/>
          </a:prstGeom>
          <a:noFill/>
        </p:spPr>
        <p:txBody>
          <a:bodyPr wrap="square" lIns="22860" tIns="22860" rIns="22860" bIns="22860" anchor="t">
            <a:spAutoFit/>
          </a:bodyPr>
          <a:lstStyle/>
          <a:p>
            <a:pPr algn="l">
              <a:lnSpc>
                <a:spcPct val="108000"/>
              </a:lnSpc>
              <a:spcBef>
                <a:spcPts val="0"/>
              </a:spcBef>
              <a:spcAft>
                <a:spcPts val="800"/>
              </a:spcAft>
              <a:defRPr sz="4400" b="1">
                <a:solidFill>
                  <a:srgbClr val="FFC000"/>
                </a:solidFill>
                <a:latin typeface="Arial" panose="020B0604020202020204"/>
              </a:defRPr>
            </a:pPr>
            <a:r>
              <a:t>DT124</a:t>
            </a:r>
          </a:p>
        </p:txBody>
      </p:sp>
      <p:sp>
        <p:nvSpPr>
          <p:cNvPr id="11" name="TextBox 10"/>
          <p:cNvSpPr txBox="1"/>
          <p:nvPr/>
        </p:nvSpPr>
        <p:spPr>
          <a:xfrm>
            <a:off x="658368" y="2075688"/>
            <a:ext cx="6400800" cy="1417320"/>
          </a:xfrm>
          <a:prstGeom prst="rect">
            <a:avLst/>
          </a:prstGeom>
          <a:noFill/>
        </p:spPr>
        <p:txBody>
          <a:bodyPr wrap="square" lIns="22860" tIns="22860" rIns="22860" bIns="22860" anchor="t">
            <a:spAutoFit/>
          </a:bodyPr>
          <a:lstStyle/>
          <a:p>
            <a:pPr algn="l">
              <a:lnSpc>
                <a:spcPct val="108000"/>
              </a:lnSpc>
              <a:spcBef>
                <a:spcPts val="0"/>
              </a:spcBef>
              <a:spcAft>
                <a:spcPts val="800"/>
              </a:spcAft>
              <a:defRPr sz="3700" b="1">
                <a:solidFill>
                  <a:srgbClr val="FFFFFF"/>
                </a:solidFill>
                <a:latin typeface="Arial" panose="020B0604020202020204"/>
              </a:defRPr>
            </a:pPr>
            <a:r>
              <a:t>Phân tích email EML</a:t>
            </a:r>
          </a:p>
          <a:p>
            <a:pPr algn="l">
              <a:lnSpc>
                <a:spcPct val="108000"/>
              </a:lnSpc>
              <a:spcBef>
                <a:spcPts val="0"/>
              </a:spcBef>
              <a:spcAft>
                <a:spcPts val="800"/>
              </a:spcAft>
              <a:defRPr sz="3700" b="1">
                <a:solidFill>
                  <a:srgbClr val="FFFFFF"/>
                </a:solidFill>
                <a:latin typeface="Arial" panose="020B0604020202020204"/>
              </a:defRPr>
            </a:pPr>
            <a:r>
              <a:t>ngoại tuyến</a:t>
            </a:r>
          </a:p>
        </p:txBody>
      </p:sp>
      <p:sp>
        <p:nvSpPr>
          <p:cNvPr id="12" name="TextBox 11"/>
          <p:cNvSpPr txBox="1"/>
          <p:nvPr/>
        </p:nvSpPr>
        <p:spPr>
          <a:xfrm>
            <a:off x="685800" y="3685032"/>
            <a:ext cx="6172200" cy="411480"/>
          </a:xfrm>
          <a:prstGeom prst="rect">
            <a:avLst/>
          </a:prstGeom>
          <a:noFill/>
        </p:spPr>
        <p:txBody>
          <a:bodyPr wrap="square" lIns="22860" tIns="22860" rIns="22860" bIns="22860" anchor="t">
            <a:spAutoFit/>
          </a:bodyPr>
          <a:lstStyle/>
          <a:p>
            <a:pPr algn="l">
              <a:lnSpc>
                <a:spcPct val="108000"/>
              </a:lnSpc>
              <a:spcBef>
                <a:spcPts val="0"/>
              </a:spcBef>
              <a:spcAft>
                <a:spcPts val="800"/>
              </a:spcAft>
              <a:defRPr sz="1900" b="1">
                <a:solidFill>
                  <a:srgbClr val="FFFFFF"/>
                </a:solidFill>
                <a:latin typeface="Arial" panose="020B0604020202020204"/>
              </a:defRPr>
            </a:pPr>
            <a:r>
              <a:t>BÁO CÁO GIỮA KỲ · 2026</a:t>
            </a:r>
          </a:p>
        </p:txBody>
      </p:sp>
      <p:sp>
        <p:nvSpPr>
          <p:cNvPr id="13" name="TextBox 12"/>
          <p:cNvSpPr txBox="1"/>
          <p:nvPr/>
        </p:nvSpPr>
        <p:spPr>
          <a:xfrm>
            <a:off x="685800" y="4507992"/>
            <a:ext cx="6217920" cy="678815"/>
          </a:xfrm>
          <a:prstGeom prst="rect">
            <a:avLst/>
          </a:prstGeom>
          <a:noFill/>
        </p:spPr>
        <p:txBody>
          <a:bodyPr wrap="square" lIns="22860" tIns="22860" rIns="22860" bIns="22860" anchor="t">
            <a:spAutoFit/>
          </a:bodyPr>
          <a:lstStyle/>
          <a:p>
            <a:pPr algn="l">
              <a:lnSpc>
                <a:spcPct val="108000"/>
              </a:lnSpc>
              <a:spcBef>
                <a:spcPts val="0"/>
              </a:spcBef>
              <a:spcAft>
                <a:spcPts val="800"/>
              </a:spcAft>
              <a:defRPr sz="1600" b="0">
                <a:solidFill>
                  <a:srgbClr val="FFFFFF"/>
                </a:solidFill>
                <a:latin typeface="Arial" panose="020B0604020202020204"/>
              </a:defRPr>
            </a:pPr>
            <a:r>
              <a:t>Xây dựng ứng dụng và đánh giá ba mô hình M0 </a:t>
            </a:r>
          </a:p>
          <a:p>
            <a:pPr algn="l">
              <a:lnSpc>
                <a:spcPct val="108000"/>
              </a:lnSpc>
              <a:spcBef>
                <a:spcPts val="0"/>
              </a:spcBef>
              <a:spcAft>
                <a:spcPts val="800"/>
              </a:spcAft>
              <a:defRPr sz="1600" b="0">
                <a:solidFill>
                  <a:srgbClr val="FFFFFF"/>
                </a:solidFill>
                <a:latin typeface="Arial" panose="020B0604020202020204"/>
              </a:defRPr>
            </a:pPr>
            <a:r>
              <a:t>Từ dữ liệu nghiên cứu đến demo và kết quả thực nghiệm</a:t>
            </a:r>
          </a:p>
        </p:txBody>
      </p:sp>
      <p:sp>
        <p:nvSpPr>
          <p:cNvPr id="14" name="TextBox 13"/>
          <p:cNvSpPr txBox="1"/>
          <p:nvPr/>
        </p:nvSpPr>
        <p:spPr>
          <a:xfrm>
            <a:off x="685800" y="5742432"/>
            <a:ext cx="6675120" cy="579120"/>
          </a:xfrm>
          <a:prstGeom prst="rect">
            <a:avLst/>
          </a:prstGeom>
          <a:noFill/>
        </p:spPr>
        <p:txBody>
          <a:bodyPr wrap="square" lIns="22860" tIns="22860" rIns="22860" bIns="22860" anchor="t">
            <a:spAutoFit/>
          </a:bodyPr>
          <a:lstStyle/>
          <a:p>
            <a:pPr algn="l">
              <a:lnSpc>
                <a:spcPct val="108000"/>
              </a:lnSpc>
              <a:spcBef>
                <a:spcPts val="0"/>
              </a:spcBef>
              <a:spcAft>
                <a:spcPts val="800"/>
              </a:spcAft>
              <a:defRPr sz="1300" b="0">
                <a:solidFill>
                  <a:srgbClr val="FFFFFF"/>
                </a:solidFill>
                <a:latin typeface="Arial" panose="020B0604020202020204"/>
              </a:defRPr>
            </a:pPr>
            <a:r>
              <a:t>Sinh viên / MSSV: </a:t>
            </a:r>
            <a:r>
              <a:rPr lang="en-US"/>
              <a:t>nguyễn đức phát / 1150080152</a:t>
            </a:r>
            <a:endParaRPr lang="en-US"/>
          </a:p>
          <a:p>
            <a:pPr algn="l">
              <a:lnSpc>
                <a:spcPct val="108000"/>
              </a:lnSpc>
              <a:spcBef>
                <a:spcPts val="0"/>
              </a:spcBef>
              <a:spcAft>
                <a:spcPts val="800"/>
              </a:spcAft>
              <a:defRPr sz="1300" b="0">
                <a:solidFill>
                  <a:srgbClr val="FFFFFF"/>
                </a:solidFill>
                <a:latin typeface="Arial" panose="020B0604020202020204"/>
              </a:defRPr>
            </a:pPr>
            <a:r>
              <a:t>Lớp / Giảng viên:</a:t>
            </a:r>
            <a:r>
              <a:rPr lang="en-US"/>
              <a:t> 11-ĐH-THMT / Phạm Trọng Huynh</a:t>
            </a:r>
            <a:endParaRPr lang="en-US"/>
          </a:p>
        </p:txBody>
      </p:sp>
      <p:sp>
        <p:nvSpPr>
          <p:cNvPr id="15" name="TextBox 14"/>
          <p:cNvSpPr txBox="1"/>
          <p:nvPr/>
        </p:nvSpPr>
        <p:spPr>
          <a:xfrm>
            <a:off x="10744200" y="6492240"/>
            <a:ext cx="731520" cy="228600"/>
          </a:xfrm>
          <a:prstGeom prst="rect">
            <a:avLst/>
          </a:prstGeom>
          <a:noFill/>
        </p:spPr>
        <p:txBody>
          <a:bodyPr wrap="square" lIns="22860" tIns="22860" rIns="22860" bIns="22860" anchor="t">
            <a:spAutoFit/>
          </a:bodyPr>
          <a:lstStyle/>
          <a:p>
            <a:pPr algn="r">
              <a:lnSpc>
                <a:spcPct val="108000"/>
              </a:lnSpc>
              <a:spcBef>
                <a:spcPts val="0"/>
              </a:spcBef>
              <a:spcAft>
                <a:spcPts val="800"/>
              </a:spcAft>
              <a:defRPr sz="900" b="0">
                <a:solidFill>
                  <a:srgbClr val="FFFFFF"/>
                </a:solidFill>
                <a:latin typeface="Arial" panose="020B0604020202020204"/>
              </a:defRPr>
            </a:pPr>
            <a:r>
              <a:t>01 / 30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 · ĐẶT VẤN ĐỀ, MỤC TIÊU, DỮ LIỆU VÀ KIẾN TRÚC</a:t>
            </a:r>
          </a:p>
        </p:txBody>
      </p:sp>
      <p:sp>
        <p:nvSpPr>
          <p:cNvPr id="7" name="TextBox 6"/>
          <p:cNvSpPr txBox="1"/>
          <p:nvPr/>
        </p:nvSpPr>
        <p:spPr>
          <a:xfrm>
            <a:off x="658368" y="813816"/>
            <a:ext cx="10835640" cy="731520"/>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Dữ liệu nghiên cứu: Enron có nhãn</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06 / 30</a:t>
            </a:r>
          </a:p>
        </p:txBody>
      </p:sp>
      <p:graphicFrame>
        <p:nvGraphicFramePr>
          <p:cNvPr id="13" name="Table 12"/>
          <p:cNvGraphicFramePr>
            <a:graphicFrameLocks noGrp="1"/>
          </p:cNvGraphicFramePr>
          <p:nvPr/>
        </p:nvGraphicFramePr>
        <p:xfrm>
          <a:off x="722376" y="1819656"/>
          <a:ext cx="10725912" cy="3584448"/>
        </p:xfrm>
        <a:graphic>
          <a:graphicData uri="http://schemas.openxmlformats.org/drawingml/2006/table">
            <a:tbl>
              <a:tblPr firstRow="1" bandRow="1">
                <a:tableStyleId>{5C22544A-7EE6-4342-B048-85BDC9FD1C3A}</a:tableStyleId>
              </a:tblPr>
              <a:tblGrid>
                <a:gridCol w="3337560"/>
                <a:gridCol w="7388352"/>
              </a:tblGrid>
              <a:tr h="597408">
                <a:tc>
                  <a:txBody>
                    <a:bodyPr/>
                    <a:lstStyle/>
                    <a:p>
                      <a:pPr>
                        <a:lnSpc>
                          <a:spcPct val="100000"/>
                        </a:lnSpc>
                        <a:spcAft>
                          <a:spcPts val="0"/>
                        </a:spcAft>
                        <a:defRPr sz="1700" b="1">
                          <a:solidFill>
                            <a:srgbClr val="FFFFFF"/>
                          </a:solidFill>
                          <a:latin typeface="Arial" panose="020B0604020202020204"/>
                        </a:defRPr>
                      </a:pPr>
                      <a:r>
                        <a:t>Thuộc tính</a:t>
                      </a:r>
                    </a:p>
                  </a:txBody>
                  <a:tcPr marL="118872" marR="118872" marT="64008" marB="64008" anchor="ctr">
                    <a:solidFill>
                      <a:srgbClr val="F47700"/>
                    </a:solidFill>
                  </a:tcPr>
                </a:tc>
                <a:tc>
                  <a:txBody>
                    <a:bodyPr/>
                    <a:lstStyle/>
                    <a:p>
                      <a:pPr>
                        <a:lnSpc>
                          <a:spcPct val="100000"/>
                        </a:lnSpc>
                        <a:spcAft>
                          <a:spcPts val="0"/>
                        </a:spcAft>
                        <a:defRPr sz="1700" b="1">
                          <a:solidFill>
                            <a:srgbClr val="FFFFFF"/>
                          </a:solidFill>
                          <a:latin typeface="Arial" panose="020B0604020202020204"/>
                        </a:defRPr>
                      </a:pPr>
                      <a:r>
                        <a:t>Giá trị đã kiểm tra</a:t>
                      </a:r>
                    </a:p>
                  </a:txBody>
                  <a:tcPr marL="118872" marR="118872" marT="64008" marB="64008" anchor="ctr">
                    <a:solidFill>
                      <a:srgbClr val="F47700"/>
                    </a:solidFill>
                  </a:tcPr>
                </a:tc>
              </a:tr>
              <a:tr h="597408">
                <a:tc>
                  <a:txBody>
                    <a:bodyPr/>
                    <a:lstStyle/>
                    <a:p>
                      <a:pPr>
                        <a:lnSpc>
                          <a:spcPct val="100000"/>
                        </a:lnSpc>
                        <a:spcAft>
                          <a:spcPts val="0"/>
                        </a:spcAft>
                        <a:defRPr sz="1700" b="0">
                          <a:solidFill>
                            <a:srgbClr val="444444"/>
                          </a:solidFill>
                          <a:latin typeface="Arial" panose="020B0604020202020204"/>
                        </a:defRPr>
                      </a:pPr>
                      <a:r>
                        <a:t>Tệp</a:t>
                      </a:r>
                    </a:p>
                  </a:txBody>
                  <a:tcPr marL="118872" marR="118872" marT="64008" marB="64008" anchor="ctr">
                    <a:solidFill>
                      <a:srgbClr val="FFFFFF"/>
                    </a:solidFill>
                  </a:tcPr>
                </a:tc>
                <a:tc>
                  <a:txBody>
                    <a:bodyPr/>
                    <a:lstStyle/>
                    <a:p>
                      <a:pPr>
                        <a:lnSpc>
                          <a:spcPct val="100000"/>
                        </a:lnSpc>
                        <a:spcAft>
                          <a:spcPts val="0"/>
                        </a:spcAft>
                        <a:defRPr sz="1700" b="0">
                          <a:solidFill>
                            <a:srgbClr val="444444"/>
                          </a:solidFill>
                          <a:latin typeface="Arial" panose="020B0604020202020204"/>
                        </a:defRPr>
                      </a:pPr>
                      <a:r>
                        <a:t>Enron.csv · 44.837.129 byte</a:t>
                      </a:r>
                    </a:p>
                  </a:txBody>
                  <a:tcPr marL="118872" marR="118872" marT="64008" marB="64008" anchor="ctr">
                    <a:solidFill>
                      <a:srgbClr val="FFFFFF"/>
                    </a:solidFill>
                  </a:tcPr>
                </a:tc>
              </a:tr>
              <a:tr h="597408">
                <a:tc>
                  <a:txBody>
                    <a:bodyPr/>
                    <a:lstStyle/>
                    <a:p>
                      <a:pPr>
                        <a:lnSpc>
                          <a:spcPct val="100000"/>
                        </a:lnSpc>
                        <a:spcAft>
                          <a:spcPts val="0"/>
                        </a:spcAft>
                        <a:defRPr sz="1700" b="0">
                          <a:solidFill>
                            <a:srgbClr val="444444"/>
                          </a:solidFill>
                          <a:latin typeface="Arial" panose="020B0604020202020204"/>
                        </a:defRPr>
                      </a:pPr>
                      <a:r>
                        <a:t>Dòng gốc</a:t>
                      </a:r>
                    </a:p>
                  </a:txBody>
                  <a:tcPr marL="118872" marR="118872" marT="64008" marB="64008" anchor="ctr">
                    <a:solidFill>
                      <a:srgbClr val="F2F8F8"/>
                    </a:solidFill>
                  </a:tcPr>
                </a:tc>
                <a:tc>
                  <a:txBody>
                    <a:bodyPr/>
                    <a:lstStyle/>
                    <a:p>
                      <a:pPr>
                        <a:lnSpc>
                          <a:spcPct val="100000"/>
                        </a:lnSpc>
                        <a:spcAft>
                          <a:spcPts val="0"/>
                        </a:spcAft>
                        <a:defRPr sz="1700" b="0">
                          <a:solidFill>
                            <a:srgbClr val="444444"/>
                          </a:solidFill>
                          <a:latin typeface="Arial" panose="020B0604020202020204"/>
                        </a:defRPr>
                      </a:pPr>
                      <a:r>
                        <a:t>29.767</a:t>
                      </a:r>
                    </a:p>
                  </a:txBody>
                  <a:tcPr marL="118872" marR="118872" marT="64008" marB="64008" anchor="ctr">
                    <a:solidFill>
                      <a:srgbClr val="F2F8F8"/>
                    </a:solidFill>
                  </a:tcPr>
                </a:tc>
              </a:tr>
              <a:tr h="597408">
                <a:tc>
                  <a:txBody>
                    <a:bodyPr/>
                    <a:lstStyle/>
                    <a:p>
                      <a:pPr>
                        <a:lnSpc>
                          <a:spcPct val="100000"/>
                        </a:lnSpc>
                        <a:spcAft>
                          <a:spcPts val="0"/>
                        </a:spcAft>
                        <a:defRPr sz="1700" b="0">
                          <a:solidFill>
                            <a:srgbClr val="444444"/>
                          </a:solidFill>
                          <a:latin typeface="Arial" panose="020B0604020202020204"/>
                        </a:defRPr>
                      </a:pPr>
                      <a:r>
                        <a:t>Giữ lại</a:t>
                      </a:r>
                    </a:p>
                  </a:txBody>
                  <a:tcPr marL="118872" marR="118872" marT="64008" marB="64008" anchor="ctr">
                    <a:solidFill>
                      <a:srgbClr val="FFFFFF"/>
                    </a:solidFill>
                  </a:tcPr>
                </a:tc>
                <a:tc>
                  <a:txBody>
                    <a:bodyPr/>
                    <a:lstStyle/>
                    <a:p>
                      <a:pPr>
                        <a:lnSpc>
                          <a:spcPct val="100000"/>
                        </a:lnSpc>
                        <a:spcAft>
                          <a:spcPts val="0"/>
                        </a:spcAft>
                        <a:defRPr sz="1700" b="0">
                          <a:solidFill>
                            <a:srgbClr val="444444"/>
                          </a:solidFill>
                          <a:latin typeface="Arial" panose="020B0604020202020204"/>
                        </a:defRPr>
                      </a:pPr>
                      <a:r>
                        <a:t>29.423</a:t>
                      </a:r>
                    </a:p>
                  </a:txBody>
                  <a:tcPr marL="118872" marR="118872" marT="64008" marB="64008" anchor="ctr">
                    <a:solidFill>
                      <a:srgbClr val="FFFFFF"/>
                    </a:solidFill>
                  </a:tcPr>
                </a:tc>
              </a:tr>
              <a:tr h="597408">
                <a:tc>
                  <a:txBody>
                    <a:bodyPr/>
                    <a:lstStyle/>
                    <a:p>
                      <a:pPr>
                        <a:lnSpc>
                          <a:spcPct val="100000"/>
                        </a:lnSpc>
                        <a:spcAft>
                          <a:spcPts val="0"/>
                        </a:spcAft>
                        <a:defRPr sz="1700" b="0">
                          <a:solidFill>
                            <a:srgbClr val="444444"/>
                          </a:solidFill>
                          <a:latin typeface="Arial" panose="020B0604020202020204"/>
                        </a:defRPr>
                      </a:pPr>
                      <a:r>
                        <a:t>Trường học máy</a:t>
                      </a:r>
                    </a:p>
                  </a:txBody>
                  <a:tcPr marL="118872" marR="118872" marT="64008" marB="64008" anchor="ctr">
                    <a:solidFill>
                      <a:srgbClr val="F2F8F8"/>
                    </a:solidFill>
                  </a:tcPr>
                </a:tc>
                <a:tc>
                  <a:txBody>
                    <a:bodyPr/>
                    <a:lstStyle/>
                    <a:p>
                      <a:pPr>
                        <a:lnSpc>
                          <a:spcPct val="100000"/>
                        </a:lnSpc>
                        <a:spcAft>
                          <a:spcPts val="0"/>
                        </a:spcAft>
                        <a:defRPr sz="1700" b="0">
                          <a:solidFill>
                            <a:srgbClr val="444444"/>
                          </a:solidFill>
                          <a:latin typeface="Arial" panose="020B0604020202020204"/>
                        </a:defRPr>
                      </a:pPr>
                      <a:r>
                        <a:t>Subject, Body, label</a:t>
                      </a:r>
                    </a:p>
                  </a:txBody>
                  <a:tcPr marL="118872" marR="118872" marT="64008" marB="64008" anchor="ctr">
                    <a:solidFill>
                      <a:srgbClr val="F2F8F8"/>
                    </a:solidFill>
                  </a:tcPr>
                </a:tc>
              </a:tr>
              <a:tr h="597408">
                <a:tc>
                  <a:txBody>
                    <a:bodyPr/>
                    <a:lstStyle/>
                    <a:p>
                      <a:pPr>
                        <a:lnSpc>
                          <a:spcPct val="100000"/>
                        </a:lnSpc>
                        <a:spcAft>
                          <a:spcPts val="0"/>
                        </a:spcAft>
                        <a:defRPr sz="1700" b="0">
                          <a:solidFill>
                            <a:srgbClr val="444444"/>
                          </a:solidFill>
                          <a:latin typeface="Arial" panose="020B0604020202020204"/>
                        </a:defRPr>
                      </a:pPr>
                      <a:r>
                        <a:t>Nguồn / giấy phép</a:t>
                      </a:r>
                    </a:p>
                  </a:txBody>
                  <a:tcPr marL="118872" marR="118872" marT="64008" marB="64008" anchor="ctr">
                    <a:solidFill>
                      <a:srgbClr val="FFFFFF"/>
                    </a:solidFill>
                  </a:tcPr>
                </a:tc>
                <a:tc>
                  <a:txBody>
                    <a:bodyPr/>
                    <a:lstStyle/>
                    <a:p>
                      <a:pPr>
                        <a:lnSpc>
                          <a:spcPct val="100000"/>
                        </a:lnSpc>
                        <a:spcAft>
                          <a:spcPts val="0"/>
                        </a:spcAft>
                        <a:defRPr sz="1700" b="0">
                          <a:solidFill>
                            <a:srgbClr val="444444"/>
                          </a:solidFill>
                          <a:latin typeface="Arial" panose="020B0604020202020204"/>
                        </a:defRPr>
                      </a:pPr>
                      <a:r>
                        <a:t>Zenodo 8339691 / CC BY 4.0</a:t>
                      </a:r>
                    </a:p>
                  </a:txBody>
                  <a:tcPr marL="118872" marR="118872" marT="64008" marB="64008" anchor="ctr">
                    <a:solidFill>
                      <a:srgbClr val="FFFFFF"/>
                    </a:solidFill>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 · ĐẶT VẤN ĐỀ, MỤC TIÊU, DỮ LIỆU VÀ KIẾN TRÚC</a:t>
            </a:r>
          </a:p>
        </p:txBody>
      </p:sp>
      <p:sp>
        <p:nvSpPr>
          <p:cNvPr id="7" name="TextBox 6"/>
          <p:cNvSpPr txBox="1"/>
          <p:nvPr/>
        </p:nvSpPr>
        <p:spPr>
          <a:xfrm>
            <a:off x="658368" y="813816"/>
            <a:ext cx="10835640" cy="731520"/>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Kiến trúc tổng thể của DT124</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925312"/>
            <a:ext cx="10744200" cy="356616"/>
          </a:xfrm>
          <a:prstGeom prst="rect">
            <a:avLst/>
          </a:prstGeom>
          <a:noFill/>
        </p:spPr>
        <p:txBody>
          <a:bodyPr wrap="square" lIns="22860" tIns="22860" rIns="22860" bIns="22860" anchor="t">
            <a:spAutoFit/>
          </a:bodyPr>
          <a:lstStyle/>
          <a:p>
            <a:pPr algn="l">
              <a:lnSpc>
                <a:spcPct val="108000"/>
              </a:lnSpc>
              <a:spcBef>
                <a:spcPts val="0"/>
              </a:spcBef>
              <a:spcAft>
                <a:spcPts val="0"/>
              </a:spcAft>
              <a:defRPr sz="820" b="0">
                <a:solidFill>
                  <a:srgbClr val="69757A"/>
                </a:solidFill>
                <a:latin typeface="Arial" panose="020B0604020202020204"/>
              </a:defRPr>
            </a:pPr>
            <a:r>
              <a:t>Nguồn: mã nguồn DT124 và giao diện ứng dụng chạy cục bộ</a:t>
            </a: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10 / 30</a:t>
            </a:r>
          </a:p>
        </p:txBody>
      </p:sp>
      <p:cxnSp>
        <p:nvCxnSpPr>
          <p:cNvPr id="13" name="Connector 12"/>
          <p:cNvCxnSpPr/>
          <p:nvPr/>
        </p:nvCxnSpPr>
        <p:spPr>
          <a:xfrm>
            <a:off x="2313432" y="3465576"/>
            <a:ext cx="493776" cy="0"/>
          </a:xfrm>
          <a:prstGeom prst="line">
            <a:avLst/>
          </a:prstGeom>
          <a:ln w="27940">
            <a:solidFill>
              <a:srgbClr val="F477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709160" y="2715768"/>
            <a:ext cx="694944" cy="749808"/>
          </a:xfrm>
          <a:prstGeom prst="line">
            <a:avLst/>
          </a:prstGeom>
          <a:ln w="27940">
            <a:solidFill>
              <a:srgbClr val="F477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709160" y="3465576"/>
            <a:ext cx="694944" cy="758952"/>
          </a:xfrm>
          <a:prstGeom prst="line">
            <a:avLst/>
          </a:prstGeom>
          <a:ln w="27940">
            <a:solidFill>
              <a:srgbClr val="F477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918704" y="2715768"/>
            <a:ext cx="621792" cy="749808"/>
          </a:xfrm>
          <a:prstGeom prst="line">
            <a:avLst/>
          </a:prstGeom>
          <a:ln w="27940">
            <a:solidFill>
              <a:srgbClr val="F477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918704" y="3465576"/>
            <a:ext cx="621792" cy="758952"/>
          </a:xfrm>
          <a:prstGeom prst="line">
            <a:avLst/>
          </a:prstGeom>
          <a:ln w="27940">
            <a:solidFill>
              <a:srgbClr val="F47700"/>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22376" y="2916936"/>
            <a:ext cx="1591056" cy="1097280"/>
          </a:xfrm>
          <a:prstGeom prst="roundRect">
            <a:avLst>
              <a:gd name="adj" fmla="val 12000"/>
            </a:avLst>
          </a:prstGeom>
          <a:solidFill>
            <a:srgbClr val="F2F8F8"/>
          </a:solidFill>
          <a:ln w="8890">
            <a:solidFill>
              <a:srgbClr val="51BC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 y="3081528"/>
            <a:ext cx="1371600" cy="347472"/>
          </a:xfrm>
          <a:prstGeom prst="rect">
            <a:avLst/>
          </a:prstGeom>
          <a:noFill/>
        </p:spPr>
        <p:txBody>
          <a:bodyPr wrap="square" lIns="22860" tIns="22860" rIns="22860" bIns="22860" anchor="t">
            <a:spAutoFit/>
          </a:bodyPr>
          <a:lstStyle/>
          <a:p>
            <a:pPr algn="ctr">
              <a:lnSpc>
                <a:spcPct val="108000"/>
              </a:lnSpc>
              <a:spcBef>
                <a:spcPts val="0"/>
              </a:spcBef>
              <a:spcAft>
                <a:spcPts val="800"/>
              </a:spcAft>
              <a:defRPr sz="1850" b="1">
                <a:solidFill>
                  <a:srgbClr val="137F85"/>
                </a:solidFill>
                <a:latin typeface="Arial" panose="020B0604020202020204"/>
              </a:defRPr>
            </a:pPr>
            <a:r>
              <a:t>Tệp EML</a:t>
            </a:r>
          </a:p>
        </p:txBody>
      </p:sp>
      <p:sp>
        <p:nvSpPr>
          <p:cNvPr id="20" name="TextBox 19"/>
          <p:cNvSpPr txBox="1"/>
          <p:nvPr/>
        </p:nvSpPr>
        <p:spPr>
          <a:xfrm>
            <a:off x="813816" y="3557015"/>
            <a:ext cx="1408176" cy="265176"/>
          </a:xfrm>
          <a:prstGeom prst="rect">
            <a:avLst/>
          </a:prstGeom>
          <a:noFill/>
        </p:spPr>
        <p:txBody>
          <a:bodyPr wrap="square" lIns="22860" tIns="22860" rIns="22860" bIns="22860" anchor="t">
            <a:spAutoFit/>
          </a:bodyPr>
          <a:lstStyle/>
          <a:p>
            <a:pPr algn="ctr">
              <a:lnSpc>
                <a:spcPct val="108000"/>
              </a:lnSpc>
              <a:spcBef>
                <a:spcPts val="0"/>
              </a:spcBef>
              <a:spcAft>
                <a:spcPts val="800"/>
              </a:spcAft>
              <a:defRPr sz="1200" b="0">
                <a:solidFill>
                  <a:srgbClr val="444444"/>
                </a:solidFill>
                <a:latin typeface="Arial" panose="020B0604020202020204"/>
              </a:defRPr>
            </a:pPr>
            <a:r>
              <a:t>Mẫu / tải cục bộ</a:t>
            </a:r>
          </a:p>
        </p:txBody>
      </p:sp>
      <p:sp>
        <p:nvSpPr>
          <p:cNvPr id="21" name="Rounded Rectangle 20"/>
          <p:cNvSpPr/>
          <p:nvPr/>
        </p:nvSpPr>
        <p:spPr>
          <a:xfrm>
            <a:off x="2807208" y="2916936"/>
            <a:ext cx="1901952" cy="1097280"/>
          </a:xfrm>
          <a:prstGeom prst="roundRect">
            <a:avLst>
              <a:gd name="adj" fmla="val 12000"/>
            </a:avLst>
          </a:prstGeom>
          <a:solidFill>
            <a:srgbClr val="F2F8F8"/>
          </a:solidFill>
          <a:ln w="8890">
            <a:solidFill>
              <a:srgbClr val="51BC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16936" y="3081528"/>
            <a:ext cx="1682496" cy="347472"/>
          </a:xfrm>
          <a:prstGeom prst="rect">
            <a:avLst/>
          </a:prstGeom>
          <a:noFill/>
        </p:spPr>
        <p:txBody>
          <a:bodyPr wrap="square" lIns="22860" tIns="22860" rIns="22860" bIns="22860" anchor="t">
            <a:spAutoFit/>
          </a:bodyPr>
          <a:lstStyle/>
          <a:p>
            <a:pPr algn="ctr">
              <a:lnSpc>
                <a:spcPct val="108000"/>
              </a:lnSpc>
              <a:spcBef>
                <a:spcPts val="0"/>
              </a:spcBef>
              <a:spcAft>
                <a:spcPts val="800"/>
              </a:spcAft>
              <a:defRPr sz="1850" b="1">
                <a:solidFill>
                  <a:srgbClr val="137F85"/>
                </a:solidFill>
                <a:latin typeface="Arial" panose="020B0604020202020204"/>
              </a:defRPr>
            </a:pPr>
            <a:r>
              <a:t>Parser EML</a:t>
            </a:r>
          </a:p>
        </p:txBody>
      </p:sp>
      <p:sp>
        <p:nvSpPr>
          <p:cNvPr id="23" name="TextBox 22"/>
          <p:cNvSpPr txBox="1"/>
          <p:nvPr/>
        </p:nvSpPr>
        <p:spPr>
          <a:xfrm>
            <a:off x="2898648" y="3557015"/>
            <a:ext cx="1719072" cy="265176"/>
          </a:xfrm>
          <a:prstGeom prst="rect">
            <a:avLst/>
          </a:prstGeom>
          <a:noFill/>
        </p:spPr>
        <p:txBody>
          <a:bodyPr wrap="square" lIns="22860" tIns="22860" rIns="22860" bIns="22860" anchor="t">
            <a:spAutoFit/>
          </a:bodyPr>
          <a:lstStyle/>
          <a:p>
            <a:pPr algn="ctr">
              <a:lnSpc>
                <a:spcPct val="108000"/>
              </a:lnSpc>
              <a:spcBef>
                <a:spcPts val="0"/>
              </a:spcBef>
              <a:spcAft>
                <a:spcPts val="800"/>
              </a:spcAft>
              <a:defRPr sz="1200" b="0">
                <a:solidFill>
                  <a:srgbClr val="444444"/>
                </a:solidFill>
                <a:latin typeface="Arial" panose="020B0604020202020204"/>
              </a:defRPr>
            </a:pPr>
            <a:r>
              <a:t>Header · MIME · body</a:t>
            </a:r>
          </a:p>
        </p:txBody>
      </p:sp>
      <p:sp>
        <p:nvSpPr>
          <p:cNvPr id="24" name="Rounded Rectangle 23"/>
          <p:cNvSpPr/>
          <p:nvPr/>
        </p:nvSpPr>
        <p:spPr>
          <a:xfrm>
            <a:off x="5404104" y="2167128"/>
            <a:ext cx="2514600" cy="1097280"/>
          </a:xfrm>
          <a:prstGeom prst="roundRect">
            <a:avLst>
              <a:gd name="adj" fmla="val 12000"/>
            </a:avLst>
          </a:prstGeom>
          <a:solidFill>
            <a:srgbClr val="F2F8F8"/>
          </a:solidFill>
          <a:ln w="8890">
            <a:solidFill>
              <a:srgbClr val="51BC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13832" y="2331720"/>
            <a:ext cx="2295144" cy="347472"/>
          </a:xfrm>
          <a:prstGeom prst="rect">
            <a:avLst/>
          </a:prstGeom>
          <a:noFill/>
        </p:spPr>
        <p:txBody>
          <a:bodyPr wrap="square" lIns="22860" tIns="22860" rIns="22860" bIns="22860" anchor="t">
            <a:spAutoFit/>
          </a:bodyPr>
          <a:lstStyle/>
          <a:p>
            <a:pPr algn="ctr">
              <a:lnSpc>
                <a:spcPct val="108000"/>
              </a:lnSpc>
              <a:spcBef>
                <a:spcPts val="0"/>
              </a:spcBef>
              <a:spcAft>
                <a:spcPts val="800"/>
              </a:spcAft>
              <a:defRPr sz="1850" b="1">
                <a:solidFill>
                  <a:srgbClr val="137F85"/>
                </a:solidFill>
                <a:latin typeface="Arial" panose="020B0604020202020204"/>
              </a:defRPr>
            </a:pPr>
            <a:r>
              <a:t>Chỉ báo tĩnh</a:t>
            </a:r>
          </a:p>
        </p:txBody>
      </p:sp>
      <p:sp>
        <p:nvSpPr>
          <p:cNvPr id="26" name="TextBox 25"/>
          <p:cNvSpPr txBox="1"/>
          <p:nvPr/>
        </p:nvSpPr>
        <p:spPr>
          <a:xfrm>
            <a:off x="5495544" y="2807208"/>
            <a:ext cx="2331720" cy="265176"/>
          </a:xfrm>
          <a:prstGeom prst="rect">
            <a:avLst/>
          </a:prstGeom>
          <a:noFill/>
        </p:spPr>
        <p:txBody>
          <a:bodyPr wrap="square" lIns="22860" tIns="22860" rIns="22860" bIns="22860" anchor="t">
            <a:spAutoFit/>
          </a:bodyPr>
          <a:lstStyle/>
          <a:p>
            <a:pPr algn="ctr">
              <a:lnSpc>
                <a:spcPct val="108000"/>
              </a:lnSpc>
              <a:spcBef>
                <a:spcPts val="0"/>
              </a:spcBef>
              <a:spcAft>
                <a:spcPts val="800"/>
              </a:spcAft>
              <a:defRPr sz="1200" b="0">
                <a:solidFill>
                  <a:srgbClr val="444444"/>
                </a:solidFill>
                <a:latin typeface="Arial" panose="020B0604020202020204"/>
              </a:defRPr>
            </a:pPr>
            <a:r>
              <a:t>URL · auth · tệp kèm</a:t>
            </a:r>
          </a:p>
        </p:txBody>
      </p:sp>
      <p:sp>
        <p:nvSpPr>
          <p:cNvPr id="27" name="Rounded Rectangle 26"/>
          <p:cNvSpPr/>
          <p:nvPr/>
        </p:nvSpPr>
        <p:spPr>
          <a:xfrm>
            <a:off x="5404104" y="3675887"/>
            <a:ext cx="2514600" cy="1097280"/>
          </a:xfrm>
          <a:prstGeom prst="roundRect">
            <a:avLst>
              <a:gd name="adj" fmla="val 12000"/>
            </a:avLst>
          </a:prstGeom>
          <a:solidFill>
            <a:srgbClr val="F2F8F8"/>
          </a:solidFill>
          <a:ln w="8890">
            <a:solidFill>
              <a:srgbClr val="51BC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13832" y="3840479"/>
            <a:ext cx="2295144" cy="347472"/>
          </a:xfrm>
          <a:prstGeom prst="rect">
            <a:avLst/>
          </a:prstGeom>
          <a:noFill/>
        </p:spPr>
        <p:txBody>
          <a:bodyPr wrap="square" lIns="22860" tIns="22860" rIns="22860" bIns="22860" anchor="t">
            <a:spAutoFit/>
          </a:bodyPr>
          <a:lstStyle/>
          <a:p>
            <a:pPr algn="ctr">
              <a:lnSpc>
                <a:spcPct val="108000"/>
              </a:lnSpc>
              <a:spcBef>
                <a:spcPts val="0"/>
              </a:spcBef>
              <a:spcAft>
                <a:spcPts val="800"/>
              </a:spcAft>
              <a:defRPr sz="1850" b="1">
                <a:solidFill>
                  <a:srgbClr val="137F85"/>
                </a:solidFill>
                <a:latin typeface="Arial" panose="020B0604020202020204"/>
              </a:defRPr>
            </a:pPr>
            <a:r>
              <a:t>Văn bản riêng</a:t>
            </a:r>
          </a:p>
        </p:txBody>
      </p:sp>
      <p:sp>
        <p:nvSpPr>
          <p:cNvPr id="29" name="TextBox 28"/>
          <p:cNvSpPr txBox="1"/>
          <p:nvPr/>
        </p:nvSpPr>
        <p:spPr>
          <a:xfrm>
            <a:off x="5495544" y="4315968"/>
            <a:ext cx="2331720" cy="265176"/>
          </a:xfrm>
          <a:prstGeom prst="rect">
            <a:avLst/>
          </a:prstGeom>
          <a:noFill/>
        </p:spPr>
        <p:txBody>
          <a:bodyPr wrap="square" lIns="22860" tIns="22860" rIns="22860" bIns="22860" anchor="t">
            <a:spAutoFit/>
          </a:bodyPr>
          <a:lstStyle/>
          <a:p>
            <a:pPr algn="ctr">
              <a:lnSpc>
                <a:spcPct val="108000"/>
              </a:lnSpc>
              <a:spcBef>
                <a:spcPts val="0"/>
              </a:spcBef>
              <a:spcAft>
                <a:spcPts val="800"/>
              </a:spcAft>
              <a:defRPr sz="1200" b="0">
                <a:solidFill>
                  <a:srgbClr val="444444"/>
                </a:solidFill>
                <a:latin typeface="Arial" panose="020B0604020202020204"/>
              </a:defRPr>
            </a:pPr>
            <a:r>
              <a:t>M0 · M1 · M2</a:t>
            </a:r>
          </a:p>
        </p:txBody>
      </p:sp>
      <p:sp>
        <p:nvSpPr>
          <p:cNvPr id="30" name="Rounded Rectangle 29"/>
          <p:cNvSpPr/>
          <p:nvPr/>
        </p:nvSpPr>
        <p:spPr>
          <a:xfrm>
            <a:off x="8540496" y="2916936"/>
            <a:ext cx="2880360" cy="1097280"/>
          </a:xfrm>
          <a:prstGeom prst="roundRect">
            <a:avLst>
              <a:gd name="adj" fmla="val 12000"/>
            </a:avLst>
          </a:prstGeom>
          <a:solidFill>
            <a:srgbClr val="F2F8F8"/>
          </a:solidFill>
          <a:ln w="8890">
            <a:solidFill>
              <a:srgbClr val="51BC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50224" y="3081528"/>
            <a:ext cx="2660904" cy="347472"/>
          </a:xfrm>
          <a:prstGeom prst="rect">
            <a:avLst/>
          </a:prstGeom>
          <a:noFill/>
        </p:spPr>
        <p:txBody>
          <a:bodyPr wrap="square" lIns="22860" tIns="22860" rIns="22860" bIns="22860" anchor="t">
            <a:spAutoFit/>
          </a:bodyPr>
          <a:lstStyle/>
          <a:p>
            <a:pPr algn="ctr">
              <a:lnSpc>
                <a:spcPct val="108000"/>
              </a:lnSpc>
              <a:spcBef>
                <a:spcPts val="0"/>
              </a:spcBef>
              <a:spcAft>
                <a:spcPts val="800"/>
              </a:spcAft>
              <a:defRPr sz="1850" b="1">
                <a:solidFill>
                  <a:srgbClr val="137F85"/>
                </a:solidFill>
                <a:latin typeface="Arial" panose="020B0604020202020204"/>
              </a:defRPr>
            </a:pPr>
            <a:r>
              <a:t>Giao diện &amp; JSON</a:t>
            </a:r>
          </a:p>
        </p:txBody>
      </p:sp>
      <p:sp>
        <p:nvSpPr>
          <p:cNvPr id="32" name="TextBox 31"/>
          <p:cNvSpPr txBox="1"/>
          <p:nvPr/>
        </p:nvSpPr>
        <p:spPr>
          <a:xfrm>
            <a:off x="8631936" y="3557015"/>
            <a:ext cx="2697479" cy="265176"/>
          </a:xfrm>
          <a:prstGeom prst="rect">
            <a:avLst/>
          </a:prstGeom>
          <a:noFill/>
        </p:spPr>
        <p:txBody>
          <a:bodyPr wrap="square" lIns="22860" tIns="22860" rIns="22860" bIns="22860" anchor="t">
            <a:spAutoFit/>
          </a:bodyPr>
          <a:lstStyle/>
          <a:p>
            <a:pPr algn="ctr">
              <a:lnSpc>
                <a:spcPct val="108000"/>
              </a:lnSpc>
              <a:spcBef>
                <a:spcPts val="0"/>
              </a:spcBef>
              <a:spcAft>
                <a:spcPts val="800"/>
              </a:spcAft>
              <a:defRPr sz="1200" b="0">
                <a:solidFill>
                  <a:srgbClr val="444444"/>
                </a:solidFill>
                <a:latin typeface="Arial" panose="020B0604020202020204"/>
              </a:defRPr>
            </a:pPr>
            <a:r>
              <a:t>Kết quả / metadata</a:t>
            </a:r>
          </a:p>
        </p:txBody>
      </p:sp>
      <p:sp>
        <p:nvSpPr>
          <p:cNvPr id="33" name="TextBox 32"/>
          <p:cNvSpPr txBox="1"/>
          <p:nvPr/>
        </p:nvSpPr>
        <p:spPr>
          <a:xfrm>
            <a:off x="758952" y="5349240"/>
            <a:ext cx="10607040" cy="365760"/>
          </a:xfrm>
          <a:prstGeom prst="rect">
            <a:avLst/>
          </a:prstGeom>
          <a:noFill/>
        </p:spPr>
        <p:txBody>
          <a:bodyPr wrap="square" lIns="22860" tIns="22860" rIns="22860" bIns="22860" anchor="t">
            <a:spAutoFit/>
          </a:bodyPr>
          <a:lstStyle/>
          <a:p>
            <a:pPr algn="ctr">
              <a:lnSpc>
                <a:spcPct val="108000"/>
              </a:lnSpc>
              <a:spcBef>
                <a:spcPts val="0"/>
              </a:spcBef>
              <a:spcAft>
                <a:spcPts val="800"/>
              </a:spcAft>
              <a:defRPr sz="1500" b="0">
                <a:solidFill>
                  <a:srgbClr val="137F85"/>
                </a:solidFill>
                <a:latin typeface="Arial" panose="020B0604020202020204"/>
              </a:defRPr>
            </a:pPr>
            <a:r>
              <a:t>Không mở URL, không chạy tệp đính kèm · Nội dung ML không đưa vào JSON xuất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II · CÔNG NGHỆ, GIAO DIỆN VÀ DEMO EML</a:t>
            </a:r>
          </a:p>
        </p:txBody>
      </p:sp>
      <p:sp>
        <p:nvSpPr>
          <p:cNvPr id="7" name="TextBox 6"/>
          <p:cNvSpPr txBox="1"/>
          <p:nvPr/>
        </p:nvSpPr>
        <p:spPr>
          <a:xfrm>
            <a:off x="658368" y="813816"/>
            <a:ext cx="10835640" cy="731520"/>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Giao diện hệ thống: phân tích EML</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13 / 30</a:t>
            </a:r>
          </a:p>
        </p:txBody>
      </p:sp>
      <p:sp>
        <p:nvSpPr>
          <p:cNvPr id="14" name="TextBox 13"/>
          <p:cNvSpPr txBox="1"/>
          <p:nvPr/>
        </p:nvSpPr>
        <p:spPr>
          <a:xfrm>
            <a:off x="731520" y="5632704"/>
            <a:ext cx="10698480" cy="265176"/>
          </a:xfrm>
          <a:prstGeom prst="rect">
            <a:avLst/>
          </a:prstGeom>
          <a:noFill/>
        </p:spPr>
        <p:txBody>
          <a:bodyPr wrap="square" lIns="22860" tIns="22860" rIns="22860" bIns="22860" anchor="t">
            <a:spAutoFit/>
          </a:bodyPr>
          <a:lstStyle/>
          <a:p>
            <a:pPr algn="l">
              <a:lnSpc>
                <a:spcPct val="108000"/>
              </a:lnSpc>
              <a:spcBef>
                <a:spcPts val="0"/>
              </a:spcBef>
              <a:spcAft>
                <a:spcPts val="0"/>
              </a:spcAft>
              <a:defRPr sz="1030" b="0">
                <a:solidFill>
                  <a:srgbClr val="444444"/>
                </a:solidFill>
                <a:latin typeface="Arial" panose="020B0604020202020204"/>
              </a:defRPr>
            </a:pPr>
            <a:r>
              <a:t>Chọn mẫu/tải EML; xem tổng quan, dự đoán và chỉ báo · Tải báo cáo JSON ngay trong phiên phân tích</a:t>
            </a:r>
          </a:p>
        </p:txBody>
      </p:sp>
      <p:pic>
        <p:nvPicPr>
          <p:cNvPr id="3" name="Picture 2"/>
          <p:cNvPicPr>
            <a:picLocks noChangeAspect="1"/>
          </p:cNvPicPr>
          <p:nvPr/>
        </p:nvPicPr>
        <p:blipFill>
          <a:blip r:embed="rId2"/>
          <a:stretch>
            <a:fillRect/>
          </a:stretch>
        </p:blipFill>
        <p:spPr>
          <a:xfrm>
            <a:off x="685800" y="1590040"/>
            <a:ext cx="8638540" cy="40106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II · CÔNG NGHỆ, GIAO DIỆN VÀ DEMO EML</a:t>
            </a:r>
          </a:p>
        </p:txBody>
      </p:sp>
      <p:sp>
        <p:nvSpPr>
          <p:cNvPr id="7" name="TextBox 6"/>
          <p:cNvSpPr txBox="1"/>
          <p:nvPr/>
        </p:nvSpPr>
        <p:spPr>
          <a:xfrm>
            <a:off x="658368" y="813816"/>
            <a:ext cx="10835640" cy="493395"/>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Giao diện hệ thống: bảng </a:t>
            </a:r>
            <a:r>
              <a:rPr lang="en-US"/>
              <a:t>dữ liệu</a:t>
            </a:r>
            <a:endParaRPr lang="en-US"/>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14 / 30</a:t>
            </a:r>
          </a:p>
        </p:txBody>
      </p:sp>
      <p:pic>
        <p:nvPicPr>
          <p:cNvPr id="3" name="Picture 2"/>
          <p:cNvPicPr>
            <a:picLocks noChangeAspect="1"/>
          </p:cNvPicPr>
          <p:nvPr/>
        </p:nvPicPr>
        <p:blipFill>
          <a:blip r:embed="rId2"/>
          <a:stretch>
            <a:fillRect/>
          </a:stretch>
        </p:blipFill>
        <p:spPr>
          <a:xfrm>
            <a:off x="528955" y="1868805"/>
            <a:ext cx="10901045" cy="31318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II · CÔNG NGHỆ, GIAO DIỆN VÀ DEMO EML</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16 / 30</a:t>
            </a:r>
          </a:p>
        </p:txBody>
      </p:sp>
      <p:pic>
        <p:nvPicPr>
          <p:cNvPr id="3" name="Picture 2"/>
          <p:cNvPicPr>
            <a:picLocks noChangeAspect="1"/>
          </p:cNvPicPr>
          <p:nvPr/>
        </p:nvPicPr>
        <p:blipFill>
          <a:blip r:embed="rId2"/>
          <a:stretch>
            <a:fillRect/>
          </a:stretch>
        </p:blipFill>
        <p:spPr>
          <a:xfrm>
            <a:off x="791210" y="1820545"/>
            <a:ext cx="8896985" cy="2640330"/>
          </a:xfrm>
          <a:prstGeom prst="rect">
            <a:avLst/>
          </a:prstGeom>
        </p:spPr>
      </p:pic>
      <p:sp>
        <p:nvSpPr>
          <p:cNvPr id="4" name="TextBox 6"/>
          <p:cNvSpPr txBox="1"/>
          <p:nvPr/>
        </p:nvSpPr>
        <p:spPr>
          <a:xfrm>
            <a:off x="658368" y="813816"/>
            <a:ext cx="10835640" cy="493395"/>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Giao diện hệ thống: bảng </a:t>
            </a:r>
            <a:r>
              <a:rPr lang="en-US"/>
              <a:t>chỉ số</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II · CÔNG NGHỆ, GIAO DIỆN VÀ DEMO EML</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17 / 30</a:t>
            </a:r>
          </a:p>
        </p:txBody>
      </p:sp>
      <p:pic>
        <p:nvPicPr>
          <p:cNvPr id="3" name="Picture 2"/>
          <p:cNvPicPr>
            <a:picLocks noChangeAspect="1"/>
          </p:cNvPicPr>
          <p:nvPr/>
        </p:nvPicPr>
        <p:blipFill>
          <a:blip r:embed="rId2"/>
          <a:stretch>
            <a:fillRect/>
          </a:stretch>
        </p:blipFill>
        <p:spPr>
          <a:xfrm>
            <a:off x="473075" y="1710690"/>
            <a:ext cx="11205845" cy="4109085"/>
          </a:xfrm>
          <a:prstGeom prst="rect">
            <a:avLst/>
          </a:prstGeom>
        </p:spPr>
      </p:pic>
      <p:sp>
        <p:nvSpPr>
          <p:cNvPr id="4" name="TextBox 6"/>
          <p:cNvSpPr txBox="1"/>
          <p:nvPr/>
        </p:nvSpPr>
        <p:spPr>
          <a:xfrm>
            <a:off x="658368" y="813816"/>
            <a:ext cx="10835640" cy="493395"/>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Giao diện hệ thống: bảng </a:t>
            </a:r>
            <a:r>
              <a:rPr lang="en-US"/>
              <a:t>dự đoán nhầm lẫn</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II · CÔNG NGHỆ, GIAO DIỆN VÀ DEMO EML</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18 / 30</a:t>
            </a:r>
          </a:p>
        </p:txBody>
      </p:sp>
      <p:pic>
        <p:nvPicPr>
          <p:cNvPr id="3" name="Picture 2"/>
          <p:cNvPicPr>
            <a:picLocks noChangeAspect="1"/>
          </p:cNvPicPr>
          <p:nvPr/>
        </p:nvPicPr>
        <p:blipFill>
          <a:blip r:embed="rId2"/>
          <a:stretch>
            <a:fillRect/>
          </a:stretch>
        </p:blipFill>
        <p:spPr>
          <a:xfrm>
            <a:off x="545465" y="1710690"/>
            <a:ext cx="10487660" cy="3119120"/>
          </a:xfrm>
          <a:prstGeom prst="rect">
            <a:avLst/>
          </a:prstGeom>
        </p:spPr>
      </p:pic>
      <p:sp>
        <p:nvSpPr>
          <p:cNvPr id="4" name="TextBox 6"/>
          <p:cNvSpPr txBox="1"/>
          <p:nvPr/>
        </p:nvSpPr>
        <p:spPr>
          <a:xfrm>
            <a:off x="658368" y="813816"/>
            <a:ext cx="10835640" cy="493395"/>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Giao diện hệ thống: bảng </a:t>
            </a:r>
            <a:r>
              <a:rPr lang="en-US"/>
              <a:t>dự đoán nhầm lẫn</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24 / 30</a:t>
            </a:r>
          </a:p>
        </p:txBody>
      </p:sp>
      <p:pic>
        <p:nvPicPr>
          <p:cNvPr id="3" name="Picture 2"/>
          <p:cNvPicPr>
            <a:picLocks noChangeAspect="1"/>
          </p:cNvPicPr>
          <p:nvPr/>
        </p:nvPicPr>
        <p:blipFill>
          <a:blip r:embed="rId2"/>
          <a:stretch>
            <a:fillRect/>
          </a:stretch>
        </p:blipFill>
        <p:spPr>
          <a:xfrm>
            <a:off x="1709420" y="383540"/>
            <a:ext cx="7930515" cy="2606040"/>
          </a:xfrm>
          <a:prstGeom prst="rect">
            <a:avLst/>
          </a:prstGeom>
        </p:spPr>
      </p:pic>
      <p:pic>
        <p:nvPicPr>
          <p:cNvPr id="4" name="Picture 3"/>
          <p:cNvPicPr>
            <a:picLocks noChangeAspect="1"/>
          </p:cNvPicPr>
          <p:nvPr/>
        </p:nvPicPr>
        <p:blipFill>
          <a:blip r:embed="rId3"/>
          <a:stretch>
            <a:fillRect/>
          </a:stretch>
        </p:blipFill>
        <p:spPr>
          <a:xfrm>
            <a:off x="2485390" y="3021330"/>
            <a:ext cx="6511925" cy="353504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III · KẾT QUẢ VÀ ĐÁNH GIÁ BA MÔ HÌNH</a:t>
            </a:r>
          </a:p>
        </p:txBody>
      </p:sp>
      <p:sp>
        <p:nvSpPr>
          <p:cNvPr id="7" name="TextBox 6"/>
          <p:cNvSpPr txBox="1"/>
          <p:nvPr/>
        </p:nvSpPr>
        <p:spPr>
          <a:xfrm>
            <a:off x="658368" y="813816"/>
            <a:ext cx="10835640" cy="731520"/>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Kết quả Enron: M2 tăng thêm trong cùng nguồn</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24 / 30</a:t>
            </a:r>
          </a:p>
        </p:txBody>
      </p:sp>
      <p:graphicFrame>
        <p:nvGraphicFramePr>
          <p:cNvPr id="13" name="Table 12"/>
          <p:cNvGraphicFramePr>
            <a:graphicFrameLocks noGrp="1"/>
          </p:cNvGraphicFramePr>
          <p:nvPr/>
        </p:nvGraphicFramePr>
        <p:xfrm>
          <a:off x="722376" y="1819656"/>
          <a:ext cx="10725910" cy="3584448"/>
        </p:xfrm>
        <a:graphic>
          <a:graphicData uri="http://schemas.openxmlformats.org/drawingml/2006/table">
            <a:tbl>
              <a:tblPr firstRow="1" bandRow="1">
                <a:tableStyleId>{5C22544A-7EE6-4342-B048-85BDC9FD1C3A}</a:tableStyleId>
              </a:tblPr>
              <a:tblGrid>
                <a:gridCol w="2926080"/>
                <a:gridCol w="1559966"/>
                <a:gridCol w="1559966"/>
                <a:gridCol w="1559966"/>
                <a:gridCol w="1559966"/>
                <a:gridCol w="1559966"/>
              </a:tblGrid>
              <a:tr h="896112">
                <a:tc>
                  <a:txBody>
                    <a:bodyPr/>
                    <a:lstStyle/>
                    <a:p>
                      <a:pPr>
                        <a:lnSpc>
                          <a:spcPct val="100000"/>
                        </a:lnSpc>
                        <a:spcAft>
                          <a:spcPts val="0"/>
                        </a:spcAft>
                        <a:defRPr sz="1430" b="1">
                          <a:solidFill>
                            <a:srgbClr val="FFFFFF"/>
                          </a:solidFill>
                          <a:latin typeface="Arial" panose="020B0604020202020204"/>
                        </a:defRPr>
                      </a:pPr>
                      <a:r>
                        <a:t>Mô hình</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Macro-F1</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Precision (+)</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Recall (+)</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F1 (+)</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Accuracy</a:t>
                      </a:r>
                    </a:p>
                  </a:txBody>
                  <a:tcPr marL="118872" marR="118872" marT="64008" marB="64008" anchor="ctr">
                    <a:solidFill>
                      <a:srgbClr val="F47700"/>
                    </a:solidFill>
                  </a:tcPr>
                </a:tc>
              </a:tr>
              <a:tr h="896112">
                <a:tc>
                  <a:txBody>
                    <a:bodyPr/>
                    <a:lstStyle/>
                    <a:p>
                      <a:pPr>
                        <a:lnSpc>
                          <a:spcPct val="100000"/>
                        </a:lnSpc>
                        <a:spcAft>
                          <a:spcPts val="0"/>
                        </a:spcAft>
                        <a:defRPr sz="1430" b="0">
                          <a:solidFill>
                            <a:srgbClr val="444444"/>
                          </a:solidFill>
                          <a:latin typeface="Arial" panose="020B0604020202020204"/>
                        </a:defRPr>
                      </a:pPr>
                      <a:r>
                        <a:t>M0</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99,1211%</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98,6774%</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99,4838%</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99,0790%</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99,1231%</a:t>
                      </a:r>
                    </a:p>
                  </a:txBody>
                  <a:tcPr marL="118872" marR="118872" marT="64008" marB="64008" anchor="ctr">
                    <a:solidFill>
                      <a:srgbClr val="FFFFFF"/>
                    </a:solidFill>
                  </a:tcPr>
                </a:tc>
              </a:tr>
              <a:tr h="896112">
                <a:tc>
                  <a:txBody>
                    <a:bodyPr/>
                    <a:lstStyle/>
                    <a:p>
                      <a:pPr>
                        <a:lnSpc>
                          <a:spcPct val="100000"/>
                        </a:lnSpc>
                        <a:spcAft>
                          <a:spcPts val="0"/>
                        </a:spcAft>
                        <a:defRPr sz="1430" b="0">
                          <a:solidFill>
                            <a:srgbClr val="444444"/>
                          </a:solidFill>
                          <a:latin typeface="Arial" panose="020B0604020202020204"/>
                        </a:defRPr>
                      </a:pPr>
                      <a:r>
                        <a:t>M1</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99,3459%</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99,0306%</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99,5985%</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99,3137%</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99,3474%</a:t>
                      </a:r>
                    </a:p>
                  </a:txBody>
                  <a:tcPr marL="118872" marR="118872" marT="64008" marB="64008" anchor="ctr">
                    <a:solidFill>
                      <a:srgbClr val="F2F8F8"/>
                    </a:solidFill>
                  </a:tcPr>
                </a:tc>
              </a:tr>
              <a:tr h="896112">
                <a:tc>
                  <a:txBody>
                    <a:bodyPr/>
                    <a:lstStyle/>
                    <a:p>
                      <a:pPr>
                        <a:lnSpc>
                          <a:spcPct val="100000"/>
                        </a:lnSpc>
                        <a:spcAft>
                          <a:spcPts val="0"/>
                        </a:spcAft>
                        <a:defRPr sz="1430" b="0">
                          <a:solidFill>
                            <a:srgbClr val="444444"/>
                          </a:solidFill>
                          <a:latin typeface="Arial" panose="020B0604020202020204"/>
                        </a:defRPr>
                      </a:pPr>
                      <a:r>
                        <a:t>M2</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99,4276%</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99,1933%</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99,6057%</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99,3991%</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99,4290%</a:t>
                      </a:r>
                    </a:p>
                  </a:txBody>
                  <a:tcPr marL="118872" marR="118872" marT="64008" marB="64008" anchor="ctr">
                    <a:solidFill>
                      <a:srgbClr val="FFFFFF"/>
                    </a:solidFill>
                  </a:tcPr>
                </a:tc>
              </a:tr>
            </a:tbl>
          </a:graphicData>
        </a:graphic>
      </p:graphicFrame>
      <p:sp>
        <p:nvSpPr>
          <p:cNvPr id="14" name="TextBox 13"/>
          <p:cNvSpPr txBox="1"/>
          <p:nvPr/>
        </p:nvSpPr>
        <p:spPr>
          <a:xfrm>
            <a:off x="749808" y="5641848"/>
            <a:ext cx="10607040" cy="265176"/>
          </a:xfrm>
          <a:prstGeom prst="rect">
            <a:avLst/>
          </a:prstGeom>
          <a:noFill/>
        </p:spPr>
        <p:txBody>
          <a:bodyPr wrap="square" lIns="22860" tIns="22860" rIns="22860" bIns="22860" anchor="t">
            <a:spAutoFit/>
          </a:bodyPr>
          <a:lstStyle/>
          <a:p>
            <a:pPr algn="l">
              <a:lnSpc>
                <a:spcPct val="108000"/>
              </a:lnSpc>
              <a:spcBef>
                <a:spcPts val="0"/>
              </a:spcBef>
              <a:spcAft>
                <a:spcPts val="0"/>
              </a:spcAft>
              <a:defRPr sz="1050" b="0">
                <a:solidFill>
                  <a:srgbClr val="69757A"/>
                </a:solidFill>
                <a:latin typeface="Arial" panose="020B0604020202020204"/>
              </a:defRPr>
            </a:pPr>
            <a:r>
              <a:t>P/R/F1 (+): lớp spam/phishing theo nhãn nguồn · Pooled OOF trên cùng 29.423 email.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III · KẾT QUẢ VÀ ĐÁNH GIÁ BA MÔ HÌNH</a:t>
            </a:r>
          </a:p>
        </p:txBody>
      </p:sp>
      <p:sp>
        <p:nvSpPr>
          <p:cNvPr id="7" name="TextBox 6"/>
          <p:cNvSpPr txBox="1"/>
          <p:nvPr/>
        </p:nvSpPr>
        <p:spPr>
          <a:xfrm>
            <a:off x="658368" y="813816"/>
            <a:ext cx="10835640" cy="731520"/>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Lỗi Enron: giảm báo động nhầm và bỏ sót</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25 / 30</a:t>
            </a:r>
          </a:p>
        </p:txBody>
      </p:sp>
      <p:graphicFrame>
        <p:nvGraphicFramePr>
          <p:cNvPr id="13" name="Table 12"/>
          <p:cNvGraphicFramePr>
            <a:graphicFrameLocks noGrp="1"/>
          </p:cNvGraphicFramePr>
          <p:nvPr/>
        </p:nvGraphicFramePr>
        <p:xfrm>
          <a:off x="722376" y="1819656"/>
          <a:ext cx="10725912" cy="3584448"/>
        </p:xfrm>
        <a:graphic>
          <a:graphicData uri="http://schemas.openxmlformats.org/drawingml/2006/table">
            <a:tbl>
              <a:tblPr firstRow="1" bandRow="1">
                <a:tableStyleId>{5C22544A-7EE6-4342-B048-85BDC9FD1C3A}</a:tableStyleId>
              </a:tblPr>
              <a:tblGrid>
                <a:gridCol w="2926080"/>
                <a:gridCol w="1299972"/>
                <a:gridCol w="1299972"/>
                <a:gridCol w="1299972"/>
                <a:gridCol w="1299972"/>
                <a:gridCol w="1299972"/>
                <a:gridCol w="1299972"/>
              </a:tblGrid>
              <a:tr h="896112">
                <a:tc>
                  <a:txBody>
                    <a:bodyPr/>
                    <a:lstStyle/>
                    <a:p>
                      <a:pPr>
                        <a:lnSpc>
                          <a:spcPct val="100000"/>
                        </a:lnSpc>
                        <a:spcAft>
                          <a:spcPts val="0"/>
                        </a:spcAft>
                        <a:defRPr sz="1430" b="1">
                          <a:solidFill>
                            <a:srgbClr val="FFFFFF"/>
                          </a:solidFill>
                          <a:latin typeface="Arial" panose="020B0604020202020204"/>
                        </a:defRPr>
                      </a:pPr>
                      <a:r>
                        <a:t>Mô hình</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TN</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FP ↓</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FN ↓</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TP</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Tổng lỗi ↓</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FPR ↓</a:t>
                      </a:r>
                    </a:p>
                  </a:txBody>
                  <a:tcPr marL="118872" marR="118872" marT="64008" marB="64008" anchor="ctr">
                    <a:solidFill>
                      <a:srgbClr val="F47700"/>
                    </a:solidFill>
                  </a:tcPr>
                </a:tc>
              </a:tr>
              <a:tr h="896112">
                <a:tc>
                  <a:txBody>
                    <a:bodyPr/>
                    <a:lstStyle/>
                    <a:p>
                      <a:pPr>
                        <a:lnSpc>
                          <a:spcPct val="100000"/>
                        </a:lnSpc>
                        <a:spcAft>
                          <a:spcPts val="0"/>
                        </a:spcAft>
                        <a:defRPr sz="1430" b="0">
                          <a:solidFill>
                            <a:srgbClr val="444444"/>
                          </a:solidFill>
                          <a:latin typeface="Arial" panose="020B0604020202020204"/>
                        </a:defRPr>
                      </a:pPr>
                      <a:r>
                        <a:t>M0</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15.288</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186</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72</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13.877</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258</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1,20%</a:t>
                      </a:r>
                    </a:p>
                  </a:txBody>
                  <a:tcPr marL="118872" marR="118872" marT="64008" marB="64008" anchor="ctr">
                    <a:solidFill>
                      <a:srgbClr val="FFFFFF"/>
                    </a:solidFill>
                  </a:tcPr>
                </a:tc>
              </a:tr>
              <a:tr h="896112">
                <a:tc>
                  <a:txBody>
                    <a:bodyPr/>
                    <a:lstStyle/>
                    <a:p>
                      <a:pPr>
                        <a:lnSpc>
                          <a:spcPct val="100000"/>
                        </a:lnSpc>
                        <a:spcAft>
                          <a:spcPts val="0"/>
                        </a:spcAft>
                        <a:defRPr sz="1430" b="0">
                          <a:solidFill>
                            <a:srgbClr val="444444"/>
                          </a:solidFill>
                          <a:latin typeface="Arial" panose="020B0604020202020204"/>
                        </a:defRPr>
                      </a:pPr>
                      <a:r>
                        <a:t>M1</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15.338</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136</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56</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13.893</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192</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0,88%</a:t>
                      </a:r>
                    </a:p>
                  </a:txBody>
                  <a:tcPr marL="118872" marR="118872" marT="64008" marB="64008" anchor="ctr">
                    <a:solidFill>
                      <a:srgbClr val="F2F8F8"/>
                    </a:solidFill>
                  </a:tcPr>
                </a:tc>
              </a:tr>
              <a:tr h="896112">
                <a:tc>
                  <a:txBody>
                    <a:bodyPr/>
                    <a:lstStyle/>
                    <a:p>
                      <a:pPr>
                        <a:lnSpc>
                          <a:spcPct val="100000"/>
                        </a:lnSpc>
                        <a:spcAft>
                          <a:spcPts val="0"/>
                        </a:spcAft>
                        <a:defRPr sz="1430" b="0">
                          <a:solidFill>
                            <a:srgbClr val="444444"/>
                          </a:solidFill>
                          <a:latin typeface="Arial" panose="020B0604020202020204"/>
                        </a:defRPr>
                      </a:pPr>
                      <a:r>
                        <a:t>M2</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15.361</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113</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55</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13.894</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168</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0,73%</a:t>
                      </a:r>
                    </a:p>
                  </a:txBody>
                  <a:tcPr marL="118872" marR="118872" marT="64008" marB="64008" anchor="ctr">
                    <a:solidFill>
                      <a:srgbClr val="FFFFFF"/>
                    </a:solidFill>
                  </a:tcPr>
                </a:tc>
              </a:tr>
            </a:tbl>
          </a:graphicData>
        </a:graphic>
      </p:graphicFrame>
      <p:sp>
        <p:nvSpPr>
          <p:cNvPr id="14" name="TextBox 13"/>
          <p:cNvSpPr txBox="1"/>
          <p:nvPr/>
        </p:nvSpPr>
        <p:spPr>
          <a:xfrm>
            <a:off x="749808" y="5641848"/>
            <a:ext cx="10607040" cy="265176"/>
          </a:xfrm>
          <a:prstGeom prst="rect">
            <a:avLst/>
          </a:prstGeom>
          <a:noFill/>
        </p:spPr>
        <p:txBody>
          <a:bodyPr wrap="square" lIns="22860" tIns="22860" rIns="22860" bIns="22860" anchor="t">
            <a:spAutoFit/>
          </a:bodyPr>
          <a:lstStyle/>
          <a:p>
            <a:pPr algn="l">
              <a:lnSpc>
                <a:spcPct val="108000"/>
              </a:lnSpc>
              <a:spcBef>
                <a:spcPts val="0"/>
              </a:spcBef>
              <a:spcAft>
                <a:spcPts val="0"/>
              </a:spcAft>
              <a:defRPr sz="1050" b="0">
                <a:solidFill>
                  <a:srgbClr val="69757A"/>
                </a:solidFill>
                <a:latin typeface="Arial" panose="020B0604020202020204"/>
              </a:defRPr>
            </a:pPr>
            <a:r>
              <a:t>M2 − M1: giảm ròng 24 lỗi · CI95% Δmacro-F1: [+0,0169; +0,1523] điểm phần trăm.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III · KẾT QUẢ VÀ ĐÁNH GIÁ BA MÔ HÌNH</a:t>
            </a:r>
          </a:p>
        </p:txBody>
      </p:sp>
      <p:sp>
        <p:nvSpPr>
          <p:cNvPr id="7" name="TextBox 6"/>
          <p:cNvSpPr txBox="1"/>
          <p:nvPr/>
        </p:nvSpPr>
        <p:spPr>
          <a:xfrm>
            <a:off x="658368" y="813816"/>
            <a:ext cx="10835640" cy="731520"/>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Kết quả Enron hiển thị trực tiếp trên web</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26 / 30</a:t>
            </a:r>
          </a:p>
        </p:txBody>
      </p:sp>
      <p:pic>
        <p:nvPicPr>
          <p:cNvPr id="13" name="Picture 12" descr="09_so_sanh_ba_mo_hinh_enron.png"/>
          <p:cNvPicPr>
            <a:picLocks noChangeAspect="1"/>
          </p:cNvPicPr>
          <p:nvPr/>
        </p:nvPicPr>
        <p:blipFill>
          <a:blip r:embed="rId2"/>
          <a:stretch>
            <a:fillRect/>
          </a:stretch>
        </p:blipFill>
        <p:spPr>
          <a:xfrm>
            <a:off x="2722545" y="1728216"/>
            <a:ext cx="6734717" cy="3867912"/>
          </a:xfrm>
          <a:prstGeom prst="rect">
            <a:avLst/>
          </a:prstGeom>
        </p:spPr>
      </p:pic>
      <p:sp>
        <p:nvSpPr>
          <p:cNvPr id="14" name="TextBox 13"/>
          <p:cNvSpPr txBox="1"/>
          <p:nvPr/>
        </p:nvSpPr>
        <p:spPr>
          <a:xfrm>
            <a:off x="731520" y="5632704"/>
            <a:ext cx="10698480" cy="265176"/>
          </a:xfrm>
          <a:prstGeom prst="rect">
            <a:avLst/>
          </a:prstGeom>
          <a:noFill/>
        </p:spPr>
        <p:txBody>
          <a:bodyPr wrap="square" lIns="22860" tIns="22860" rIns="22860" bIns="22860" anchor="t">
            <a:spAutoFit/>
          </a:bodyPr>
          <a:lstStyle/>
          <a:p>
            <a:pPr algn="l">
              <a:lnSpc>
                <a:spcPct val="108000"/>
              </a:lnSpc>
              <a:spcBef>
                <a:spcPts val="0"/>
              </a:spcBef>
              <a:spcAft>
                <a:spcPts val="0"/>
              </a:spcAft>
              <a:defRPr sz="1030" b="0">
                <a:solidFill>
                  <a:srgbClr val="444444"/>
                </a:solidFill>
                <a:latin typeface="Arial" panose="020B0604020202020204"/>
              </a:defRPr>
            </a:pPr>
            <a:r>
              <a:t>Macro-F1 M0/M1/M2: 99,1211% / 99,3459% / 99,4276% · M2 là kết quả thăm dò thích nghi trong cùng nguồn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III · KẾT QUẢ VÀ ĐÁNH GIÁ BA MÔ HÌNH</a:t>
            </a:r>
          </a:p>
        </p:txBody>
      </p:sp>
      <p:sp>
        <p:nvSpPr>
          <p:cNvPr id="7" name="TextBox 6"/>
          <p:cNvSpPr txBox="1"/>
          <p:nvPr/>
        </p:nvSpPr>
        <p:spPr>
          <a:xfrm>
            <a:off x="658368" y="813816"/>
            <a:ext cx="10835640" cy="731520"/>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Khác nguồn: chất lượng giảm mạnh</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27 / 30</a:t>
            </a:r>
          </a:p>
        </p:txBody>
      </p:sp>
      <p:graphicFrame>
        <p:nvGraphicFramePr>
          <p:cNvPr id="13" name="Table 12"/>
          <p:cNvGraphicFramePr>
            <a:graphicFrameLocks noGrp="1"/>
          </p:cNvGraphicFramePr>
          <p:nvPr/>
        </p:nvGraphicFramePr>
        <p:xfrm>
          <a:off x="722376" y="1819656"/>
          <a:ext cx="10725910" cy="3584448"/>
        </p:xfrm>
        <a:graphic>
          <a:graphicData uri="http://schemas.openxmlformats.org/drawingml/2006/table">
            <a:tbl>
              <a:tblPr firstRow="1" bandRow="1">
                <a:tableStyleId>{5C22544A-7EE6-4342-B048-85BDC9FD1C3A}</a:tableStyleId>
              </a:tblPr>
              <a:tblGrid>
                <a:gridCol w="2926080"/>
                <a:gridCol w="1559966"/>
                <a:gridCol w="1559966"/>
                <a:gridCol w="1559966"/>
                <a:gridCol w="1559966"/>
                <a:gridCol w="1559966"/>
              </a:tblGrid>
              <a:tr h="896112">
                <a:tc>
                  <a:txBody>
                    <a:bodyPr/>
                    <a:lstStyle/>
                    <a:p>
                      <a:pPr>
                        <a:lnSpc>
                          <a:spcPct val="100000"/>
                        </a:lnSpc>
                        <a:spcAft>
                          <a:spcPts val="0"/>
                        </a:spcAft>
                        <a:defRPr sz="1430" b="1">
                          <a:solidFill>
                            <a:srgbClr val="FFFFFF"/>
                          </a:solidFill>
                          <a:latin typeface="Arial" panose="020B0604020202020204"/>
                        </a:defRPr>
                      </a:pPr>
                      <a:r>
                        <a:t>Mô hình</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Macro-F1</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Precision (+)</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Recall (+)</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F1 (+)</a:t>
                      </a:r>
                    </a:p>
                  </a:txBody>
                  <a:tcPr marL="118872" marR="118872" marT="64008" marB="64008" anchor="ctr">
                    <a:solidFill>
                      <a:srgbClr val="F47700"/>
                    </a:solidFill>
                  </a:tcPr>
                </a:tc>
                <a:tc>
                  <a:txBody>
                    <a:bodyPr/>
                    <a:lstStyle/>
                    <a:p>
                      <a:pPr>
                        <a:lnSpc>
                          <a:spcPct val="100000"/>
                        </a:lnSpc>
                        <a:spcAft>
                          <a:spcPts val="0"/>
                        </a:spcAft>
                        <a:defRPr sz="1430" b="1">
                          <a:solidFill>
                            <a:srgbClr val="FFFFFF"/>
                          </a:solidFill>
                          <a:latin typeface="Arial" panose="020B0604020202020204"/>
                        </a:defRPr>
                      </a:pPr>
                      <a:r>
                        <a:t>ROC-AUC</a:t>
                      </a:r>
                    </a:p>
                  </a:txBody>
                  <a:tcPr marL="118872" marR="118872" marT="64008" marB="64008" anchor="ctr">
                    <a:solidFill>
                      <a:srgbClr val="F47700"/>
                    </a:solidFill>
                  </a:tcPr>
                </a:tc>
              </a:tr>
              <a:tr h="896112">
                <a:tc>
                  <a:txBody>
                    <a:bodyPr/>
                    <a:lstStyle/>
                    <a:p>
                      <a:pPr>
                        <a:lnSpc>
                          <a:spcPct val="100000"/>
                        </a:lnSpc>
                        <a:spcAft>
                          <a:spcPts val="0"/>
                        </a:spcAft>
                        <a:defRPr sz="1430" b="0">
                          <a:solidFill>
                            <a:srgbClr val="444444"/>
                          </a:solidFill>
                          <a:latin typeface="Arial" panose="020B0604020202020204"/>
                        </a:defRPr>
                      </a:pPr>
                      <a:r>
                        <a:t>M0</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39,5809%</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33,4575%</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99,8830%</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50,1248%</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94,3843%</a:t>
                      </a:r>
                    </a:p>
                  </a:txBody>
                  <a:tcPr marL="118872" marR="118872" marT="64008" marB="64008" anchor="ctr">
                    <a:solidFill>
                      <a:srgbClr val="FFFFFF"/>
                    </a:solidFill>
                  </a:tcPr>
                </a:tc>
              </a:tr>
              <a:tr h="896112">
                <a:tc>
                  <a:txBody>
                    <a:bodyPr/>
                    <a:lstStyle/>
                    <a:p>
                      <a:pPr>
                        <a:lnSpc>
                          <a:spcPct val="100000"/>
                        </a:lnSpc>
                        <a:spcAft>
                          <a:spcPts val="0"/>
                        </a:spcAft>
                        <a:defRPr sz="1430" b="0">
                          <a:solidFill>
                            <a:srgbClr val="444444"/>
                          </a:solidFill>
                          <a:latin typeface="Arial" panose="020B0604020202020204"/>
                        </a:defRPr>
                      </a:pPr>
                      <a:r>
                        <a:t>M1</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42,2102%</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34,2846%</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99,8245%</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51,0396%</a:t>
                      </a:r>
                    </a:p>
                  </a:txBody>
                  <a:tcPr marL="118872" marR="118872" marT="64008" marB="64008" anchor="ctr">
                    <a:solidFill>
                      <a:srgbClr val="F2F8F8"/>
                    </a:solidFill>
                  </a:tcPr>
                </a:tc>
                <a:tc>
                  <a:txBody>
                    <a:bodyPr/>
                    <a:lstStyle/>
                    <a:p>
                      <a:pPr>
                        <a:lnSpc>
                          <a:spcPct val="100000"/>
                        </a:lnSpc>
                        <a:spcAft>
                          <a:spcPts val="0"/>
                        </a:spcAft>
                        <a:defRPr sz="1430" b="0">
                          <a:solidFill>
                            <a:srgbClr val="444444"/>
                          </a:solidFill>
                          <a:latin typeface="Arial" panose="020B0604020202020204"/>
                        </a:defRPr>
                      </a:pPr>
                      <a:r>
                        <a:t>95,3142%</a:t>
                      </a:r>
                    </a:p>
                  </a:txBody>
                  <a:tcPr marL="118872" marR="118872" marT="64008" marB="64008" anchor="ctr">
                    <a:solidFill>
                      <a:srgbClr val="F2F8F8"/>
                    </a:solidFill>
                  </a:tcPr>
                </a:tc>
              </a:tr>
              <a:tr h="896112">
                <a:tc>
                  <a:txBody>
                    <a:bodyPr/>
                    <a:lstStyle/>
                    <a:p>
                      <a:pPr>
                        <a:lnSpc>
                          <a:spcPct val="100000"/>
                        </a:lnSpc>
                        <a:spcAft>
                          <a:spcPts val="0"/>
                        </a:spcAft>
                        <a:defRPr sz="1430" b="0">
                          <a:solidFill>
                            <a:srgbClr val="444444"/>
                          </a:solidFill>
                          <a:latin typeface="Arial" panose="020B0604020202020204"/>
                        </a:defRPr>
                      </a:pPr>
                      <a:r>
                        <a:t>M2</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33,1610%</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31,6679%</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99,7659%</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48,0756%</a:t>
                      </a:r>
                    </a:p>
                  </a:txBody>
                  <a:tcPr marL="118872" marR="118872" marT="64008" marB="64008" anchor="ctr">
                    <a:solidFill>
                      <a:srgbClr val="FFFFFF"/>
                    </a:solidFill>
                  </a:tcPr>
                </a:tc>
                <a:tc>
                  <a:txBody>
                    <a:bodyPr/>
                    <a:lstStyle/>
                    <a:p>
                      <a:pPr>
                        <a:lnSpc>
                          <a:spcPct val="100000"/>
                        </a:lnSpc>
                        <a:spcAft>
                          <a:spcPts val="0"/>
                        </a:spcAft>
                        <a:defRPr sz="1430" b="0">
                          <a:solidFill>
                            <a:srgbClr val="444444"/>
                          </a:solidFill>
                          <a:latin typeface="Arial" panose="020B0604020202020204"/>
                        </a:defRPr>
                      </a:pPr>
                      <a:r>
                        <a:t>90,2737%</a:t>
                      </a:r>
                    </a:p>
                  </a:txBody>
                  <a:tcPr marL="118872" marR="118872" marT="64008" marB="64008" anchor="ctr">
                    <a:solidFill>
                      <a:srgbClr val="FFFFFF"/>
                    </a:solidFill>
                  </a:tcPr>
                </a:tc>
              </a:tr>
            </a:tbl>
          </a:graphicData>
        </a:graphic>
      </p:graphicFrame>
      <p:sp>
        <p:nvSpPr>
          <p:cNvPr id="14" name="TextBox 13"/>
          <p:cNvSpPr txBox="1"/>
          <p:nvPr/>
        </p:nvSpPr>
        <p:spPr>
          <a:xfrm>
            <a:off x="749808" y="5641848"/>
            <a:ext cx="10607040" cy="265176"/>
          </a:xfrm>
          <a:prstGeom prst="rect">
            <a:avLst/>
          </a:prstGeom>
          <a:noFill/>
        </p:spPr>
        <p:txBody>
          <a:bodyPr wrap="square" lIns="22860" tIns="22860" rIns="22860" bIns="22860" anchor="t">
            <a:spAutoFit/>
          </a:bodyPr>
          <a:lstStyle/>
          <a:p>
            <a:pPr algn="l">
              <a:lnSpc>
                <a:spcPct val="108000"/>
              </a:lnSpc>
              <a:spcBef>
                <a:spcPts val="0"/>
              </a:spcBef>
              <a:spcAft>
                <a:spcPts val="0"/>
              </a:spcAft>
              <a:defRPr sz="1050" b="0">
                <a:solidFill>
                  <a:srgbClr val="69757A"/>
                </a:solidFill>
                <a:latin typeface="Arial" panose="020B0604020202020204"/>
              </a:defRPr>
            </a:pPr>
            <a:r>
              <a:t>Macro-F1 M2 − M1: −9,0493 điểm phần trăm · Nhiều thư hợp lệ bị gắn nhầm lớp dương.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III · KẾT QUẢ VÀ ĐÁNH GIÁ BA MÔ HÌNH</a:t>
            </a:r>
          </a:p>
        </p:txBody>
      </p:sp>
      <p:sp>
        <p:nvSpPr>
          <p:cNvPr id="7" name="TextBox 6"/>
          <p:cNvSpPr txBox="1"/>
          <p:nvPr/>
        </p:nvSpPr>
        <p:spPr>
          <a:xfrm>
            <a:off x="658368" y="813816"/>
            <a:ext cx="10835640" cy="731520"/>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Kết quả khác nguồn hiển thị trên web</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28 / 30</a:t>
            </a:r>
          </a:p>
        </p:txBody>
      </p:sp>
      <p:pic>
        <p:nvPicPr>
          <p:cNvPr id="13" name="Picture 12" descr="10_so_sanh_ngoai_nguon.png"/>
          <p:cNvPicPr>
            <a:picLocks noChangeAspect="1"/>
          </p:cNvPicPr>
          <p:nvPr/>
        </p:nvPicPr>
        <p:blipFill>
          <a:blip r:embed="rId2"/>
          <a:stretch>
            <a:fillRect/>
          </a:stretch>
        </p:blipFill>
        <p:spPr>
          <a:xfrm>
            <a:off x="2169007" y="1728216"/>
            <a:ext cx="7841794" cy="3867912"/>
          </a:xfrm>
          <a:prstGeom prst="rect">
            <a:avLst/>
          </a:prstGeom>
        </p:spPr>
      </p:pic>
      <p:sp>
        <p:nvSpPr>
          <p:cNvPr id="14" name="TextBox 13"/>
          <p:cNvSpPr txBox="1"/>
          <p:nvPr/>
        </p:nvSpPr>
        <p:spPr>
          <a:xfrm>
            <a:off x="731520" y="5632704"/>
            <a:ext cx="10698480" cy="265176"/>
          </a:xfrm>
          <a:prstGeom prst="rect">
            <a:avLst/>
          </a:prstGeom>
          <a:noFill/>
        </p:spPr>
        <p:txBody>
          <a:bodyPr wrap="square" lIns="22860" tIns="22860" rIns="22860" bIns="22860" anchor="t">
            <a:spAutoFit/>
          </a:bodyPr>
          <a:lstStyle/>
          <a:p>
            <a:pPr algn="l">
              <a:lnSpc>
                <a:spcPct val="108000"/>
              </a:lnSpc>
              <a:spcBef>
                <a:spcPts val="0"/>
              </a:spcBef>
              <a:spcAft>
                <a:spcPts val="0"/>
              </a:spcAft>
              <a:defRPr sz="1030" b="0">
                <a:solidFill>
                  <a:srgbClr val="444444"/>
                </a:solidFill>
                <a:latin typeface="Arial" panose="020B0604020202020204"/>
              </a:defRPr>
            </a:pPr>
            <a:r>
              <a:t>Macro-F1 M0/M1/M2: 39,5809% / 42,2102% / 33,1610% · M2 báo nhầm 3.679/4.090 thư hợp lệ; chưa phù hợp tự động hóa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1"/>
          <p:cNvPicPr>
            <a:picLocks noChangeAspect="1"/>
          </p:cNvPicPr>
          <p:nvPr/>
        </p:nvPicPr>
        <p:blipFill>
          <a:blip r:embed="rId1"/>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tIns="22860" rIns="22860" bIns="22860" anchor="t">
            <a:spAutoFit/>
          </a:bodyPr>
          <a:lstStyle/>
          <a:p>
            <a:pPr algn="l">
              <a:lnSpc>
                <a:spcPct val="108000"/>
              </a:lnSpc>
              <a:spcBef>
                <a:spcPts val="0"/>
              </a:spcBef>
              <a:spcAft>
                <a:spcPts val="800"/>
              </a:spcAft>
              <a:defRPr sz="1020" b="1">
                <a:solidFill>
                  <a:srgbClr val="137F85"/>
                </a:solidFill>
                <a:latin typeface="Arial" panose="020B0604020202020204"/>
              </a:defRPr>
            </a:pPr>
            <a:r>
              <a:t>PHẦN III · KẾT QUẢ VÀ ĐÁNH GIÁ BA MÔ HÌNH</a:t>
            </a:r>
          </a:p>
        </p:txBody>
      </p:sp>
      <p:sp>
        <p:nvSpPr>
          <p:cNvPr id="7" name="TextBox 6"/>
          <p:cNvSpPr txBox="1"/>
          <p:nvPr/>
        </p:nvSpPr>
        <p:spPr>
          <a:xfrm>
            <a:off x="658368" y="813816"/>
            <a:ext cx="10835640" cy="493395"/>
          </a:xfrm>
          <a:prstGeom prst="rect">
            <a:avLst/>
          </a:prstGeom>
          <a:noFill/>
        </p:spPr>
        <p:txBody>
          <a:bodyPr wrap="square" lIns="22860" tIns="22860" rIns="22860" bIns="22860" anchor="t">
            <a:spAutoFit/>
          </a:bodyPr>
          <a:lstStyle/>
          <a:p>
            <a:pPr algn="l">
              <a:lnSpc>
                <a:spcPct val="108000"/>
              </a:lnSpc>
              <a:spcBef>
                <a:spcPts val="0"/>
              </a:spcBef>
              <a:spcAft>
                <a:spcPts val="800"/>
              </a:spcAft>
              <a:defRPr sz="2700" b="1">
                <a:solidFill>
                  <a:srgbClr val="F47700"/>
                </a:solidFill>
                <a:latin typeface="Arial" panose="020B0604020202020204"/>
              </a:defRPr>
            </a:pPr>
            <a:r>
              <a:t>So sánh tổng hợp: chất lượng </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6556248"/>
            <a:ext cx="9784080" cy="192024"/>
          </a:xfrm>
          <a:prstGeom prst="rect">
            <a:avLst/>
          </a:prstGeom>
          <a:noFill/>
        </p:spPr>
        <p:txBody>
          <a:bodyPr wrap="square" lIns="22860" tIns="22860" rIns="22860" bIns="22860" anchor="t">
            <a:spAutoFit/>
          </a:bodyPr>
          <a:lstStyle/>
          <a:p>
            <a:pPr algn="l">
              <a:lnSpc>
                <a:spcPct val="108000"/>
              </a:lnSpc>
              <a:spcBef>
                <a:spcPts val="0"/>
              </a:spcBef>
              <a:spcAft>
                <a:spcPts val="800"/>
              </a:spcAft>
              <a:defRPr sz="850" b="0">
                <a:solidFill>
                  <a:srgbClr val="FFFFFF"/>
                </a:solidFill>
                <a:latin typeface="Arial" panose="020B0604020202020204"/>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tIns="22860" rIns="22860" bIns="22860" anchor="t">
            <a:spAutoFit/>
          </a:bodyPr>
          <a:lstStyle/>
          <a:p>
            <a:pPr algn="r">
              <a:lnSpc>
                <a:spcPct val="108000"/>
              </a:lnSpc>
              <a:spcBef>
                <a:spcPts val="0"/>
              </a:spcBef>
              <a:spcAft>
                <a:spcPts val="800"/>
              </a:spcAft>
              <a:defRPr sz="850" b="0">
                <a:solidFill>
                  <a:srgbClr val="FFFFFF"/>
                </a:solidFill>
                <a:latin typeface="Arial" panose="020B0604020202020204"/>
              </a:defRPr>
            </a:pPr>
            <a:r>
              <a:t>29 / 30</a:t>
            </a:r>
          </a:p>
        </p:txBody>
      </p:sp>
      <p:graphicFrame>
        <p:nvGraphicFramePr>
          <p:cNvPr id="13" name="Table 12"/>
          <p:cNvGraphicFramePr>
            <a:graphicFrameLocks noGrp="1"/>
          </p:cNvGraphicFramePr>
          <p:nvPr/>
        </p:nvGraphicFramePr>
        <p:xfrm>
          <a:off x="722376" y="1819656"/>
          <a:ext cx="10725912" cy="3584448"/>
        </p:xfrm>
        <a:graphic>
          <a:graphicData uri="http://schemas.openxmlformats.org/drawingml/2006/table">
            <a:tbl>
              <a:tblPr firstRow="1" bandRow="1">
                <a:tableStyleId>{5C22544A-7EE6-4342-B048-85BDC9FD1C3A}</a:tableStyleId>
              </a:tblPr>
              <a:tblGrid>
                <a:gridCol w="2926080"/>
                <a:gridCol w="2599944"/>
                <a:gridCol w="2599944"/>
                <a:gridCol w="2599944"/>
              </a:tblGrid>
              <a:tr h="716889">
                <a:tc>
                  <a:txBody>
                    <a:bodyPr/>
                    <a:lstStyle/>
                    <a:p>
                      <a:pPr>
                        <a:lnSpc>
                          <a:spcPct val="100000"/>
                        </a:lnSpc>
                        <a:spcAft>
                          <a:spcPts val="0"/>
                        </a:spcAft>
                        <a:defRPr sz="1700" b="1">
                          <a:solidFill>
                            <a:srgbClr val="FFFFFF"/>
                          </a:solidFill>
                          <a:latin typeface="Arial" panose="020B0604020202020204"/>
                        </a:defRPr>
                      </a:pPr>
                      <a:r>
                        <a:t>Tiêu chí</a:t>
                      </a:r>
                    </a:p>
                  </a:txBody>
                  <a:tcPr marL="118872" marR="118872" marT="64008" marB="64008" anchor="ctr">
                    <a:solidFill>
                      <a:srgbClr val="F47700"/>
                    </a:solidFill>
                  </a:tcPr>
                </a:tc>
                <a:tc>
                  <a:txBody>
                    <a:bodyPr/>
                    <a:lstStyle/>
                    <a:p>
                      <a:pPr>
                        <a:lnSpc>
                          <a:spcPct val="100000"/>
                        </a:lnSpc>
                        <a:spcAft>
                          <a:spcPts val="0"/>
                        </a:spcAft>
                        <a:defRPr sz="1700" b="1">
                          <a:solidFill>
                            <a:srgbClr val="FFFFFF"/>
                          </a:solidFill>
                          <a:latin typeface="Arial" panose="020B0604020202020204"/>
                        </a:defRPr>
                      </a:pPr>
                      <a:r>
                        <a:t>M0</a:t>
                      </a:r>
                    </a:p>
                  </a:txBody>
                  <a:tcPr marL="118872" marR="118872" marT="64008" marB="64008" anchor="ctr">
                    <a:solidFill>
                      <a:srgbClr val="F47700"/>
                    </a:solidFill>
                  </a:tcPr>
                </a:tc>
                <a:tc>
                  <a:txBody>
                    <a:bodyPr/>
                    <a:lstStyle/>
                    <a:p>
                      <a:pPr>
                        <a:lnSpc>
                          <a:spcPct val="100000"/>
                        </a:lnSpc>
                        <a:spcAft>
                          <a:spcPts val="0"/>
                        </a:spcAft>
                        <a:defRPr sz="1700" b="1">
                          <a:solidFill>
                            <a:srgbClr val="FFFFFF"/>
                          </a:solidFill>
                          <a:latin typeface="Arial" panose="020B0604020202020204"/>
                        </a:defRPr>
                      </a:pPr>
                      <a:r>
                        <a:t>M1</a:t>
                      </a:r>
                    </a:p>
                  </a:txBody>
                  <a:tcPr marL="118872" marR="118872" marT="64008" marB="64008" anchor="ctr">
                    <a:solidFill>
                      <a:srgbClr val="F47700"/>
                    </a:solidFill>
                  </a:tcPr>
                </a:tc>
                <a:tc>
                  <a:txBody>
                    <a:bodyPr/>
                    <a:lstStyle/>
                    <a:p>
                      <a:pPr>
                        <a:lnSpc>
                          <a:spcPct val="100000"/>
                        </a:lnSpc>
                        <a:spcAft>
                          <a:spcPts val="0"/>
                        </a:spcAft>
                        <a:defRPr sz="1700" b="1">
                          <a:solidFill>
                            <a:srgbClr val="FFFFFF"/>
                          </a:solidFill>
                          <a:latin typeface="Arial" panose="020B0604020202020204"/>
                        </a:defRPr>
                      </a:pPr>
                      <a:r>
                        <a:t>M2</a:t>
                      </a:r>
                    </a:p>
                  </a:txBody>
                  <a:tcPr marL="118872" marR="118872" marT="64008" marB="64008" anchor="ctr">
                    <a:solidFill>
                      <a:srgbClr val="F47700"/>
                    </a:solidFill>
                  </a:tcPr>
                </a:tc>
              </a:tr>
              <a:tr h="716889">
                <a:tc>
                  <a:txBody>
                    <a:bodyPr/>
                    <a:lstStyle/>
                    <a:p>
                      <a:pPr>
                        <a:lnSpc>
                          <a:spcPct val="100000"/>
                        </a:lnSpc>
                        <a:spcAft>
                          <a:spcPts val="0"/>
                        </a:spcAft>
                        <a:defRPr sz="1700" b="0">
                          <a:solidFill>
                            <a:srgbClr val="444444"/>
                          </a:solidFill>
                          <a:latin typeface="Arial" panose="020B0604020202020204"/>
                        </a:defRPr>
                      </a:pPr>
                      <a:r>
                        <a:t>Macro-F1 Enron</a:t>
                      </a:r>
                    </a:p>
                  </a:txBody>
                  <a:tcPr marL="118872" marR="118872" marT="64008" marB="64008" anchor="ctr">
                    <a:solidFill>
                      <a:srgbClr val="FFFFFF"/>
                    </a:solidFill>
                  </a:tcPr>
                </a:tc>
                <a:tc>
                  <a:txBody>
                    <a:bodyPr/>
                    <a:lstStyle/>
                    <a:p>
                      <a:pPr>
                        <a:lnSpc>
                          <a:spcPct val="100000"/>
                        </a:lnSpc>
                        <a:spcAft>
                          <a:spcPts val="0"/>
                        </a:spcAft>
                        <a:defRPr sz="1700" b="0">
                          <a:solidFill>
                            <a:srgbClr val="444444"/>
                          </a:solidFill>
                          <a:latin typeface="Arial" panose="020B0604020202020204"/>
                        </a:defRPr>
                      </a:pPr>
                      <a:r>
                        <a:t>99,12%</a:t>
                      </a:r>
                    </a:p>
                  </a:txBody>
                  <a:tcPr marL="118872" marR="118872" marT="64008" marB="64008" anchor="ctr">
                    <a:solidFill>
                      <a:srgbClr val="FFFFFF"/>
                    </a:solidFill>
                  </a:tcPr>
                </a:tc>
                <a:tc>
                  <a:txBody>
                    <a:bodyPr/>
                    <a:lstStyle/>
                    <a:p>
                      <a:pPr>
                        <a:lnSpc>
                          <a:spcPct val="100000"/>
                        </a:lnSpc>
                        <a:spcAft>
                          <a:spcPts val="0"/>
                        </a:spcAft>
                        <a:defRPr sz="1700" b="0">
                          <a:solidFill>
                            <a:srgbClr val="444444"/>
                          </a:solidFill>
                          <a:latin typeface="Arial" panose="020B0604020202020204"/>
                        </a:defRPr>
                      </a:pPr>
                      <a:r>
                        <a:t>99,35%</a:t>
                      </a:r>
                    </a:p>
                  </a:txBody>
                  <a:tcPr marL="118872" marR="118872" marT="64008" marB="64008" anchor="ctr">
                    <a:solidFill>
                      <a:srgbClr val="FFFFFF"/>
                    </a:solidFill>
                  </a:tcPr>
                </a:tc>
                <a:tc>
                  <a:txBody>
                    <a:bodyPr/>
                    <a:lstStyle/>
                    <a:p>
                      <a:pPr>
                        <a:lnSpc>
                          <a:spcPct val="100000"/>
                        </a:lnSpc>
                        <a:spcAft>
                          <a:spcPts val="0"/>
                        </a:spcAft>
                        <a:defRPr sz="1700" b="0">
                          <a:solidFill>
                            <a:srgbClr val="444444"/>
                          </a:solidFill>
                          <a:latin typeface="Arial" panose="020B0604020202020204"/>
                        </a:defRPr>
                      </a:pPr>
                      <a:r>
                        <a:t>99,43%</a:t>
                      </a:r>
                    </a:p>
                  </a:txBody>
                  <a:tcPr marL="118872" marR="118872" marT="64008" marB="64008" anchor="ctr">
                    <a:solidFill>
                      <a:srgbClr val="FFFFFF"/>
                    </a:solidFill>
                  </a:tcPr>
                </a:tc>
              </a:tr>
              <a:tr h="716889">
                <a:tc>
                  <a:txBody>
                    <a:bodyPr/>
                    <a:lstStyle/>
                    <a:p>
                      <a:pPr>
                        <a:lnSpc>
                          <a:spcPct val="100000"/>
                        </a:lnSpc>
                        <a:spcAft>
                          <a:spcPts val="0"/>
                        </a:spcAft>
                        <a:defRPr sz="1700" b="0">
                          <a:solidFill>
                            <a:srgbClr val="444444"/>
                          </a:solidFill>
                          <a:latin typeface="Arial" panose="020B0604020202020204"/>
                        </a:defRPr>
                      </a:pPr>
                      <a:r>
                        <a:t>Macro-F1 ngoài nguồn</a:t>
                      </a:r>
                    </a:p>
                  </a:txBody>
                  <a:tcPr marL="118872" marR="118872" marT="64008" marB="64008" anchor="ctr">
                    <a:solidFill>
                      <a:srgbClr val="F2F8F8"/>
                    </a:solidFill>
                  </a:tcPr>
                </a:tc>
                <a:tc>
                  <a:txBody>
                    <a:bodyPr/>
                    <a:lstStyle/>
                    <a:p>
                      <a:pPr>
                        <a:lnSpc>
                          <a:spcPct val="100000"/>
                        </a:lnSpc>
                        <a:spcAft>
                          <a:spcPts val="0"/>
                        </a:spcAft>
                        <a:defRPr sz="1700" b="0">
                          <a:solidFill>
                            <a:srgbClr val="444444"/>
                          </a:solidFill>
                          <a:latin typeface="Arial" panose="020B0604020202020204"/>
                        </a:defRPr>
                      </a:pPr>
                      <a:r>
                        <a:t>39,58%</a:t>
                      </a:r>
                    </a:p>
                  </a:txBody>
                  <a:tcPr marL="118872" marR="118872" marT="64008" marB="64008" anchor="ctr">
                    <a:solidFill>
                      <a:srgbClr val="F2F8F8"/>
                    </a:solidFill>
                  </a:tcPr>
                </a:tc>
                <a:tc>
                  <a:txBody>
                    <a:bodyPr/>
                    <a:lstStyle/>
                    <a:p>
                      <a:pPr>
                        <a:lnSpc>
                          <a:spcPct val="100000"/>
                        </a:lnSpc>
                        <a:spcAft>
                          <a:spcPts val="0"/>
                        </a:spcAft>
                        <a:defRPr sz="1700" b="0">
                          <a:solidFill>
                            <a:srgbClr val="444444"/>
                          </a:solidFill>
                          <a:latin typeface="Arial" panose="020B0604020202020204"/>
                        </a:defRPr>
                      </a:pPr>
                      <a:r>
                        <a:t>42,21%</a:t>
                      </a:r>
                    </a:p>
                  </a:txBody>
                  <a:tcPr marL="118872" marR="118872" marT="64008" marB="64008" anchor="ctr">
                    <a:solidFill>
                      <a:srgbClr val="F2F8F8"/>
                    </a:solidFill>
                  </a:tcPr>
                </a:tc>
                <a:tc>
                  <a:txBody>
                    <a:bodyPr/>
                    <a:lstStyle/>
                    <a:p>
                      <a:pPr>
                        <a:lnSpc>
                          <a:spcPct val="100000"/>
                        </a:lnSpc>
                        <a:spcAft>
                          <a:spcPts val="0"/>
                        </a:spcAft>
                        <a:defRPr sz="1700" b="0">
                          <a:solidFill>
                            <a:srgbClr val="444444"/>
                          </a:solidFill>
                          <a:latin typeface="Arial" panose="020B0604020202020204"/>
                        </a:defRPr>
                      </a:pPr>
                      <a:r>
                        <a:t>33,16%</a:t>
                      </a:r>
                    </a:p>
                  </a:txBody>
                  <a:tcPr marL="118872" marR="118872" marT="64008" marB="64008" anchor="ctr">
                    <a:solidFill>
                      <a:srgbClr val="F2F8F8"/>
                    </a:solidFill>
                  </a:tcPr>
                </a:tc>
              </a:tr>
              <a:tr h="716889">
                <a:tc>
                  <a:txBody>
                    <a:bodyPr/>
                    <a:lstStyle/>
                    <a:p>
                      <a:pPr>
                        <a:lnSpc>
                          <a:spcPct val="100000"/>
                        </a:lnSpc>
                        <a:spcAft>
                          <a:spcPts val="0"/>
                        </a:spcAft>
                        <a:defRPr sz="1700" b="0">
                          <a:solidFill>
                            <a:srgbClr val="444444"/>
                          </a:solidFill>
                          <a:latin typeface="Arial" panose="020B0604020202020204"/>
                        </a:defRPr>
                      </a:pPr>
                      <a:r>
                        <a:t>Model cuối (MB)</a:t>
                      </a:r>
                    </a:p>
                  </a:txBody>
                  <a:tcPr marL="118872" marR="118872" marT="64008" marB="64008" anchor="ctr">
                    <a:solidFill>
                      <a:srgbClr val="FFFFFF"/>
                    </a:solidFill>
                  </a:tcPr>
                </a:tc>
                <a:tc>
                  <a:txBody>
                    <a:bodyPr/>
                    <a:lstStyle/>
                    <a:p>
                      <a:pPr>
                        <a:lnSpc>
                          <a:spcPct val="100000"/>
                        </a:lnSpc>
                        <a:spcAft>
                          <a:spcPts val="0"/>
                        </a:spcAft>
                        <a:defRPr sz="1700" b="0">
                          <a:solidFill>
                            <a:srgbClr val="444444"/>
                          </a:solidFill>
                          <a:latin typeface="Arial" panose="020B0604020202020204"/>
                        </a:defRPr>
                      </a:pPr>
                      <a:r>
                        <a:t>0,97</a:t>
                      </a:r>
                    </a:p>
                  </a:txBody>
                  <a:tcPr marL="118872" marR="118872" marT="64008" marB="64008" anchor="ctr">
                    <a:solidFill>
                      <a:srgbClr val="FFFFFF"/>
                    </a:solidFill>
                  </a:tcPr>
                </a:tc>
                <a:tc>
                  <a:txBody>
                    <a:bodyPr/>
                    <a:lstStyle/>
                    <a:p>
                      <a:pPr>
                        <a:lnSpc>
                          <a:spcPct val="100000"/>
                        </a:lnSpc>
                        <a:spcAft>
                          <a:spcPts val="0"/>
                        </a:spcAft>
                        <a:defRPr sz="1700" b="0">
                          <a:solidFill>
                            <a:srgbClr val="444444"/>
                          </a:solidFill>
                          <a:latin typeface="Arial" panose="020B0604020202020204"/>
                        </a:defRPr>
                      </a:pPr>
                      <a:r>
                        <a:t>3,36</a:t>
                      </a:r>
                    </a:p>
                  </a:txBody>
                  <a:tcPr marL="118872" marR="118872" marT="64008" marB="64008" anchor="ctr">
                    <a:solidFill>
                      <a:srgbClr val="FFFFFF"/>
                    </a:solidFill>
                  </a:tcPr>
                </a:tc>
                <a:tc>
                  <a:txBody>
                    <a:bodyPr/>
                    <a:lstStyle/>
                    <a:p>
                      <a:pPr>
                        <a:lnSpc>
                          <a:spcPct val="100000"/>
                        </a:lnSpc>
                        <a:spcAft>
                          <a:spcPts val="0"/>
                        </a:spcAft>
                        <a:defRPr sz="1700" b="0">
                          <a:solidFill>
                            <a:srgbClr val="444444"/>
                          </a:solidFill>
                          <a:latin typeface="Arial" panose="020B0604020202020204"/>
                        </a:defRPr>
                      </a:pPr>
                      <a:r>
                        <a:t>4,56</a:t>
                      </a:r>
                    </a:p>
                  </a:txBody>
                  <a:tcPr marL="118872" marR="118872" marT="64008" marB="64008" anchor="ctr">
                    <a:solidFill>
                      <a:srgbClr val="FFFFFF"/>
                    </a:solidFill>
                  </a:tcPr>
                </a:tc>
              </a:tr>
              <a:tr h="716892">
                <a:tc>
                  <a:txBody>
                    <a:bodyPr/>
                    <a:lstStyle/>
                    <a:p>
                      <a:pPr>
                        <a:lnSpc>
                          <a:spcPct val="100000"/>
                        </a:lnSpc>
                        <a:spcAft>
                          <a:spcPts val="0"/>
                        </a:spcAft>
                        <a:defRPr sz="1700" b="0">
                          <a:solidFill>
                            <a:srgbClr val="444444"/>
                          </a:solidFill>
                          <a:latin typeface="Arial" panose="020B0604020202020204"/>
                        </a:defRPr>
                      </a:pPr>
                      <a:r>
                        <a:t>Suy luận (ms/email)</a:t>
                      </a:r>
                    </a:p>
                  </a:txBody>
                  <a:tcPr marL="118872" marR="118872" marT="64008" marB="64008" anchor="ctr">
                    <a:solidFill>
                      <a:srgbClr val="F2F8F8"/>
                    </a:solidFill>
                  </a:tcPr>
                </a:tc>
                <a:tc>
                  <a:txBody>
                    <a:bodyPr/>
                    <a:lstStyle/>
                    <a:p>
                      <a:pPr>
                        <a:lnSpc>
                          <a:spcPct val="100000"/>
                        </a:lnSpc>
                        <a:spcAft>
                          <a:spcPts val="0"/>
                        </a:spcAft>
                        <a:defRPr sz="1700" b="0">
                          <a:solidFill>
                            <a:srgbClr val="444444"/>
                          </a:solidFill>
                          <a:latin typeface="Arial" panose="020B0604020202020204"/>
                        </a:defRPr>
                      </a:pPr>
                      <a:r>
                        <a:t>0,056</a:t>
                      </a:r>
                    </a:p>
                  </a:txBody>
                  <a:tcPr marL="118872" marR="118872" marT="64008" marB="64008" anchor="ctr">
                    <a:solidFill>
                      <a:srgbClr val="F2F8F8"/>
                    </a:solidFill>
                  </a:tcPr>
                </a:tc>
                <a:tc>
                  <a:txBody>
                    <a:bodyPr/>
                    <a:lstStyle/>
                    <a:p>
                      <a:pPr>
                        <a:lnSpc>
                          <a:spcPct val="100000"/>
                        </a:lnSpc>
                        <a:spcAft>
                          <a:spcPts val="0"/>
                        </a:spcAft>
                        <a:defRPr sz="1700" b="0">
                          <a:solidFill>
                            <a:srgbClr val="444444"/>
                          </a:solidFill>
                          <a:latin typeface="Arial" panose="020B0604020202020204"/>
                        </a:defRPr>
                      </a:pPr>
                      <a:r>
                        <a:t>0,636</a:t>
                      </a:r>
                    </a:p>
                  </a:txBody>
                  <a:tcPr marL="118872" marR="118872" marT="64008" marB="64008" anchor="ctr">
                    <a:solidFill>
                      <a:srgbClr val="F2F8F8"/>
                    </a:solidFill>
                  </a:tcPr>
                </a:tc>
                <a:tc>
                  <a:txBody>
                    <a:bodyPr/>
                    <a:lstStyle/>
                    <a:p>
                      <a:pPr>
                        <a:lnSpc>
                          <a:spcPct val="100000"/>
                        </a:lnSpc>
                        <a:spcAft>
                          <a:spcPts val="0"/>
                        </a:spcAft>
                        <a:defRPr sz="1700" b="0">
                          <a:solidFill>
                            <a:srgbClr val="444444"/>
                          </a:solidFill>
                          <a:latin typeface="Arial" panose="020B0604020202020204"/>
                        </a:defRPr>
                      </a:pPr>
                      <a:r>
                        <a:t>0,585</a:t>
                      </a:r>
                    </a:p>
                  </a:txBody>
                  <a:tcPr marL="118872" marR="118872" marT="64008" marB="64008" anchor="ctr">
                    <a:solidFill>
                      <a:srgbClr val="F2F8F8"/>
                    </a:solidFill>
                  </a:tcPr>
                </a:tc>
              </a:tr>
            </a:tbl>
          </a:graphicData>
        </a:graphic>
      </p:graphicFrame>
      <p:sp>
        <p:nvSpPr>
          <p:cNvPr id="14" name="TextBox 13"/>
          <p:cNvSpPr txBox="1"/>
          <p:nvPr/>
        </p:nvSpPr>
        <p:spPr>
          <a:xfrm>
            <a:off x="749808" y="5641848"/>
            <a:ext cx="10607040" cy="265176"/>
          </a:xfrm>
          <a:prstGeom prst="rect">
            <a:avLst/>
          </a:prstGeom>
          <a:noFill/>
        </p:spPr>
        <p:txBody>
          <a:bodyPr wrap="square" lIns="22860" tIns="22860" rIns="22860" bIns="22860" anchor="t">
            <a:spAutoFit/>
          </a:bodyPr>
          <a:lstStyle/>
          <a:p>
            <a:pPr algn="l">
              <a:lnSpc>
                <a:spcPct val="108000"/>
              </a:lnSpc>
              <a:spcBef>
                <a:spcPts val="0"/>
              </a:spcBef>
              <a:spcAft>
                <a:spcPts val="0"/>
              </a:spcAft>
              <a:defRPr sz="1050" b="0">
                <a:solidFill>
                  <a:srgbClr val="69757A"/>
                </a:solidFill>
                <a:latin typeface="Arial" panose="020B0604020202020204"/>
              </a:defRPr>
            </a:pPr>
            <a:r>
              <a:t>Thời gian suy luận: trung bình mỗi email trong batch 1.000 trên máy hiện tại; chưa phải benchmark phần cứng chuẩn.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PP_MARK_KEY" val="7d49844e-2d38-4537-99bc-1474c442cd04"/>
  <p:tag name="COMMONDATA" val="eyJoZGlkIjoiMmNmYmEwOWQ4Y2Q0M2IxMGZkNjI4ZjhkZDQyNzg1OTY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G8321"/>
        <a:ea typeface="G8321"/>
        <a:cs typeface=""/>
      </a:majorFont>
      <a:minorFont>
        <a:latin typeface="G8321"/>
        <a:ea typeface="G8321"/>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G8321"/>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8321"/>
        <a:ea typeface=""/>
        <a:cs typeface=""/>
        <a:font script="Jpan" typeface="ＭＳ Ｐゴシック"/>
        <a:font script="Hang" typeface="맑은 고딕"/>
        <a:font script="Hans" typeface="G8321"/>
        <a:font script="Hant" typeface="新細明體"/>
        <a:font script="Arab" typeface="G8321"/>
        <a:font script="Hebr" typeface="G8321"/>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G8321"/>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G8321"/>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8321"/>
        <a:ea typeface=""/>
        <a:cs typeface=""/>
        <a:font script="Jpan" typeface="ＭＳ Ｐゴシック"/>
        <a:font script="Hang" typeface="맑은 고딕"/>
        <a:font script="Hans" typeface="G8321"/>
        <a:font script="Hant" typeface="新細明體"/>
        <a:font script="Arab" typeface="G8321"/>
        <a:font script="Hebr" typeface="G8321"/>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G8321"/>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3551</Words>
  <Application>WPS Presentation</Application>
  <PresentationFormat>宽屏</PresentationFormat>
  <Paragraphs>377</Paragraphs>
  <Slides>15</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G8321</vt:lpstr>
      <vt:lpstr>Wingdings</vt:lpstr>
      <vt:lpstr>Microsoft YaHei</vt:lpstr>
      <vt:lpstr>Arial</vt:lpstr>
      <vt:lpstr>Arial Unicode MS</vt:lpstr>
      <vt:lpstr>MS PGothic</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DT124 – Báo cáo giữa kỳ và kết quả demo web</dc:title>
  <dc:creator>DT124</dc:creator>
  <dc:description>Adapted from the user-provided WPS Presentation1.pptx template.</dc:description>
  <dc:subject>Báo cáo 30 trang theo mẫu WPS, kèm ảnh giao diện và kết quả thực từ web cục bộ</dc:subject>
  <cp:lastModifiedBy>Phát Nguyễn đức</cp:lastModifiedBy>
  <cp:revision>173</cp:revision>
  <dcterms:created xsi:type="dcterms:W3CDTF">2019-06-19T02:08:00Z</dcterms:created>
  <dcterms:modified xsi:type="dcterms:W3CDTF">2026-10-27T08:19:24Z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51774011F15A4CFAB622903C403DE6BF_11</vt:lpwstr>
  </property>
</Properties>
</file>