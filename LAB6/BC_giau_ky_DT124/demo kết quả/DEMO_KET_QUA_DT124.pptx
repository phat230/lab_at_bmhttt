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9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3"/>
  </p:notesMasterIdLst>
  <p:handoutMasterIdLst>
    <p:handoutMasterId r:id="rId24"/>
  </p:handoutMasterIdLst>
  <p:sldIdLst>
    <p:sldId id="438" r:id="rId30"/>
    <p:sldId id="439" r:id="rId31"/>
    <p:sldId id="440" r:id="rId32"/>
    <p:sldId id="441" r:id="rId33"/>
    <p:sldId id="442" r:id="rId34"/>
    <p:sldId id="443" r:id="rId35"/>
  </p:sldIdLst>
  <p:sldSz cx="12192000" cy="6858000"/>
  <p:notesSz cx="6858000" cy="9144000"/>
  <p:embeddedFontLst>
    <p:embeddedFont>
      <p:font typeface="G8321" panose="00000505000000000000" charset="0"/>
      <p:regular r:id="rId28"/>
    </p:embeddedFont>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7203"/>
    <a:srgbClr val="EA2F13"/>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tags" Target="tags/tag95.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G8321" panose="00000505000000000000" charset="0"/>
              <a:ea typeface="G8321" panose="00000505000000000000" charset="0"/>
              <a:cs typeface="G8321" panose="00000505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G8321" panose="00000505000000000000" charset="0"/>
                <a:ea typeface="G8321" panose="00000505000000000000" charset="0"/>
                <a:cs typeface="G8321" panose="00000505000000000000" charset="0"/>
              </a:rPr>
            </a:fld>
            <a:endParaRPr lang="zh-CN" altLang="en-US">
              <a:latin typeface="G8321" panose="00000505000000000000" charset="0"/>
              <a:ea typeface="G8321" panose="00000505000000000000" charset="0"/>
              <a:cs typeface="G8321" panose="00000505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G8321" panose="00000505000000000000" charset="0"/>
              <a:ea typeface="G8321" panose="00000505000000000000" charset="0"/>
              <a:cs typeface="G8321" panose="00000505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G8321" panose="00000505000000000000" charset="0"/>
                <a:ea typeface="G8321" panose="00000505000000000000" charset="0"/>
                <a:cs typeface="G8321" panose="00000505000000000000" charset="0"/>
              </a:rPr>
            </a:fld>
            <a:endParaRPr lang="zh-CN" altLang="en-US">
              <a:latin typeface="G8321" panose="00000505000000000000" charset="0"/>
              <a:ea typeface="G8321" panose="00000505000000000000" charset="0"/>
              <a:cs typeface="G8321" panose="00000505000000000000"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8321" panose="00000505000000000000" charset="0"/>
                <a:ea typeface="G8321" panose="00000505000000000000" charset="0"/>
                <a:cs typeface="G8321" panose="00000505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8321" panose="00000505000000000000" charset="0"/>
                <a:ea typeface="G8321" panose="00000505000000000000" charset="0"/>
                <a:cs typeface="G8321" panose="00000505000000000000"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8321" panose="00000505000000000000" charset="0"/>
                <a:ea typeface="G8321" panose="00000505000000000000" charset="0"/>
                <a:cs typeface="G8321" panose="00000505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8321" panose="00000505000000000000" charset="0"/>
                <a:ea typeface="G8321" panose="00000505000000000000" charset="0"/>
                <a:cs typeface="G8321" panose="00000505000000000000"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1pPr>
    <a:lvl2pPr marL="4572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2pPr>
    <a:lvl3pPr marL="9144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3pPr>
    <a:lvl4pPr marL="13716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4pPr>
    <a:lvl5pPr marL="1828800" algn="l" defTabSz="914400" rtl="0" eaLnBrk="1" latinLnBrk="0" hangingPunct="1">
      <a:defRPr sz="1200" kern="1200">
        <a:solidFill>
          <a:schemeClr val="tx1"/>
        </a:solidFill>
        <a:latin typeface="G8321" panose="00000505000000000000" charset="0"/>
        <a:ea typeface="G8321" panose="00000505000000000000" charset="0"/>
        <a:cs typeface="G8321" panose="00000505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ứng dụng bằng lệnh trong trang DEMO_KET_QUA.html. Đây là ảnh chụp thật của ứng dụng Streamlit trên Edge, không phải mockup.</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tổng hợp benign_synthetic.eml. Không thấy chỉ báo theo quy tắc không chứng minh thư an toàn. Điểm có dấu là margin, không phải xác suất.</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suspicious_synthetic.eml là email tổng hợp dùng miền .test. Năm chỉ báo gồm lệch miền Reply-To, liên kết hiển thị khác đích, phần mở rộng tệp rủi ro, tên tệp có nhiều phần mở rộng và khai báo xác thực thất bại chưa được xác minh. Không truy cập URL hay mở attachment.</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demo trực tiếp, chuyển thêm tab Headers &amp; xác thực, Đường dẫn và Tệp đính kèm. Bản HTML kèm đủ ảnh của các tab này và JSON đã che dữ liệu.</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 là TF-IDF unigram + SVM, M1 kết hợp TF-IDF từ và ký tự + SVM, M2 bổ sung lựa chọn giữ stopwords và trọng số NB. Điểm Enron là dự đoán ngoài fold, M2 là thăm dò thích nghi.</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Tập SpamAssassin gồm 5.799 email giữ riêng, các mô hình được chốt trước dự đoán. M2 kém M1 trên nguồn khác dù tốt hơn trên Enron, cho thấy cần cải thiện chuẩn hóa và tính tổng quát. Không tuyên bố hiệu quả thực tế chỉ từ điểm Enron.</a:t>
            </a:r>
          </a:p>
          <a:p/>
          <a:p>
            <a:r>
              <a:t>Nguồn nội dung: Nguồn: giao diện Streamlit chạy cục bộ · ảnh chụp trực tiếp bằng Edge</a:t>
            </a:r>
          </a:p>
          <a:p>
            <a:r>
              <a:t>Thiết kế: mẫu Presentation1.pptx do sinh viên cung cấp từ WPS; giữ artwork, theme và master.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G8321" panose="00000505000000000000" charset="0"/>
                <a:ea typeface="G8321" panose="00000505000000000000" charset="0"/>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G8321" panose="00000505000000000000" charset="0"/>
                <a:ea typeface="G8321" panose="00000505000000000000" charset="0"/>
              </a:defRPr>
            </a:lvl4pPr>
            <a:lvl5pPr eaLnBrk="1" fontAlgn="auto" latinLnBrk="0" hangingPunct="1">
              <a:lnSpc>
                <a:spcPct val="120000"/>
              </a:lnSpc>
              <a:defRPr sz="1400" u="none" strike="noStrike" kern="1200" cap="none" spc="150" normalizeH="0">
                <a:solidFill>
                  <a:schemeClr val="tx1">
                    <a:lumMod val="65000"/>
                    <a:lumOff val="35000"/>
                  </a:schemeClr>
                </a:solidFill>
                <a:latin typeface="G8321" panose="00000505000000000000"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G8321" panose="00000505000000000000" charset="0"/>
                <a:ea typeface="G8321" panose="0000050500000000000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G8321" panose="00000505000000000000" charset="0"/>
                <a:ea typeface="G8321" panose="00000505000000000000" charset="0"/>
                <a:cs typeface="G8321" panose="00000505000000000000" charset="0"/>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G8321" panose="00000505000000000000" charset="0"/>
                <a:ea typeface="G8321" panose="00000505000000000000" charset="0"/>
                <a:cs typeface="G8321" panose="00000505000000000000" charset="0"/>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Microsoft YaHei"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G8321" panose="00000505000000000000" charset="0"/>
                <a:ea typeface="G8321" panose="00000505000000000000" charset="0"/>
                <a:cs typeface="G8321" panose="00000505000000000000" charset="0"/>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G8321" panose="00000505000000000000" charset="0"/>
                <a:ea typeface="G8321" panose="00000505000000000000" charset="0"/>
                <a:cs typeface="G8321" panose="00000505000000000000" charset="0"/>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G8321" panose="00000505000000000000" charset="0"/>
                <a:ea typeface="G8321" panose="00000505000000000000" charset="0"/>
                <a:cs typeface="G8321" panose="00000505000000000000" charset="0"/>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p:transition spd="slow" advClick="0" advTm="2000">
        <p:fad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G8321" panose="00000505000000000000" charset="0"/>
          <a:ea typeface="G8321" panose="00000505000000000000" charset="0"/>
          <a:cs typeface="G8321" panose="00000505000000000000"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G8321" panose="00000505000000000000" charset="0"/>
          <a:ea typeface="G8321" panose="00000505000000000000" charset="0"/>
          <a:cs typeface="G8321" panose="00000505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6.xml"/></Relationships>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Giao diện web đang chạy thực tế</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01 / 06</a:t>
            </a:r>
          </a:p>
        </p:txBody>
      </p:sp>
      <p:pic>
        <p:nvPicPr>
          <p:cNvPr id="13" name="Picture 12" descr="01_giao_dien_phan_tich.png"/>
          <p:cNvPicPr>
            <a:picLocks noChangeAspect="1"/>
          </p:cNvPicPr>
          <p:nvPr/>
        </p:nvPicPr>
        <p:blipFill>
          <a:blip r:embed="rId3"/>
          <a:stretch>
            <a:fillRect/>
          </a:stretch>
        </p:blipFill>
        <p:spPr>
          <a:xfrm>
            <a:off x="1509482" y="1728216"/>
            <a:ext cx="9160844"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Chọn email mẫu hoặc tải EML · Phân tích cục bộ · Báo cáo JSON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Demo EML bình thường: kết quả trên web</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02 / 06</a:t>
            </a:r>
          </a:p>
        </p:txBody>
      </p:sp>
      <p:pic>
        <p:nvPicPr>
          <p:cNvPr id="13" name="Picture 12" descr="02_ket_qua_mau_binh_thuong.png"/>
          <p:cNvPicPr>
            <a:picLocks noChangeAspect="1"/>
          </p:cNvPicPr>
          <p:nvPr/>
        </p:nvPicPr>
        <p:blipFill>
          <a:blip r:embed="rId3"/>
          <a:stretch>
            <a:fillRect/>
          </a:stretch>
        </p:blipFill>
        <p:spPr>
          <a:xfrm>
            <a:off x="1617631" y="1728216"/>
            <a:ext cx="8944546"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0 chỉ báo · 1 URL · 0 đính kèm · M0/M1/M2 cùng dự đoán lớp 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Demo EML đáng ngờ: kết quả trên web</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03 / 06</a:t>
            </a:r>
          </a:p>
        </p:txBody>
      </p:sp>
      <p:pic>
        <p:nvPicPr>
          <p:cNvPr id="13" name="Picture 12" descr="03_ket_qua_mau_dang_ngo.png"/>
          <p:cNvPicPr>
            <a:picLocks noChangeAspect="1"/>
          </p:cNvPicPr>
          <p:nvPr/>
        </p:nvPicPr>
        <p:blipFill>
          <a:blip r:embed="rId3"/>
          <a:stretch>
            <a:fillRect/>
          </a:stretch>
        </p:blipFill>
        <p:spPr>
          <a:xfrm>
            <a:off x="1617631" y="1728216"/>
            <a:ext cx="8944546"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5 chỉ báo · 2 URL · 1 đính kèm · M0/M1/M2 cùng dự đoán lớp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Kết quả phân tích: các chỉ báo cụ thể</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04 / 06</a:t>
            </a:r>
          </a:p>
        </p:txBody>
      </p:sp>
      <p:pic>
        <p:nvPicPr>
          <p:cNvPr id="13" name="Picture 12" descr="04_chi_bao_dang_ngo.png"/>
          <p:cNvPicPr>
            <a:picLocks noChangeAspect="1"/>
          </p:cNvPicPr>
          <p:nvPr/>
        </p:nvPicPr>
        <p:blipFill>
          <a:blip r:embed="rId3"/>
          <a:stretch>
            <a:fillRect/>
          </a:stretch>
        </p:blipFill>
        <p:spPr>
          <a:xfrm>
            <a:off x="1397683" y="1728216"/>
            <a:ext cx="9384442"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Xem mã chỉ báo, mức độ và giải thích · Phân tích tĩnh, tách khỏi dự đoán mô hình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Kết quả web: so sánh M0/M1/M2 trên Enron</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05 / 06</a:t>
            </a:r>
          </a:p>
        </p:txBody>
      </p:sp>
      <p:pic>
        <p:nvPicPr>
          <p:cNvPr id="13" name="Picture 12" descr="09_so_sanh_ba_mo_hinh_enron.png"/>
          <p:cNvPicPr>
            <a:picLocks noChangeAspect="1"/>
          </p:cNvPicPr>
          <p:nvPr/>
        </p:nvPicPr>
        <p:blipFill>
          <a:blip r:embed="rId3"/>
          <a:stretch>
            <a:fillRect/>
          </a:stretch>
        </p:blipFill>
        <p:spPr>
          <a:xfrm>
            <a:off x="2722545" y="1728216"/>
            <a:ext cx="6734717"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Macro-F1: 99,1211% → 99,3459% → 99,4276% · Lỗi: 258 → 192 → 168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1"/>
          <p:cNvPicPr>
            <a:picLocks noChangeAspect="1"/>
          </p:cNvPicPr>
          <p:nvPr/>
        </p:nvPicPr>
        <p:blipFill>
          <a:blip r:embed="rId2"/>
          <a:srcRect t="10941" b="20601"/>
          <a:stretch>
            <a:fillRect/>
          </a:stretch>
        </p:blipFill>
        <p:spPr>
          <a:xfrm>
            <a:off x="6507480" y="-1191260"/>
            <a:ext cx="9418320" cy="9239885"/>
          </a:xfrm>
          <a:prstGeom prst="rect">
            <a:avLst/>
          </a:prstGeom>
        </p:spPr>
      </p:pic>
      <p:sp>
        <p:nvSpPr>
          <p:cNvPr id="2" name="圆角矩形 1"/>
          <p:cNvSpPr/>
          <p:nvPr/>
        </p:nvSpPr>
        <p:spPr>
          <a:xfrm>
            <a:off x="161925" y="247650"/>
            <a:ext cx="11868150" cy="6285865"/>
          </a:xfrm>
          <a:prstGeom prst="roundRect">
            <a:avLst>
              <a:gd name="adj" fmla="val 10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G8321" panose="00000505000000000000" charset="0"/>
            </a:endParaRPr>
          </a:p>
        </p:txBody>
      </p:sp>
      <p:sp>
        <p:nvSpPr>
          <p:cNvPr id="6" name="TextBox 5"/>
          <p:cNvSpPr txBox="1"/>
          <p:nvPr/>
        </p:nvSpPr>
        <p:spPr>
          <a:xfrm>
            <a:off x="658368" y="393192"/>
            <a:ext cx="10881360" cy="256032"/>
          </a:xfrm>
          <a:prstGeom prst="rect">
            <a:avLst/>
          </a:prstGeom>
          <a:noFill/>
        </p:spPr>
        <p:txBody>
          <a:bodyPr wrap="square" lIns="22860" rIns="22860" tIns="22860" bIns="22860" anchor="t">
            <a:spAutoFit/>
          </a:bodyPr>
          <a:lstStyle/>
          <a:p>
            <a:pPr algn="l">
              <a:lnSpc>
                <a:spcPct val="108000"/>
              </a:lnSpc>
              <a:spcBef>
                <a:spcPts val="0"/>
              </a:spcBef>
              <a:spcAft>
                <a:spcPts val="800"/>
              </a:spcAft>
              <a:defRPr sz="1019" b="1">
                <a:solidFill>
                  <a:srgbClr val="137F85"/>
                </a:solidFill>
                <a:latin typeface="Arial"/>
              </a:defRPr>
            </a:pPr>
            <a:r>
              <a:t>DT124 · DEMO KẾT QUẢ THỰC TẾ</a:t>
            </a:r>
          </a:p>
        </p:txBody>
      </p:sp>
      <p:sp>
        <p:nvSpPr>
          <p:cNvPr id="7" name="TextBox 6"/>
          <p:cNvSpPr txBox="1"/>
          <p:nvPr/>
        </p:nvSpPr>
        <p:spPr>
          <a:xfrm>
            <a:off x="658368" y="813816"/>
            <a:ext cx="10835640" cy="731520"/>
          </a:xfrm>
          <a:prstGeom prst="rect">
            <a:avLst/>
          </a:prstGeom>
          <a:noFill/>
        </p:spPr>
        <p:txBody>
          <a:bodyPr wrap="square" lIns="22860" rIns="22860" tIns="22860" bIns="22860" anchor="t">
            <a:spAutoFit/>
          </a:bodyPr>
          <a:lstStyle/>
          <a:p>
            <a:pPr algn="l">
              <a:lnSpc>
                <a:spcPct val="108000"/>
              </a:lnSpc>
              <a:spcBef>
                <a:spcPts val="0"/>
              </a:spcBef>
              <a:spcAft>
                <a:spcPts val="800"/>
              </a:spcAft>
              <a:defRPr sz="2700" b="1">
                <a:solidFill>
                  <a:srgbClr val="F47700"/>
                </a:solidFill>
                <a:latin typeface="Arial"/>
              </a:defRPr>
            </a:pPr>
            <a:r>
              <a:t>Kết quả web: kiểm tra ngoài nguồn và kết luận</a:t>
            </a:r>
          </a:p>
        </p:txBody>
      </p:sp>
      <p:sp>
        <p:nvSpPr>
          <p:cNvPr id="8" name="Rectangle 7"/>
          <p:cNvSpPr/>
          <p:nvPr/>
        </p:nvSpPr>
        <p:spPr>
          <a:xfrm>
            <a:off x="685800" y="1517904"/>
            <a:ext cx="566928" cy="4114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98448" y="1517904"/>
            <a:ext cx="2194560" cy="41148"/>
          </a:xfrm>
          <a:prstGeom prst="rect">
            <a:avLst/>
          </a:prstGeom>
          <a:solidFill>
            <a:srgbClr val="F4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925312"/>
            <a:ext cx="10744200" cy="356616"/>
          </a:xfrm>
          <a:prstGeom prst="rect">
            <a:avLst/>
          </a:prstGeom>
          <a:noFill/>
        </p:spPr>
        <p:txBody>
          <a:bodyPr wrap="square" lIns="22860" rIns="22860" tIns="22860" bIns="22860" anchor="t">
            <a:spAutoFit/>
          </a:bodyPr>
          <a:lstStyle/>
          <a:p>
            <a:pPr algn="l">
              <a:lnSpc>
                <a:spcPct val="108000"/>
              </a:lnSpc>
              <a:spcBef>
                <a:spcPts val="0"/>
              </a:spcBef>
              <a:spcAft>
                <a:spcPts val="0"/>
              </a:spcAft>
              <a:defRPr sz="819" b="0">
                <a:solidFill>
                  <a:srgbClr val="69757A"/>
                </a:solidFill>
                <a:latin typeface="Arial"/>
              </a:defRPr>
            </a:pPr>
            <a:r>
              <a:t>Nguồn: giao diện Streamlit chạy cục bộ · ảnh chụp trực tiếp bằng Edge</a:t>
            </a:r>
          </a:p>
        </p:txBody>
      </p:sp>
      <p:sp>
        <p:nvSpPr>
          <p:cNvPr id="11" name="TextBox 10"/>
          <p:cNvSpPr txBox="1"/>
          <p:nvPr/>
        </p:nvSpPr>
        <p:spPr>
          <a:xfrm>
            <a:off x="694944" y="6556248"/>
            <a:ext cx="9784080" cy="192024"/>
          </a:xfrm>
          <a:prstGeom prst="rect">
            <a:avLst/>
          </a:prstGeom>
          <a:noFill/>
        </p:spPr>
        <p:txBody>
          <a:bodyPr wrap="square" lIns="22860" rIns="22860" tIns="22860" bIns="22860" anchor="t">
            <a:spAutoFit/>
          </a:bodyPr>
          <a:lstStyle/>
          <a:p>
            <a:pPr algn="l">
              <a:lnSpc>
                <a:spcPct val="108000"/>
              </a:lnSpc>
              <a:spcBef>
                <a:spcPts val="0"/>
              </a:spcBef>
              <a:spcAft>
                <a:spcPts val="800"/>
              </a:spcAft>
              <a:defRPr sz="850" b="0">
                <a:solidFill>
                  <a:srgbClr val="FFFFFF"/>
                </a:solidFill>
                <a:latin typeface="Arial"/>
              </a:defRPr>
            </a:pPr>
            <a:r>
              <a:t>DT124 · Phân tích EML ngoại tuyến</a:t>
            </a:r>
          </a:p>
        </p:txBody>
      </p:sp>
      <p:sp>
        <p:nvSpPr>
          <p:cNvPr id="12" name="TextBox 11"/>
          <p:cNvSpPr txBox="1"/>
          <p:nvPr/>
        </p:nvSpPr>
        <p:spPr>
          <a:xfrm>
            <a:off x="10863072" y="6556248"/>
            <a:ext cx="640080" cy="192024"/>
          </a:xfrm>
          <a:prstGeom prst="rect">
            <a:avLst/>
          </a:prstGeom>
          <a:noFill/>
        </p:spPr>
        <p:txBody>
          <a:bodyPr wrap="square" lIns="22860" rIns="22860" tIns="22860" bIns="22860" anchor="t">
            <a:spAutoFit/>
          </a:bodyPr>
          <a:lstStyle/>
          <a:p>
            <a:pPr algn="r">
              <a:lnSpc>
                <a:spcPct val="108000"/>
              </a:lnSpc>
              <a:spcBef>
                <a:spcPts val="0"/>
              </a:spcBef>
              <a:spcAft>
                <a:spcPts val="800"/>
              </a:spcAft>
              <a:defRPr sz="850" b="0">
                <a:solidFill>
                  <a:srgbClr val="FFFFFF"/>
                </a:solidFill>
                <a:latin typeface="Arial"/>
              </a:defRPr>
            </a:pPr>
            <a:r>
              <a:t>06 / 06</a:t>
            </a:r>
          </a:p>
        </p:txBody>
      </p:sp>
      <p:pic>
        <p:nvPicPr>
          <p:cNvPr id="13" name="Picture 12" descr="10_so_sanh_ngoai_nguon.png"/>
          <p:cNvPicPr>
            <a:picLocks noChangeAspect="1"/>
          </p:cNvPicPr>
          <p:nvPr/>
        </p:nvPicPr>
        <p:blipFill>
          <a:blip r:embed="rId3"/>
          <a:stretch>
            <a:fillRect/>
          </a:stretch>
        </p:blipFill>
        <p:spPr>
          <a:xfrm>
            <a:off x="2169007" y="1728216"/>
            <a:ext cx="7841794" cy="3867912"/>
          </a:xfrm>
          <a:prstGeom prst="rect">
            <a:avLst/>
          </a:prstGeom>
        </p:spPr>
      </p:pic>
      <p:sp>
        <p:nvSpPr>
          <p:cNvPr id="14" name="TextBox 13"/>
          <p:cNvSpPr txBox="1"/>
          <p:nvPr/>
        </p:nvSpPr>
        <p:spPr>
          <a:xfrm>
            <a:off x="731520" y="5632704"/>
            <a:ext cx="10698480" cy="265176"/>
          </a:xfrm>
          <a:prstGeom prst="rect">
            <a:avLst/>
          </a:prstGeom>
          <a:noFill/>
        </p:spPr>
        <p:txBody>
          <a:bodyPr wrap="square" lIns="22860" rIns="22860" tIns="22860" bIns="22860" anchor="t">
            <a:spAutoFit/>
          </a:bodyPr>
          <a:lstStyle/>
          <a:p>
            <a:pPr algn="l">
              <a:lnSpc>
                <a:spcPct val="108000"/>
              </a:lnSpc>
              <a:spcBef>
                <a:spcPts val="0"/>
              </a:spcBef>
              <a:spcAft>
                <a:spcPts val="0"/>
              </a:spcAft>
              <a:defRPr sz="1030" b="0">
                <a:solidFill>
                  <a:srgbClr val="444444"/>
                </a:solidFill>
                <a:latin typeface="Arial"/>
              </a:defRPr>
            </a:pPr>
            <a:r>
              <a:t>Macro-F1: M0 39,5809% · M1 42,2102% · M2 33,1610%</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5.xml><?xml version="1.0" encoding="utf-8"?>
<p:tagLst xmlns:p="http://schemas.openxmlformats.org/presentationml/2006/main">
  <p:tag name="KSO_WPP_MARK_KEY" val="7d49844e-2d38-4537-99bc-1474c442cd04"/>
  <p:tag name="COMMONDATA" val="eyJoZGlkIjoiMmNmYmEwOWQ4Y2Q0M2IxMGZkNjI4ZjhkZDQyNzg1OTY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G8321"/>
        <a:ea typeface="G8321"/>
        <a:cs typeface=""/>
      </a:majorFont>
      <a:minorFont>
        <a:latin typeface="G8321"/>
        <a:ea typeface="G8321"/>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G8321"/>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8321"/>
        <a:ea typeface=""/>
        <a:cs typeface=""/>
        <a:font script="Jpan" typeface="ＭＳ Ｐゴシック"/>
        <a:font script="Hang" typeface="맑은 고딕"/>
        <a:font script="Hans" typeface="G8321"/>
        <a:font script="Hant" typeface="新細明體"/>
        <a:font script="Arab" typeface="G8321"/>
        <a:font script="Hebr" typeface="G8321"/>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G8321"/>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G8321"/>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8321"/>
        <a:ea typeface=""/>
        <a:cs typeface=""/>
        <a:font script="Jpan" typeface="ＭＳ Ｐゴシック"/>
        <a:font script="Hang" typeface="맑은 고딕"/>
        <a:font script="Hans" typeface="G8321"/>
        <a:font script="Hant" typeface="新細明體"/>
        <a:font script="Arab" typeface="G8321"/>
        <a:font script="Hebr" typeface="G8321"/>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G8321"/>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5194</Words>
  <Application>WPS Presentation</Application>
  <PresentationFormat>宽屏</PresentationFormat>
  <Paragraphs>232</Paragraphs>
  <Slides>20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SimSun</vt:lpstr>
      <vt:lpstr>Wingdings</vt:lpstr>
      <vt:lpstr>G8321</vt:lpstr>
      <vt:lpstr>Wingdings</vt:lpstr>
      <vt:lpstr>Microsoft YaHei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DT124 – Demo giao diện web và kết quả thực tế</dc:title>
  <dc:creator>DT124</dc:creator>
  <cp:lastModifiedBy>Phát Nguyễn đức</cp:lastModifiedBy>
  <cp:revision>165</cp:revision>
  <dcterms:created xsi:type="dcterms:W3CDTF">2019-06-19T02:08:00Z</dcterms:created>
  <dcterms:modified xsi:type="dcterms:W3CDTF">2026-10-18T04:33:26Z</dcterms:modified>
  <dc:subject>Sáu trang ảnh demo thực từ ứng dụng Streamlit DT124, theo mẫu WPS do sinh viên cung cấp</dc:subject>
  <dc:description>Adapted from the user-provided WPS Presentation1.pptx template.</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51774011F15A4CFAB622903C403DE6BF_11</vt:lpwstr>
  </property>
</Properties>
</file>